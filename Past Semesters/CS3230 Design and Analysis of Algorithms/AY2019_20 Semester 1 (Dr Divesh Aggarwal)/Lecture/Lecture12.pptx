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90" r:id="rId2"/>
    <p:sldId id="520" r:id="rId3"/>
    <p:sldId id="521" r:id="rId4"/>
    <p:sldId id="522" r:id="rId5"/>
    <p:sldId id="523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E55D02"/>
    <a:srgbClr val="DE5A02"/>
    <a:srgbClr val="C14E02"/>
    <a:srgbClr val="003399"/>
    <a:srgbClr val="873701"/>
    <a:srgbClr val="FF0000"/>
    <a:srgbClr val="969696"/>
    <a:srgbClr val="81AB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1821" autoAdjust="0"/>
  </p:normalViewPr>
  <p:slideViewPr>
    <p:cSldViewPr>
      <p:cViewPr varScale="1">
        <p:scale>
          <a:sx n="92" d="100"/>
          <a:sy n="92" d="100"/>
        </p:scale>
        <p:origin x="808" y="184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28AF44-D823-4724-A853-1093A72A09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62000"/>
            <a:ext cx="5086350" cy="380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822825"/>
            <a:ext cx="6076950" cy="456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4901CC-E834-4EBA-8890-E59F33DE9E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6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205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AFAA84-93FD-4C2C-AE46-F7D42BEF3958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797668-4770-4979-B1D4-D6D2511F0B65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817688"/>
            <a:ext cx="4237037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1817688"/>
            <a:ext cx="4238625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269CF-64BA-444E-9F2D-69BD9F60489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B54B7F-CFD7-42C9-95D8-A751AB99534C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B2659F-1AD7-4F14-81C4-ADEDB1B20730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B3CE18-A588-438A-818D-D402E37F5853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FF68-5D0A-4A29-8164-F5FA0A65DE11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42643D-99CE-49A6-B68E-51ECE14F37D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7693E4-C871-4A11-9A28-7FDAD6AD934A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322263"/>
            <a:ext cx="2155825" cy="6611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22263"/>
            <a:ext cx="6319837" cy="6611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7CBC53-0468-4F6C-80ED-218DC62F935B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22263"/>
            <a:ext cx="7237412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17688"/>
            <a:ext cx="862806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F354BF72-ACA3-44A4-878A-614A75F1CF45}" type="slidenum">
              <a:rPr lang="en-GB"/>
              <a:pPr/>
              <a:t>‹#›</a:t>
            </a:fld>
            <a:endParaRPr lang="en-GB" sz="16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7319963"/>
            <a:ext cx="10152063" cy="2889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>
          <a:solidFill>
            <a:srgbClr val="003399"/>
          </a:solidFill>
          <a:latin typeface="+mn-lt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2646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Randomized algorithms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022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Nuts and bolts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27559B-42F1-4249-B365-E6BA1989B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9" y="2426494"/>
            <a:ext cx="9954493" cy="19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64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Nuts and bolts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E5F4B-848E-5F48-B291-7667C6C26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" y="1816894"/>
            <a:ext cx="10098424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D2C003-3FDB-9F49-AC3D-B394CA813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3" y="4560094"/>
            <a:ext cx="9880600" cy="70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4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Deterministic vs randomized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EA394F-4ADD-6844-9DB5-A0478A40F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0" y="1319032"/>
            <a:ext cx="9496735" cy="1412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02679-665E-C748-8321-07951898F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67" y="3264694"/>
            <a:ext cx="9529119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E9ED42-3D30-3543-B6CE-1E1705B397C5}"/>
              </a:ext>
            </a:extLst>
          </p:cNvPr>
          <p:cNvSpPr txBox="1"/>
          <p:nvPr/>
        </p:nvSpPr>
        <p:spPr>
          <a:xfrm>
            <a:off x="396815" y="5520906"/>
            <a:ext cx="8717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this definition makes an assumption on the input distribution</a:t>
            </a:r>
          </a:p>
        </p:txBody>
      </p:sp>
    </p:spTree>
    <p:extLst>
      <p:ext uri="{BB962C8B-B14F-4D97-AF65-F5344CB8AC3E}">
        <p14:creationId xmlns:p14="http://schemas.microsoft.com/office/powerpoint/2010/main" val="793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Randomized algorithm (worst-case input)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655A2-7434-B545-AA51-6B72BBAD0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31" y="1740694"/>
            <a:ext cx="5791200" cy="1072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5D563F-CAE3-8B49-B6BD-99AEC45F4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0" y="3340894"/>
            <a:ext cx="9268691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3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Back to nuts and bolts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AE757-E421-904D-B940-6F63E87BCB9C}"/>
              </a:ext>
            </a:extLst>
          </p:cNvPr>
          <p:cNvSpPr txBox="1"/>
          <p:nvPr/>
        </p:nvSpPr>
        <p:spPr>
          <a:xfrm>
            <a:off x="199231" y="1283494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Let us look at the problem of finding a nut that matches a given bolt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E17A5-17F1-E345-B6CA-3CB9C22B782B}"/>
              </a:ext>
            </a:extLst>
          </p:cNvPr>
          <p:cNvSpPr txBox="1"/>
          <p:nvPr/>
        </p:nvSpPr>
        <p:spPr>
          <a:xfrm>
            <a:off x="199231" y="2043261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Suppose we pick a random nut from the untested nuts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F10B6-4F98-464F-9B03-5B23AAB51205}"/>
              </a:ext>
            </a:extLst>
          </p:cNvPr>
          <p:cNvSpPr txBox="1"/>
          <p:nvPr/>
        </p:nvSpPr>
        <p:spPr>
          <a:xfrm>
            <a:off x="199231" y="2803028"/>
            <a:ext cx="676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So, if k nuts are left to test, each is chosen </a:t>
            </a:r>
            <a:r>
              <a:rPr lang="en-US" dirty="0" err="1"/>
              <a:t>w.p</a:t>
            </a:r>
            <a:r>
              <a:rPr lang="en-US" dirty="0"/>
              <a:t>. 1/k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59BFA0-F33A-EB45-B6F4-5F213F690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31" y="3417094"/>
            <a:ext cx="4034444" cy="990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928343-864F-2F44-8E75-1EB8D0100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31" y="4788693"/>
            <a:ext cx="5181600" cy="124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8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Expected running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67CD3-516C-D440-99C4-EE0F1B990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931" y="2502694"/>
            <a:ext cx="3733800" cy="2731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C275AC-8344-944B-8ED7-D8ACB9B3F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283494"/>
            <a:ext cx="9496529" cy="7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11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We can think of the algorithm recursively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26E49-FB4E-B743-9AB8-11744D3E7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230" y="1271588"/>
            <a:ext cx="6863311" cy="1002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0607F7-A16F-A544-8F22-DBD5631F2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30" y="2535238"/>
            <a:ext cx="8872793" cy="1262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A04DD8-54E8-1B48-9AD3-B3EE3E687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0" y="4407694"/>
            <a:ext cx="8215111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1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Finding all matches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BB1BD8-4CE8-3F46-BD58-C2737FFC8C6A}"/>
              </a:ext>
            </a:extLst>
          </p:cNvPr>
          <p:cNvSpPr txBox="1"/>
          <p:nvPr/>
        </p:nvSpPr>
        <p:spPr>
          <a:xfrm>
            <a:off x="199231" y="1250022"/>
            <a:ext cx="5774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Trivial algorithm requires O(n</a:t>
            </a:r>
            <a:r>
              <a:rPr lang="en-US" sz="2200" baseline="30000" dirty="0"/>
              <a:t>2</a:t>
            </a:r>
            <a:r>
              <a:rPr lang="en-US" sz="2200" dirty="0"/>
              <a:t>) comparisons.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27B2CE-22ED-8F42-9664-83632DBCBD31}"/>
              </a:ext>
            </a:extLst>
          </p:cNvPr>
          <p:cNvSpPr/>
          <p:nvPr/>
        </p:nvSpPr>
        <p:spPr>
          <a:xfrm>
            <a:off x="199231" y="2009789"/>
            <a:ext cx="7086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/>
              <a:t>Choose a pivot bolt, and test it against every nut.</a:t>
            </a: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F09DE2-3672-B148-9554-6A5DD2564CF3}"/>
              </a:ext>
            </a:extLst>
          </p:cNvPr>
          <p:cNvSpPr/>
          <p:nvPr/>
        </p:nvSpPr>
        <p:spPr>
          <a:xfrm>
            <a:off x="199231" y="2769556"/>
            <a:ext cx="88606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/>
              <a:t>Then test the matching pivot nut against every other bolt.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9519F-1084-6844-AE44-D98CE37D34CF}"/>
              </a:ext>
            </a:extLst>
          </p:cNvPr>
          <p:cNvSpPr txBox="1"/>
          <p:nvPr/>
        </p:nvSpPr>
        <p:spPr>
          <a:xfrm>
            <a:off x="199231" y="3645694"/>
            <a:ext cx="9538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After 2n-1 comparisons, we have one matching pair and the remaining are partitioned into two sets: smaller and larger than matching pair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2BC05C-7E63-1B4C-A96B-6398E9DB8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31" y="5398294"/>
            <a:ext cx="4064000" cy="914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368B49-B80F-6844-89EC-71FC4D23BA6A}"/>
              </a:ext>
            </a:extLst>
          </p:cNvPr>
          <p:cNvSpPr/>
          <p:nvPr/>
        </p:nvSpPr>
        <p:spPr>
          <a:xfrm>
            <a:off x="271132" y="4778602"/>
            <a:ext cx="988093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/>
              <a:t>The worst-case number of tests made by this algorithm is given by the recurrence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6343DA-BCFB-744A-AB63-53584003C165}"/>
              </a:ext>
            </a:extLst>
          </p:cNvPr>
          <p:cNvSpPr txBox="1"/>
          <p:nvPr/>
        </p:nvSpPr>
        <p:spPr>
          <a:xfrm>
            <a:off x="810883" y="6832121"/>
            <a:ext cx="876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know this recurrence solves to T(n) =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357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Equivalence to sorting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842D1-F5CD-2F42-BCC7-2E3508D04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512094"/>
            <a:ext cx="9558928" cy="198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1C0A05-4B88-1E4F-8A7A-8769E45E2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0" y="3950494"/>
            <a:ext cx="9722922" cy="1143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7F04BC-7247-B849-A98E-19BC4C04F4F6}"/>
              </a:ext>
            </a:extLst>
          </p:cNvPr>
          <p:cNvSpPr txBox="1"/>
          <p:nvPr/>
        </p:nvSpPr>
        <p:spPr>
          <a:xfrm>
            <a:off x="345057" y="6159260"/>
            <a:ext cx="9379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we can’t use </a:t>
            </a:r>
            <a:r>
              <a:rPr lang="en-US" dirty="0" err="1"/>
              <a:t>mergesort</a:t>
            </a:r>
            <a:r>
              <a:rPr lang="en-US" dirty="0"/>
              <a:t> if they weren’t matched since we are only allowed to compare nuts with bolts, and not nuts with nuts</a:t>
            </a:r>
          </a:p>
        </p:txBody>
      </p:sp>
    </p:spTree>
    <p:extLst>
      <p:ext uri="{BB962C8B-B14F-4D97-AF65-F5344CB8AC3E}">
        <p14:creationId xmlns:p14="http://schemas.microsoft.com/office/powerpoint/2010/main" val="244463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Choosing pivot at random: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7BB1F-35A9-E949-8046-9813F33C8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0" y="1320470"/>
            <a:ext cx="8310489" cy="496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582A9-96D2-A14B-A318-57F8BEF34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31" y="2274094"/>
            <a:ext cx="6125066" cy="1752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C3B596-1965-AD4A-8507-FF8E9118C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1" y="4325144"/>
            <a:ext cx="3634224" cy="4635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ABBD2B-86B9-5148-B590-CB784E54C60E}"/>
              </a:ext>
            </a:extLst>
          </p:cNvPr>
          <p:cNvSpPr txBox="1"/>
          <p:nvPr/>
        </p:nvSpPr>
        <p:spPr>
          <a:xfrm>
            <a:off x="914400" y="5624423"/>
            <a:ext cx="8276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solve this recurrence to get T(n) = O(n log n)!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7CCEB-68F8-7D4A-A190-DC755EF7E98C}"/>
              </a:ext>
            </a:extLst>
          </p:cNvPr>
          <p:cNvSpPr txBox="1"/>
          <p:nvPr/>
        </p:nvSpPr>
        <p:spPr>
          <a:xfrm>
            <a:off x="448574" y="6469811"/>
            <a:ext cx="9123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textbook for a solution to the recurrence</a:t>
            </a:r>
          </a:p>
        </p:txBody>
      </p:sp>
    </p:spTree>
    <p:extLst>
      <p:ext uri="{BB962C8B-B14F-4D97-AF65-F5344CB8AC3E}">
        <p14:creationId xmlns:p14="http://schemas.microsoft.com/office/powerpoint/2010/main" val="412026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Alternative (iterative)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BE7E8-2662-134D-B492-B0AC334F7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5" y="1283494"/>
            <a:ext cx="9702114" cy="106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09F402-10B3-ED49-A2AF-DF8DB9982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31" y="2350294"/>
            <a:ext cx="2430066" cy="990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FF4642-2E74-2D4E-B37A-7CA4A6662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230" y="3417094"/>
            <a:ext cx="5105401" cy="13635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081179-2F79-964F-82F1-B4E38A73C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031" y="5017294"/>
            <a:ext cx="6530167" cy="541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F8ABB2-6CF8-AD42-AAE2-5934D47CB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31" y="6044870"/>
            <a:ext cx="7455598" cy="95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7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Alternative (iterative)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1DAB6-04B9-8E42-92C2-69370B13B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" y="1283494"/>
            <a:ext cx="9333390" cy="144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A4D14A-8AB5-D549-B876-AE03E1D92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31" y="3172872"/>
            <a:ext cx="3962400" cy="24471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FF9DAE-6C61-9244-9519-68EE33A7F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901" y="5703094"/>
            <a:ext cx="3047999" cy="103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85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Edge contraction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28846-9F93-F148-AC4F-54D451D8F0F9}"/>
              </a:ext>
            </a:extLst>
          </p:cNvPr>
          <p:cNvSpPr txBox="1"/>
          <p:nvPr/>
        </p:nvSpPr>
        <p:spPr>
          <a:xfrm>
            <a:off x="230247" y="1357461"/>
            <a:ext cx="9722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 problem of min-cut for a multi-graph (a pair of nodes can have multiple edges between them)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02052C-7A7E-9340-AA74-EABD7CD6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9172"/>
            <a:ext cx="10152063" cy="23345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57AA30-ECE5-0744-9A35-05F0B6D97A4E}"/>
              </a:ext>
            </a:extLst>
          </p:cNvPr>
          <p:cNvSpPr/>
          <p:nvPr/>
        </p:nvSpPr>
        <p:spPr>
          <a:xfrm>
            <a:off x="0" y="6105862"/>
            <a:ext cx="975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Contracting an edge increases the minimum cut size if and only if that edge is part of every minimum cut.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616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A randomized algorithm for minimum cut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C2924D-4FF3-EC48-B7E3-948B821DB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68" y="1283494"/>
            <a:ext cx="9742098" cy="633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A2CEF-3F50-C044-9EAE-946D81541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917" y="2274094"/>
            <a:ext cx="4432914" cy="19785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EBAC1E-7985-A94D-8FC0-F860D678C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07" y="5253652"/>
            <a:ext cx="9777428" cy="96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3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Success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BD1E4-8DBB-F54F-879C-D29608C2BF9E}"/>
              </a:ext>
            </a:extLst>
          </p:cNvPr>
          <p:cNvSpPr txBox="1"/>
          <p:nvPr/>
        </p:nvSpPr>
        <p:spPr>
          <a:xfrm>
            <a:off x="230247" y="1283494"/>
            <a:ext cx="91294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Suppose G has a min-cut of size 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vertex must have degree at least 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number of edges in the graph is at least </a:t>
            </a:r>
            <a:r>
              <a:rPr lang="en-US" dirty="0" err="1"/>
              <a:t>kn</a:t>
            </a:r>
            <a:r>
              <a:rPr lang="en-US" dirty="0"/>
              <a:t>/2.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probability that a min-cut edge is chosen is at most k/(</a:t>
            </a:r>
            <a:r>
              <a:rPr lang="en-US" dirty="0" err="1"/>
              <a:t>kn</a:t>
            </a:r>
            <a:r>
              <a:rPr lang="en-US" dirty="0"/>
              <a:t>/2) = 2/n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D3A51-60CE-C34F-B3BC-580596ADB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4368"/>
            <a:ext cx="10152063" cy="11922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0A0720-B567-DE4D-86B9-E912F6BCD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031" y="5968482"/>
            <a:ext cx="6379139" cy="98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8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Better algorithm: not-so-blindly guessing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17D26-7C40-8048-ADA2-FA8F5FE1A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2094"/>
            <a:ext cx="10152063" cy="667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21428-AB50-4D4E-976E-5F2DB0B4C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091"/>
            <a:ext cx="10152063" cy="6695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CB91B6-B79E-8C4C-8C38-2E578B4BB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9407"/>
            <a:ext cx="10152063" cy="128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48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Better algorithm: not-so-blindly guessing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1A2F9-D50B-5A4D-A070-4E3DB1BFD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6136"/>
            <a:ext cx="10152063" cy="193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01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Better algorithm: not-so-blindly guessing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FB515-CB31-F34E-80FE-52875C43F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471"/>
            <a:ext cx="10152063" cy="3822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A7B803-69BF-4A49-A0CE-8D1F98390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80" y="5779294"/>
            <a:ext cx="10152063" cy="73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0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Better algorithm: not-so-blindly guessing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FB515-CB31-F34E-80FE-52875C43F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471"/>
            <a:ext cx="10152063" cy="3822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A7B803-69BF-4A49-A0CE-8D1F98390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80" y="5779294"/>
            <a:ext cx="10152063" cy="73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5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Success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BB3DF-160A-674C-B8C8-8A2C6346C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5649"/>
            <a:ext cx="10152063" cy="504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91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Success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74E80-9D4B-3E49-A3BD-5C8822B33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12" y="1283494"/>
            <a:ext cx="4890551" cy="475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CF4498-0345-CB4B-B4BA-22309AD37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64" y="1973768"/>
            <a:ext cx="3683000" cy="920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B5A8B0-BCFE-6041-8D7D-90558BD25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0545"/>
            <a:ext cx="10152063" cy="1835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7A0998-FCEE-A147-AB88-CE1D09A22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" y="4877878"/>
            <a:ext cx="9020658" cy="173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3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Success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59A66-28A6-3E48-8D87-FBF3CA2BC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" y="1740694"/>
            <a:ext cx="10152063" cy="1464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CC0941-8DE2-6B43-951E-EFB3AB2E6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48" y="3474244"/>
            <a:ext cx="7750383" cy="96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Success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1320-E73D-D74E-975B-B2B419EC0197}"/>
              </a:ext>
            </a:extLst>
          </p:cNvPr>
          <p:cNvSpPr txBox="1"/>
          <p:nvPr/>
        </p:nvSpPr>
        <p:spPr>
          <a:xfrm>
            <a:off x="3171031" y="42094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4680F-3F95-3B42-8CE9-2663B9C44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8533"/>
            <a:ext cx="10152063" cy="295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8552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17260</TotalTime>
  <Words>388</Words>
  <Application>Microsoft Macintosh PowerPoint</Application>
  <PresentationFormat>Custom</PresentationFormat>
  <Paragraphs>51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Times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Microsoft Office User</cp:lastModifiedBy>
  <cp:revision>347</cp:revision>
  <cp:lastPrinted>2019-08-10T08:34:39Z</cp:lastPrinted>
  <dcterms:created xsi:type="dcterms:W3CDTF">2001-10-04T11:39:11Z</dcterms:created>
  <dcterms:modified xsi:type="dcterms:W3CDTF">2019-10-20T02:52:10Z</dcterms:modified>
</cp:coreProperties>
</file>