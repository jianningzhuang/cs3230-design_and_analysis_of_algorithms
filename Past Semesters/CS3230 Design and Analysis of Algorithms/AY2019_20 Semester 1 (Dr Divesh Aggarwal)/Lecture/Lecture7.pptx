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466" r:id="rId2"/>
    <p:sldId id="482" r:id="rId3"/>
    <p:sldId id="483" r:id="rId4"/>
    <p:sldId id="484" r:id="rId5"/>
    <p:sldId id="485" r:id="rId6"/>
    <p:sldId id="486" r:id="rId7"/>
    <p:sldId id="487" r:id="rId8"/>
    <p:sldId id="488" r:id="rId9"/>
    <p:sldId id="467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57" r:id="rId18"/>
    <p:sldId id="458" r:id="rId19"/>
    <p:sldId id="459" r:id="rId20"/>
    <p:sldId id="460" r:id="rId21"/>
    <p:sldId id="461" r:id="rId22"/>
    <p:sldId id="462" r:id="rId23"/>
    <p:sldId id="463" r:id="rId24"/>
    <p:sldId id="464" r:id="rId25"/>
    <p:sldId id="465" r:id="rId26"/>
    <p:sldId id="490" r:id="rId27"/>
    <p:sldId id="489" r:id="rId28"/>
    <p:sldId id="491" r:id="rId29"/>
    <p:sldId id="492" r:id="rId30"/>
    <p:sldId id="493" r:id="rId31"/>
    <p:sldId id="494" r:id="rId32"/>
    <p:sldId id="495" r:id="rId33"/>
    <p:sldId id="496" r:id="rId34"/>
    <p:sldId id="497" r:id="rId35"/>
    <p:sldId id="498" r:id="rId36"/>
    <p:sldId id="499" r:id="rId37"/>
    <p:sldId id="500" r:id="rId38"/>
    <p:sldId id="501" r:id="rId39"/>
    <p:sldId id="502" r:id="rId40"/>
  </p:sldIdLst>
  <p:sldSz cx="10152063" cy="7596188"/>
  <p:notesSz cx="7596188" cy="101520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5D02"/>
    <a:srgbClr val="DE5A02"/>
    <a:srgbClr val="C14E02"/>
    <a:srgbClr val="003399"/>
    <a:srgbClr val="873701"/>
    <a:srgbClr val="FF0000"/>
    <a:srgbClr val="969696"/>
    <a:srgbClr val="81ABFF"/>
    <a:srgbClr val="FFFF66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092" autoAdjust="0"/>
    <p:restoredTop sz="91884" autoAdjust="0"/>
  </p:normalViewPr>
  <p:slideViewPr>
    <p:cSldViewPr>
      <p:cViewPr varScale="1">
        <p:scale>
          <a:sx n="74" d="100"/>
          <a:sy n="74" d="100"/>
        </p:scale>
        <p:origin x="184" y="616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302125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302125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28AF44-D823-4724-A853-1093A72A094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302125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62000"/>
            <a:ext cx="5086350" cy="380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0413" y="4822825"/>
            <a:ext cx="6076950" cy="456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302125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4901CC-E834-4EBA-8890-E59F33DE9E1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901CC-E834-4EBA-8890-E59F33DE9E1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23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EE9ADB-2485-4A93-AC68-657D518DF81C}" type="slidenum">
              <a:rPr lang="en-US"/>
              <a:pPr/>
              <a:t>9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807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EE9ADB-2485-4A93-AC68-657D518DF81C}" type="slidenum">
              <a:rPr lang="en-US"/>
              <a:pPr/>
              <a:t>26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61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10"/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Rectangle 11"/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8205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DAFAA84-93FD-4C2C-AE46-F7D42BEF3958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8" y="4881563"/>
            <a:ext cx="8629650" cy="1508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3219450"/>
            <a:ext cx="8629650" cy="16621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797668-4770-4979-B1D4-D6D2511F0B65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817688"/>
            <a:ext cx="4237037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5" y="1817688"/>
            <a:ext cx="4238625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D269CF-64BA-444E-9F2D-69BD9F60489F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36063" cy="12652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0213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08238"/>
            <a:ext cx="4484688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7788" y="1700213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7788" y="2408238"/>
            <a:ext cx="4486275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B54B7F-CFD7-42C9-95D8-A751AB99534C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B2659F-1AD7-4F14-81C4-ADEDB1B20730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B3CE18-A588-438A-818D-D402E37F5853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0100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3213"/>
            <a:ext cx="5675313" cy="6481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89088"/>
            <a:ext cx="3340100" cy="51958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E5FF68-5D0A-4A29-8164-F5FA0A65DE11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8125"/>
            <a:ext cx="6091237" cy="6270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9450"/>
            <a:ext cx="6091237" cy="45577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5188"/>
            <a:ext cx="6091237" cy="8921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42643D-99CE-49A6-B68E-51ECE14F37DF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7693E4-C871-4A11-9A28-7FDAD6AD934A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322263"/>
            <a:ext cx="2155825" cy="6611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22263"/>
            <a:ext cx="6319837" cy="6611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7CBC53-0468-4F6C-80ED-218DC62F935B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322263"/>
            <a:ext cx="7237412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17688"/>
            <a:ext cx="8628062" cy="511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defTabSz="1014413">
              <a:defRPr sz="1000">
                <a:solidFill>
                  <a:srgbClr val="003399"/>
                </a:solidFill>
              </a:defRPr>
            </a:lvl1pPr>
          </a:lstStyle>
          <a:p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defTabSz="1014413">
              <a:defRPr sz="1000">
                <a:solidFill>
                  <a:srgbClr val="003399"/>
                </a:solidFill>
              </a:defRPr>
            </a:lvl1pPr>
          </a:lstStyle>
          <a:p>
            <a:fld id="{F354BF72-ACA3-44A4-878A-614A75F1CF45}" type="slidenum">
              <a:rPr lang="en-GB"/>
              <a:pPr/>
              <a:t>‹#›</a:t>
            </a:fld>
            <a:endParaRPr lang="en-GB" sz="1600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0" y="7319963"/>
            <a:ext cx="10152063" cy="28892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8229600" y="431800"/>
            <a:ext cx="1612900" cy="78898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+mj-lt"/>
          <a:ea typeface="+mj-ea"/>
          <a:cs typeface="+mj-cs"/>
        </a:defRPr>
      </a:lvl1pPr>
      <a:lvl2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2pPr>
      <a:lvl3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3pPr>
      <a:lvl4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4pPr>
      <a:lvl5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9pPr>
    </p:titleStyle>
    <p:bodyStyle>
      <a:lvl1pPr algn="l" defTabSz="1014413" rtl="0" fontAlgn="base">
        <a:spcBef>
          <a:spcPct val="20000"/>
        </a:spcBef>
        <a:spcAft>
          <a:spcPct val="0"/>
        </a:spcAft>
        <a:defRPr sz="2500" b="1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fontAlgn="base">
        <a:spcBef>
          <a:spcPct val="20000"/>
        </a:spcBef>
        <a:spcAft>
          <a:spcPct val="0"/>
        </a:spcAft>
        <a:defRPr sz="2600">
          <a:solidFill>
            <a:srgbClr val="003399"/>
          </a:solidFill>
          <a:latin typeface="+mn-lt"/>
        </a:defRPr>
      </a:lvl2pPr>
      <a:lvl3pPr marL="755650" algn="l" defTabSz="1014413" rtl="0" fontAlgn="base">
        <a:spcBef>
          <a:spcPct val="20000"/>
        </a:spcBef>
        <a:spcAft>
          <a:spcPct val="0"/>
        </a:spcAft>
        <a:defRPr sz="2200" b="1">
          <a:solidFill>
            <a:srgbClr val="FF6600"/>
          </a:solidFill>
          <a:latin typeface="+mn-lt"/>
        </a:defRPr>
      </a:lvl3pPr>
      <a:lvl4pPr marL="1143000" indent="6350" algn="l" defTabSz="1014413" rtl="0" fontAlgn="base">
        <a:spcBef>
          <a:spcPct val="20000"/>
        </a:spcBef>
        <a:spcAft>
          <a:spcPct val="0"/>
        </a:spcAft>
        <a:defRPr sz="2200" i="1">
          <a:solidFill>
            <a:srgbClr val="003399"/>
          </a:solidFill>
          <a:latin typeface="+mn-lt"/>
        </a:defRPr>
      </a:lvl4pPr>
      <a:lvl5pPr marL="15240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5pPr>
      <a:lvl6pPr marL="19812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6pPr>
      <a:lvl7pPr marL="24384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7pPr>
      <a:lvl8pPr marL="28956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8pPr>
      <a:lvl9pPr marL="33528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Midterm statistics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425A6A-A342-D846-9ADB-E1EA697FC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31" y="2197894"/>
            <a:ext cx="9093200" cy="158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8B1CBF-BD01-E74E-9C66-9324DD3BB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631" y="1588294"/>
            <a:ext cx="6553200" cy="348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F34B24-598C-5044-96DC-41739F716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231" y="4100814"/>
            <a:ext cx="749300" cy="3073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F26B32-C95C-514E-8B33-4D1849EDF7B7}"/>
              </a:ext>
            </a:extLst>
          </p:cNvPr>
          <p:cNvSpPr txBox="1"/>
          <p:nvPr/>
        </p:nvSpPr>
        <p:spPr>
          <a:xfrm>
            <a:off x="1414732" y="5175849"/>
            <a:ext cx="2823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Expected grades:</a:t>
            </a:r>
          </a:p>
        </p:txBody>
      </p:sp>
    </p:spTree>
    <p:extLst>
      <p:ext uri="{BB962C8B-B14F-4D97-AF65-F5344CB8AC3E}">
        <p14:creationId xmlns:p14="http://schemas.microsoft.com/office/powerpoint/2010/main" val="256637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620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Bellman-Ford: Graphs with negative edges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758448-93D6-BD4B-B509-0D6BF3D1D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" y="1658144"/>
            <a:ext cx="10033000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6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620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Bellman-Ford: Correctness Proof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50668-3443-244B-B0D1-022529F9B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" y="3264694"/>
            <a:ext cx="10152063" cy="944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2D01B7-4FE7-9346-8B8C-6625C4F20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494"/>
            <a:ext cx="10152063" cy="16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83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620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Bellman-Ford: Find negative cycles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01C840-9C00-424C-9D27-A198B458D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831" y="978694"/>
            <a:ext cx="6375400" cy="4394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6A3516-DF85-E747-B748-FD211EF18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55494"/>
            <a:ext cx="10152063" cy="114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4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620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Bellman-Ford: Find negative cycles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01C840-9C00-424C-9D27-A198B458D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831" y="978694"/>
            <a:ext cx="6375400" cy="4394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6A3516-DF85-E747-B748-FD211EF18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55494"/>
            <a:ext cx="10152063" cy="114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43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620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Bellman-Ford: Dynamic Programming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447BF7-0300-4E45-88D2-F6E045BEABAA}"/>
              </a:ext>
            </a:extLst>
          </p:cNvPr>
          <p:cNvSpPr/>
          <p:nvPr/>
        </p:nvSpPr>
        <p:spPr>
          <a:xfrm>
            <a:off x="186795" y="1283494"/>
            <a:ext cx="10152063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300" dirty="0"/>
              <a:t>It’s tempting to use the same identity that we exploited for directed acyclic graphs:</a:t>
            </a:r>
            <a:endParaRPr lang="en-US" sz="2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E2B0A9-0196-E545-923B-9792EB69A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31" y="1875820"/>
            <a:ext cx="6400800" cy="1391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EA58C5-EDF1-B14C-8FAA-39B1FDA0D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5694"/>
            <a:ext cx="10152063" cy="204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0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620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Bellman-Ford: Dynamic Programming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B5A7BB-0551-974D-9B4C-4D9C8C736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0694"/>
            <a:ext cx="10152063" cy="36458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8F609DE-EAE5-4C41-84BB-CD595E2680FB}"/>
              </a:ext>
            </a:extLst>
          </p:cNvPr>
          <p:cNvSpPr/>
          <p:nvPr/>
        </p:nvSpPr>
        <p:spPr>
          <a:xfrm>
            <a:off x="504031" y="6007894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Correctness of the final shortest-path distances follows from the correctness of the recurrence, and the O(V E) running time is obvious.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72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620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Bellman-Ford: Dynamic Programming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00A4B6-AE65-D54A-A528-597B147FE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622" y="1740694"/>
            <a:ext cx="789842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07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endParaRPr lang="en-US" dirty="0"/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792163" y="1055688"/>
            <a:ext cx="8580437" cy="32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Chapter 9</a:t>
            </a:r>
          </a:p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All-pair shortest paths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sz="3600" i="1" dirty="0">
              <a:solidFill>
                <a:schemeClr val="bg1"/>
              </a:solidFill>
              <a:latin typeface="Arial" charset="0"/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i="1" dirty="0" err="1">
                <a:solidFill>
                  <a:schemeClr val="bg1"/>
                </a:solidFill>
                <a:latin typeface="Arial" charset="0"/>
              </a:rPr>
              <a:t>Divesh</a:t>
            </a:r>
            <a:r>
              <a:rPr lang="en-US" i="1" dirty="0">
                <a:solidFill>
                  <a:schemeClr val="bg1"/>
                </a:solidFill>
                <a:latin typeface="Arial" charset="0"/>
              </a:rPr>
              <a:t> Aggarwal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School of Computing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Department of Computer Science</a:t>
            </a:r>
            <a:endParaRPr lang="en-GB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5751513"/>
            <a:ext cx="2576513" cy="12588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511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All-pair shortest paths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2076C-1B63-6243-8083-DBE9DBB1B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1284528"/>
            <a:ext cx="9478108" cy="251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5545F7-D8A8-FA41-AAAA-46140E619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4407694"/>
            <a:ext cx="928721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25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The obvious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B70D3-58F3-4746-AEC4-D30E12A17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631" y="1054894"/>
            <a:ext cx="4889090" cy="137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C27D0D-D603-9B48-AE7D-D5B62A8FC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88" y="2959894"/>
            <a:ext cx="8641976" cy="1524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7EA33E-1081-AC49-B4E3-568947ED1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88" y="4483894"/>
            <a:ext cx="856034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6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Reweighting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B85E35-8274-8F42-BD9A-4B4FABFCE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283494"/>
            <a:ext cx="782955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B4CC3D-BFC9-2341-B21F-6F981DB27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" y="2631686"/>
            <a:ext cx="7514897" cy="1524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0B23A7-11F4-C043-86BB-132C3375C02D}"/>
              </a:ext>
            </a:extLst>
          </p:cNvPr>
          <p:cNvSpPr txBox="1"/>
          <p:nvPr/>
        </p:nvSpPr>
        <p:spPr>
          <a:xfrm>
            <a:off x="504031" y="1880357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Increasing all edge weights by a constant doesn’t work!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609541-6703-DA4E-800D-AF60D204F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94" y="4636294"/>
            <a:ext cx="8220792" cy="20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0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60960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Reweighting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6698B0-C3C7-0A42-B208-87B906148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31" y="1435894"/>
            <a:ext cx="8634046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E488AF-08E6-5E4E-86F7-4A64BCEB1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35" y="2121695"/>
            <a:ext cx="8376296" cy="1026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51E226-82BF-8746-917F-CFD140311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83" y="3340894"/>
            <a:ext cx="8634046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84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4676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Choosing the price function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D4AFF8-91CA-BC4D-B6C9-EA352204A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30" y="1300342"/>
            <a:ext cx="8774149" cy="26501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074ED5-33A9-044E-835F-268C1DBAE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705" y="4179094"/>
            <a:ext cx="5628640" cy="609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4FB244-F430-0145-92ED-1DF92C691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5245894"/>
            <a:ext cx="9363446" cy="176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4676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Choosing the source vertex 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955743-0888-2446-9E53-F80682FF2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2197894"/>
            <a:ext cx="92583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38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4676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The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55618-0B4E-1148-AAA9-B2A7021BF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632" y="1074143"/>
            <a:ext cx="6210812" cy="600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22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74676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Complexity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ABB43-8E20-CB4F-A849-E277E7C32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1740694"/>
            <a:ext cx="927735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19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/>
              <a:t>Dynamic programming </a:t>
            </a:r>
            <a:r>
              <a:rPr lang="en-US" sz="3160" kern="0" dirty="0"/>
              <a:t>algorithm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BEA109-01F4-2547-BB98-EB60E3E82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1664494"/>
            <a:ext cx="9182100" cy="685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D0358D-6D5D-3E4B-A954-3D32CE5C7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" y="3036094"/>
            <a:ext cx="8976023" cy="27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9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Just as in Bellman-Ford…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AABA32-A92D-3F46-A3F0-97A03F007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28" y="2301968"/>
            <a:ext cx="8184313" cy="17247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0F5579-EA63-C94E-8592-438D1C856B50}"/>
              </a:ext>
            </a:extLst>
          </p:cNvPr>
          <p:cNvSpPr txBox="1"/>
          <p:nvPr/>
        </p:nvSpPr>
        <p:spPr>
          <a:xfrm>
            <a:off x="427831" y="1570008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</a:t>
            </a:r>
            <a:r>
              <a:rPr lang="en-US" dirty="0" err="1"/>
              <a:t>dist</a:t>
            </a:r>
            <a:r>
              <a:rPr lang="en-US" dirty="0"/>
              <a:t>(</a:t>
            </a:r>
            <a:r>
              <a:rPr lang="en-US" dirty="0" err="1"/>
              <a:t>u,v,i</a:t>
            </a:r>
            <a:r>
              <a:rPr lang="en-US" dirty="0"/>
              <a:t>) be the shortest path from u to v with at most </a:t>
            </a:r>
            <a:r>
              <a:rPr lang="en-US" dirty="0" err="1"/>
              <a:t>i</a:t>
            </a:r>
            <a:r>
              <a:rPr lang="en-US" dirty="0"/>
              <a:t> edges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E9997-F1B8-B041-B640-655BB2CF6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43" y="4560094"/>
            <a:ext cx="9092648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9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The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0D5FCD-6FCB-0449-AE96-EA04F16CD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122" y="1588294"/>
            <a:ext cx="8074771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44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Divide and conquer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0E565-5A5D-BF4C-A748-DF376ED9F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131094"/>
            <a:ext cx="8136610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4D20F2-056C-2048-8EA9-350361937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9" y="2578894"/>
            <a:ext cx="9429750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D40E43-8B6A-3A47-888F-3A4F399B5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4" y="4712494"/>
            <a:ext cx="9462052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Divide and conquer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D0C61-3118-B142-95C5-950493185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98" y="1588294"/>
            <a:ext cx="899985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14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Floyd-</a:t>
            </a:r>
            <a:r>
              <a:rPr lang="en-US" sz="3160" kern="0" dirty="0" err="1"/>
              <a:t>Warshall</a:t>
            </a:r>
            <a:r>
              <a:rPr lang="en-US" sz="3160" kern="0" dirty="0"/>
              <a:t>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8E9697-63AE-DF49-BCC4-E0B065914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296030"/>
            <a:ext cx="9175058" cy="19686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828DCA-4593-F94C-A053-8DA80C95D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11" y="3874294"/>
            <a:ext cx="8888186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Recurrence relation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AC63D5-CEDD-7B4F-960F-5BBFB5795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230" y="1512094"/>
            <a:ext cx="7377545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4C12FE-6AD5-8B4E-86C4-7AC9A0329A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831" y="4407694"/>
            <a:ext cx="788440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3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The 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F113D-8D49-DD44-9405-8E44F15BC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30" y="1314720"/>
            <a:ext cx="8336629" cy="959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352EFF-1C93-114A-872F-A9FCD9856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31" y="2578894"/>
            <a:ext cx="840999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8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endParaRPr lang="en-US" dirty="0"/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792163" y="1055688"/>
            <a:ext cx="8580437" cy="2646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Lower bounds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sz="3600" i="1" dirty="0">
              <a:solidFill>
                <a:schemeClr val="bg1"/>
              </a:solidFill>
              <a:latin typeface="Arial" charset="0"/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i="1" dirty="0" err="1">
                <a:solidFill>
                  <a:schemeClr val="bg1"/>
                </a:solidFill>
                <a:latin typeface="Arial" charset="0"/>
              </a:rPr>
              <a:t>Divesh</a:t>
            </a:r>
            <a:r>
              <a:rPr lang="en-US" i="1" dirty="0">
                <a:solidFill>
                  <a:schemeClr val="bg1"/>
                </a:solidFill>
                <a:latin typeface="Arial" charset="0"/>
              </a:rPr>
              <a:t> Aggarwal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School of Computing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Department of Computer Science</a:t>
            </a:r>
            <a:endParaRPr lang="en-GB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5751513"/>
            <a:ext cx="2576513" cy="12588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0220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What is a lower bound?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FFCA35-F548-944A-AE03-CF417F9DE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494"/>
            <a:ext cx="10096500" cy="1295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F0B974-051C-B945-BC42-23964A56F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" y="3950494"/>
            <a:ext cx="101346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8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Upper bounds vs lower bounds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2EBD18-E24F-6341-A4D5-DE2FD0F69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7635"/>
            <a:ext cx="10051626" cy="198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932057-A1D0-C74C-95BF-31EC3FB0D869}"/>
              </a:ext>
            </a:extLst>
          </p:cNvPr>
          <p:cNvSpPr txBox="1"/>
          <p:nvPr/>
        </p:nvSpPr>
        <p:spPr>
          <a:xfrm>
            <a:off x="199231" y="1414732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Algorithms research is often about statements like…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82004F-1B71-2E4C-B1A8-B3DDF67AC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4" y="4376426"/>
            <a:ext cx="10096500" cy="673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D77632-462B-494F-96E6-F3C5D2D62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4" y="5049526"/>
            <a:ext cx="10033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Decision tree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D1BFB0-45BC-3D40-90CC-7D8F81125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3" y="1283494"/>
            <a:ext cx="10096500" cy="977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D7492B-F1E1-F842-9D83-105D25909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1" y="3280345"/>
            <a:ext cx="100584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1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Decision tree for the dictionary problem..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E43998-DB02-4648-906B-A679FD875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5694"/>
            <a:ext cx="10152063" cy="3206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0DC9C1-CCFE-6747-9DDA-5D5380C5AB10}"/>
              </a:ext>
            </a:extLst>
          </p:cNvPr>
          <p:cNvSpPr txBox="1"/>
          <p:nvPr/>
        </p:nvSpPr>
        <p:spPr>
          <a:xfrm>
            <a:off x="199231" y="1679764"/>
            <a:ext cx="960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Here’s another simple and familiar example, called the dictionary problem. Let A be a fixed sorted array with n numbers. Suppose we want to determine, given a number x, the position of x in the array A, if any.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50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Decision tree for the dictionary problem..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E43998-DB02-4648-906B-A679FD875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5694"/>
            <a:ext cx="10152063" cy="3206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0DC9C1-CCFE-6747-9DDA-5D5380C5AB10}"/>
              </a:ext>
            </a:extLst>
          </p:cNvPr>
          <p:cNvSpPr txBox="1"/>
          <p:nvPr/>
        </p:nvSpPr>
        <p:spPr>
          <a:xfrm>
            <a:off x="199231" y="1679764"/>
            <a:ext cx="960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Here’s another simple and familiar example, called the dictionary problem. Let A be a fixed sorted array with n numbers. Suppose we want to determine, given a number x, the position of x in the array A, if any.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13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Decision tree for the dictionary problem..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DF92E-979C-8D47-9400-9099A760E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4" y="1281652"/>
            <a:ext cx="10121900" cy="160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86E089-6FEA-C64E-B821-AF3D376CC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7" y="4636294"/>
            <a:ext cx="101092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The model is crucial..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74CFC5-EFE5-5945-B6AF-80D10569F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11" y="1435894"/>
            <a:ext cx="2717800" cy="44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D5B2F-E053-5948-B683-F94CC4B99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43" y="2046767"/>
            <a:ext cx="10071100" cy="63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BDFEDA-0C47-E54A-87D0-7D9AF14ABE59}"/>
              </a:ext>
            </a:extLst>
          </p:cNvPr>
          <p:cNvSpPr txBox="1"/>
          <p:nvPr/>
        </p:nvSpPr>
        <p:spPr>
          <a:xfrm>
            <a:off x="241540" y="3433313"/>
            <a:ext cx="917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No, it isn’t. The reason is that hashing involves a query with more than a constant number of outcomes, specifically ‘What is the hash value of x?’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13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Sorting lower bound in the decision tree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F96645-445A-A541-9EEB-982DF8B55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294"/>
            <a:ext cx="10096500" cy="850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882FF7-B753-8046-8A4A-F6BD36BD0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61514"/>
            <a:ext cx="10152063" cy="1873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3BB0A2-F66F-5049-A035-F1A42363B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5156994"/>
            <a:ext cx="91948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6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Sorting lower bound in the decision tree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F96645-445A-A541-9EEB-982DF8B55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8294"/>
            <a:ext cx="10096500" cy="850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882FF7-B753-8046-8A4A-F6BD36BD0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61514"/>
            <a:ext cx="10152063" cy="1873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3BB0A2-F66F-5049-A035-F1A42363B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5156994"/>
            <a:ext cx="91948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0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Finding the maximum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5A6F4E-6F50-5545-BBCA-77182CA67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7531"/>
            <a:ext cx="10045700" cy="80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36CCCF-5130-134E-B3AB-73C910189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4094"/>
            <a:ext cx="9182100" cy="393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54E711-C30F-3C4F-B3EF-2771884E5405}"/>
              </a:ext>
            </a:extLst>
          </p:cNvPr>
          <p:cNvSpPr txBox="1"/>
          <p:nvPr/>
        </p:nvSpPr>
        <p:spPr>
          <a:xfrm>
            <a:off x="276045" y="3140015"/>
            <a:ext cx="8906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information-theoretic method gives a lower bound of log n. This bound is tight. Why?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F3F7A9-2813-0C4E-9C27-552F0FB34158}"/>
              </a:ext>
            </a:extLst>
          </p:cNvPr>
          <p:cNvSpPr/>
          <p:nvPr/>
        </p:nvSpPr>
        <p:spPr>
          <a:xfrm>
            <a:off x="217307" y="4179094"/>
            <a:ext cx="9448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We can locate the maximum element by asking only log n ‘unreasonable’ questions like “Is the index of the maximum element odd?”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287EAE-8557-3C4A-9B99-8E9221949573}"/>
              </a:ext>
            </a:extLst>
          </p:cNvPr>
          <p:cNvSpPr/>
          <p:nvPr/>
        </p:nvSpPr>
        <p:spPr>
          <a:xfrm>
            <a:off x="199231" y="5287864"/>
            <a:ext cx="99528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We need to consider a more reasonable model of computation, by restricting the kinds of questions the algorithm is allowed to ask. We will consider the </a:t>
            </a:r>
            <a:r>
              <a:rPr lang="en-SG" b="1" dirty="0"/>
              <a:t>comparison tree model</a:t>
            </a:r>
            <a:r>
              <a:rPr lang="en-SG" dirty="0"/>
              <a:t>, where every query must have the form “Is xi &gt; x j?”.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89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Finding the maximum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5A6F4E-6F50-5545-BBCA-77182CA67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7531"/>
            <a:ext cx="10045700" cy="80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36CCCF-5130-134E-B3AB-73C910189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4094"/>
            <a:ext cx="9182100" cy="393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54E711-C30F-3C4F-B3EF-2771884E5405}"/>
              </a:ext>
            </a:extLst>
          </p:cNvPr>
          <p:cNvSpPr txBox="1"/>
          <p:nvPr/>
        </p:nvSpPr>
        <p:spPr>
          <a:xfrm>
            <a:off x="276045" y="3140015"/>
            <a:ext cx="8906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information-theoretic method gives a lower bound of log n. This bound is tight. Why?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F3F7A9-2813-0C4E-9C27-552F0FB34158}"/>
              </a:ext>
            </a:extLst>
          </p:cNvPr>
          <p:cNvSpPr/>
          <p:nvPr/>
        </p:nvSpPr>
        <p:spPr>
          <a:xfrm>
            <a:off x="217307" y="4179094"/>
            <a:ext cx="9448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We can locate the maximum element by asking only log n ‘unreasonable’ questions like “Is the index of the maximum element odd?”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287EAE-8557-3C4A-9B99-8E9221949573}"/>
              </a:ext>
            </a:extLst>
          </p:cNvPr>
          <p:cNvSpPr/>
          <p:nvPr/>
        </p:nvSpPr>
        <p:spPr>
          <a:xfrm>
            <a:off x="199231" y="5287864"/>
            <a:ext cx="99528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We need to consider a more reasonable model of computation, by restricting the kinds of questions the algorithm is allowed to ask. We will consider the </a:t>
            </a:r>
            <a:r>
              <a:rPr lang="en-SG" b="1" dirty="0"/>
              <a:t>comparison tree model</a:t>
            </a:r>
            <a:r>
              <a:rPr lang="en-SG" dirty="0"/>
              <a:t>, where every query must have the form “Is xi &gt; x j?”.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82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We will use the adversary argument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B4B75-2EDA-2F4D-A27E-E508A952B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494"/>
            <a:ext cx="10152063" cy="2503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5EB4E8-E032-9347-AFF1-77020794AA1B}"/>
              </a:ext>
            </a:extLst>
          </p:cNvPr>
          <p:cNvSpPr txBox="1"/>
          <p:nvPr/>
        </p:nvSpPr>
        <p:spPr>
          <a:xfrm>
            <a:off x="36768" y="4331494"/>
            <a:ext cx="10152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For the maximum problem, whenever the adversary reveals that x</a:t>
            </a:r>
            <a:r>
              <a:rPr lang="en-SG" baseline="-25000" dirty="0"/>
              <a:t>i</a:t>
            </a:r>
            <a:r>
              <a:rPr lang="en-SG" dirty="0"/>
              <a:t> &lt; </a:t>
            </a:r>
            <a:r>
              <a:rPr lang="en-SG" dirty="0" err="1"/>
              <a:t>x</a:t>
            </a:r>
            <a:r>
              <a:rPr lang="en-SG" baseline="-25000" dirty="0" err="1"/>
              <a:t>j</a:t>
            </a:r>
            <a:r>
              <a:rPr lang="en-SG" baseline="-25000" dirty="0"/>
              <a:t> </a:t>
            </a:r>
            <a:r>
              <a:rPr lang="en-SG" dirty="0"/>
              <a:t>, he marks x</a:t>
            </a:r>
            <a:r>
              <a:rPr lang="en-SG" baseline="-25000" dirty="0"/>
              <a:t>i</a:t>
            </a:r>
            <a:r>
              <a:rPr lang="en-SG" dirty="0"/>
              <a:t> as an item that the algorithm knows (or should know) is not the maximum element. If there are less than t comparisons, then the algorithm knows that t elements are not maximum. Any other element can be the maximum.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732A4-A065-0D4E-A832-5EBBB83DFDD2}"/>
              </a:ext>
            </a:extLst>
          </p:cNvPr>
          <p:cNvSpPr txBox="1"/>
          <p:nvPr/>
        </p:nvSpPr>
        <p:spPr>
          <a:xfrm>
            <a:off x="36768" y="6428249"/>
            <a:ext cx="9839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Thus, the algorithm is correct on all inputs if and only if t is at least n-1.</a:t>
            </a:r>
          </a:p>
        </p:txBody>
      </p:sp>
    </p:spTree>
    <p:extLst>
      <p:ext uri="{BB962C8B-B14F-4D97-AF65-F5344CB8AC3E}">
        <p14:creationId xmlns:p14="http://schemas.microsoft.com/office/powerpoint/2010/main" val="126309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The adversary argument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FC8D0-47ED-7A4C-A638-7D4283013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3" y="1512094"/>
            <a:ext cx="10152063" cy="18976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6C98BF-ADD7-FB43-A0E3-17EF675FE753}"/>
              </a:ext>
            </a:extLst>
          </p:cNvPr>
          <p:cNvSpPr txBox="1"/>
          <p:nvPr/>
        </p:nvSpPr>
        <p:spPr>
          <a:xfrm>
            <a:off x="500332" y="5451894"/>
            <a:ext cx="9223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might want to look at the adversary arguments chapter from </a:t>
            </a:r>
            <a:r>
              <a:rPr lang="en-US"/>
              <a:t>Jeff Erickson’s </a:t>
            </a:r>
            <a:r>
              <a:rPr lang="en-US" dirty="0"/>
              <a:t>notes for other examples. </a:t>
            </a:r>
          </a:p>
        </p:txBody>
      </p:sp>
    </p:spTree>
    <p:extLst>
      <p:ext uri="{BB962C8B-B14F-4D97-AF65-F5344CB8AC3E}">
        <p14:creationId xmlns:p14="http://schemas.microsoft.com/office/powerpoint/2010/main" val="53971220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12790</TotalTime>
  <Words>664</Words>
  <Application>Microsoft Macintosh PowerPoint</Application>
  <PresentationFormat>Custom</PresentationFormat>
  <Paragraphs>69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Times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PowerPC</dc:creator>
  <cp:lastModifiedBy>Microsoft Office User</cp:lastModifiedBy>
  <cp:revision>275</cp:revision>
  <cp:lastPrinted>2019-08-10T08:34:39Z</cp:lastPrinted>
  <dcterms:created xsi:type="dcterms:W3CDTF">2001-10-04T11:39:11Z</dcterms:created>
  <dcterms:modified xsi:type="dcterms:W3CDTF">2019-09-29T03:18:38Z</dcterms:modified>
</cp:coreProperties>
</file>