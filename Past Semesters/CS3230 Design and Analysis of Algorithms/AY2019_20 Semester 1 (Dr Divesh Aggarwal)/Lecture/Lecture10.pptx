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490" r:id="rId2"/>
    <p:sldId id="520" r:id="rId3"/>
    <p:sldId id="554" r:id="rId4"/>
    <p:sldId id="521" r:id="rId5"/>
    <p:sldId id="529" r:id="rId6"/>
    <p:sldId id="530" r:id="rId7"/>
    <p:sldId id="531" r:id="rId8"/>
    <p:sldId id="532" r:id="rId9"/>
    <p:sldId id="533" r:id="rId10"/>
    <p:sldId id="535" r:id="rId11"/>
    <p:sldId id="536" r:id="rId12"/>
    <p:sldId id="537" r:id="rId13"/>
    <p:sldId id="538" r:id="rId14"/>
    <p:sldId id="539" r:id="rId15"/>
    <p:sldId id="540" r:id="rId16"/>
    <p:sldId id="541" r:id="rId17"/>
    <p:sldId id="542" r:id="rId18"/>
    <p:sldId id="543" r:id="rId19"/>
    <p:sldId id="544" r:id="rId20"/>
    <p:sldId id="545" r:id="rId21"/>
    <p:sldId id="546" r:id="rId22"/>
    <p:sldId id="548" r:id="rId23"/>
    <p:sldId id="549" r:id="rId24"/>
    <p:sldId id="550" r:id="rId25"/>
    <p:sldId id="551" r:id="rId26"/>
    <p:sldId id="552" r:id="rId27"/>
    <p:sldId id="553" r:id="rId28"/>
  </p:sldIdLst>
  <p:sldSz cx="10152063" cy="7596188"/>
  <p:notesSz cx="7596188" cy="101520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E55D02"/>
    <a:srgbClr val="DE5A02"/>
    <a:srgbClr val="C14E02"/>
    <a:srgbClr val="003399"/>
    <a:srgbClr val="873701"/>
    <a:srgbClr val="FF0000"/>
    <a:srgbClr val="969696"/>
    <a:srgbClr val="81ABFF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 autoAdjust="0"/>
    <p:restoredTop sz="91821" autoAdjust="0"/>
  </p:normalViewPr>
  <p:slideViewPr>
    <p:cSldViewPr>
      <p:cViewPr varScale="1">
        <p:scale>
          <a:sx n="74" d="100"/>
          <a:sy n="74" d="100"/>
        </p:scale>
        <p:origin x="184" y="616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302125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302125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28AF44-D823-4724-A853-1093A72A094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302125" y="0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62000"/>
            <a:ext cx="5086350" cy="380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0413" y="4822825"/>
            <a:ext cx="6076950" cy="456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302125" y="9642475"/>
            <a:ext cx="32924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4901CC-E834-4EBA-8890-E59F33DE9E1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EE9ADB-2485-4A93-AC68-657D518DF81C}" type="slidenum">
              <a:rPr lang="en-US"/>
              <a:pPr/>
              <a:t>1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361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10"/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Rectangle 11"/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8205" name="Picture 13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DAFAA84-93FD-4C2C-AE46-F7D42BEF3958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8" y="4881563"/>
            <a:ext cx="8629650" cy="1508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3219450"/>
            <a:ext cx="8629650" cy="16621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797668-4770-4979-B1D4-D6D2511F0B65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817688"/>
            <a:ext cx="4237037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5" y="1817688"/>
            <a:ext cx="4238625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D269CF-64BA-444E-9F2D-69BD9F60489F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36063" cy="12652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0213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08238"/>
            <a:ext cx="4484688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7788" y="1700213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7788" y="2408238"/>
            <a:ext cx="4486275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B54B7F-CFD7-42C9-95D8-A751AB99534C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B2659F-1AD7-4F14-81C4-ADEDB1B20730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B3CE18-A588-438A-818D-D402E37F5853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0100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3213"/>
            <a:ext cx="5675313" cy="6481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89088"/>
            <a:ext cx="3340100" cy="51958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E5FF68-5D0A-4A29-8164-F5FA0A65DE11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8125"/>
            <a:ext cx="6091237" cy="6270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9450"/>
            <a:ext cx="6091237" cy="45577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5188"/>
            <a:ext cx="6091237" cy="8921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42643D-99CE-49A6-B68E-51ECE14F37DF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77693E4-C871-4A11-9A28-7FDAD6AD934A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322263"/>
            <a:ext cx="2155825" cy="6611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22263"/>
            <a:ext cx="6319837" cy="6611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97CBC53-0468-4F6C-80ED-218DC62F935B}" type="slidenum">
              <a:rPr lang="en-GB"/>
              <a:pPr/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322263"/>
            <a:ext cx="7237412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17688"/>
            <a:ext cx="8628062" cy="511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defTabSz="1014413">
              <a:defRPr sz="1000">
                <a:solidFill>
                  <a:srgbClr val="003399"/>
                </a:solidFill>
              </a:defRPr>
            </a:lvl1pPr>
          </a:lstStyle>
          <a:p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defTabSz="1014413">
              <a:defRPr sz="1000">
                <a:solidFill>
                  <a:srgbClr val="003399"/>
                </a:solidFill>
              </a:defRPr>
            </a:lvl1pPr>
          </a:lstStyle>
          <a:p>
            <a:fld id="{F354BF72-ACA3-44A4-878A-614A75F1CF45}" type="slidenum">
              <a:rPr lang="en-GB"/>
              <a:pPr/>
              <a:t>‹#›</a:t>
            </a:fld>
            <a:endParaRPr lang="en-GB" sz="1600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0" y="7319963"/>
            <a:ext cx="10152063" cy="28892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8229600" y="431800"/>
            <a:ext cx="1612900" cy="78898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+mj-lt"/>
          <a:ea typeface="+mj-ea"/>
          <a:cs typeface="+mj-cs"/>
        </a:defRPr>
      </a:lvl1pPr>
      <a:lvl2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2pPr>
      <a:lvl3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3pPr>
      <a:lvl4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4pPr>
      <a:lvl5pPr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 b="1">
          <a:solidFill>
            <a:srgbClr val="FF6600"/>
          </a:solidFill>
          <a:latin typeface="Arial" charset="0"/>
        </a:defRPr>
      </a:lvl9pPr>
    </p:titleStyle>
    <p:bodyStyle>
      <a:lvl1pPr algn="l" defTabSz="1014413" rtl="0" fontAlgn="base">
        <a:spcBef>
          <a:spcPct val="20000"/>
        </a:spcBef>
        <a:spcAft>
          <a:spcPct val="0"/>
        </a:spcAft>
        <a:defRPr sz="2500" b="1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fontAlgn="base">
        <a:spcBef>
          <a:spcPct val="20000"/>
        </a:spcBef>
        <a:spcAft>
          <a:spcPct val="0"/>
        </a:spcAft>
        <a:defRPr sz="2600">
          <a:solidFill>
            <a:srgbClr val="003399"/>
          </a:solidFill>
          <a:latin typeface="+mn-lt"/>
        </a:defRPr>
      </a:lvl2pPr>
      <a:lvl3pPr marL="755650" algn="l" defTabSz="1014413" rtl="0" fontAlgn="base">
        <a:spcBef>
          <a:spcPct val="20000"/>
        </a:spcBef>
        <a:spcAft>
          <a:spcPct val="0"/>
        </a:spcAft>
        <a:defRPr sz="2200" b="1">
          <a:solidFill>
            <a:srgbClr val="FF6600"/>
          </a:solidFill>
          <a:latin typeface="+mn-lt"/>
        </a:defRPr>
      </a:lvl3pPr>
      <a:lvl4pPr marL="1143000" indent="6350" algn="l" defTabSz="1014413" rtl="0" fontAlgn="base">
        <a:spcBef>
          <a:spcPct val="20000"/>
        </a:spcBef>
        <a:spcAft>
          <a:spcPct val="0"/>
        </a:spcAft>
        <a:defRPr sz="2200" i="1">
          <a:solidFill>
            <a:srgbClr val="003399"/>
          </a:solidFill>
          <a:latin typeface="+mn-lt"/>
        </a:defRPr>
      </a:lvl4pPr>
      <a:lvl5pPr marL="15240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5pPr>
      <a:lvl6pPr marL="19812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6pPr>
      <a:lvl7pPr marL="24384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7pPr>
      <a:lvl8pPr marL="28956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8pPr>
      <a:lvl9pPr marL="33528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endParaRPr lang="en-US" dirty="0"/>
          </a:p>
        </p:txBody>
      </p:sp>
      <p:sp>
        <p:nvSpPr>
          <p:cNvPr id="2066" name="Text Box 18"/>
          <p:cNvSpPr txBox="1">
            <a:spLocks noChangeArrowheads="1"/>
          </p:cNvSpPr>
          <p:nvPr/>
        </p:nvSpPr>
        <p:spPr bwMode="auto">
          <a:xfrm>
            <a:off x="792163" y="1055688"/>
            <a:ext cx="8580437" cy="320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Chapter 10</a:t>
            </a:r>
          </a:p>
          <a:p>
            <a:pPr algn="ctr"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Applications of flows and cuts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sz="3600" i="1" dirty="0">
              <a:solidFill>
                <a:schemeClr val="bg1"/>
              </a:solidFill>
              <a:latin typeface="Arial" charset="0"/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i="1" dirty="0" err="1">
                <a:solidFill>
                  <a:schemeClr val="bg1"/>
                </a:solidFill>
                <a:latin typeface="Arial" charset="0"/>
              </a:rPr>
              <a:t>Divesh</a:t>
            </a:r>
            <a:r>
              <a:rPr lang="en-US" i="1" dirty="0">
                <a:solidFill>
                  <a:schemeClr val="bg1"/>
                </a:solidFill>
                <a:latin typeface="Arial" charset="0"/>
              </a:rPr>
              <a:t> Aggarwal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School of Computing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  <a:latin typeface="Arial" charset="0"/>
              </a:rPr>
              <a:t>Department of Computer Science</a:t>
            </a:r>
            <a:endParaRPr lang="en-GB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5751513"/>
            <a:ext cx="2576513" cy="12588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022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Edge disjoint paths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B41045-C5BA-1B4F-BF6E-0BA96D931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0" y="1271588"/>
            <a:ext cx="10152063" cy="19352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0C8681-A9A8-FC42-BE58-125F36B85931}"/>
              </a:ext>
            </a:extLst>
          </p:cNvPr>
          <p:cNvSpPr/>
          <p:nvPr/>
        </p:nvSpPr>
        <p:spPr>
          <a:xfrm>
            <a:off x="169862" y="3569494"/>
            <a:ext cx="100290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If we give each edge capacity 1, then max flow from s to t is the maximum number of edge disjoint paths from s to t.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976A0E-5A74-7345-8938-E32F1C8CA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77" y="5271188"/>
            <a:ext cx="7194154" cy="1917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54FC39-C8C2-8643-B8D8-EA78A35F6A12}"/>
              </a:ext>
            </a:extLst>
          </p:cNvPr>
          <p:cNvSpPr txBox="1"/>
          <p:nvPr/>
        </p:nvSpPr>
        <p:spPr>
          <a:xfrm>
            <a:off x="161275" y="4532293"/>
            <a:ext cx="9989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the max-flow uses an edge that was created during max-flow execution </a:t>
            </a:r>
          </a:p>
        </p:txBody>
      </p:sp>
    </p:spTree>
    <p:extLst>
      <p:ext uri="{BB962C8B-B14F-4D97-AF65-F5344CB8AC3E}">
        <p14:creationId xmlns:p14="http://schemas.microsoft.com/office/powerpoint/2010/main" val="280646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Edge disjoint paths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DD52ED-32AF-FE44-8874-83808DC08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8894"/>
            <a:ext cx="10152063" cy="191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199231" y="292894"/>
            <a:ext cx="8077200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160" kern="0" dirty="0"/>
              <a:t>For undirected graphs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F5C9FD-3711-0846-B463-76CCB2F94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67" y="2959894"/>
            <a:ext cx="9390561" cy="2057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1A0076A-94CB-D941-9B1C-CFCD1058F9E3}"/>
              </a:ext>
            </a:extLst>
          </p:cNvPr>
          <p:cNvSpPr/>
          <p:nvPr/>
        </p:nvSpPr>
        <p:spPr bwMode="auto">
          <a:xfrm>
            <a:off x="8891168" y="4636294"/>
            <a:ext cx="85616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2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Vertex capacities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A6E45-0E14-8D48-8AC3-2B1A3FBFD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47" y="2185194"/>
            <a:ext cx="9283700" cy="2311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D73A61-A31C-3B44-9372-3496003D5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97" y="5220494"/>
            <a:ext cx="8610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58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From vertex capacities to edge capacities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711E1-365A-6048-ABC2-40F7D22F0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81" y="2064544"/>
            <a:ext cx="93853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2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Vertex disjoint paths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E22B6D-DC31-8646-9629-D832E57F1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31" y="1435894"/>
            <a:ext cx="9372600" cy="1092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1CA782-0CB5-D74E-BFCF-47EB01082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56" y="2959894"/>
            <a:ext cx="92583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80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Bipartite matching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86057F-4111-7F4C-9141-40AE9DFE7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13367"/>
            <a:ext cx="10152063" cy="156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An application of bipartite matching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39F68C-B446-7546-9B37-7F88FC320527}"/>
              </a:ext>
            </a:extLst>
          </p:cNvPr>
          <p:cNvSpPr/>
          <p:nvPr/>
        </p:nvSpPr>
        <p:spPr>
          <a:xfrm>
            <a:off x="414277" y="1316158"/>
            <a:ext cx="972423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For example, suppose we have a set of doctors who are looking for jobs, and a set of hospitals who are looking for doctors. </a:t>
            </a:r>
          </a:p>
          <a:p>
            <a:endParaRPr lang="en-S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Each doctor lists all hospitals where they are willing to work</a:t>
            </a:r>
          </a:p>
          <a:p>
            <a:endParaRPr lang="en-S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Each hospital lists all doctors they are willing to hire.</a:t>
            </a:r>
          </a:p>
          <a:p>
            <a:endParaRPr lang="en-S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Our task is to find the </a:t>
            </a:r>
            <a:r>
              <a:rPr lang="en-SG" b="1" dirty="0">
                <a:solidFill>
                  <a:srgbClr val="FF0000"/>
                </a:solidFill>
              </a:rPr>
              <a:t>largest subset of doctor-hospital hires </a:t>
            </a:r>
            <a:r>
              <a:rPr lang="en-SG" dirty="0"/>
              <a:t>that everyone is willing to accept.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This problem is equivalent to finding a </a:t>
            </a:r>
            <a:r>
              <a:rPr lang="en-SG" b="1" dirty="0">
                <a:solidFill>
                  <a:srgbClr val="FF0000"/>
                </a:solidFill>
              </a:rPr>
              <a:t>maximum matching </a:t>
            </a:r>
            <a:r>
              <a:rPr lang="en-SG" dirty="0"/>
              <a:t>in a </a:t>
            </a:r>
            <a:r>
              <a:rPr lang="en-SG" b="1" dirty="0">
                <a:solidFill>
                  <a:srgbClr val="FF0000"/>
                </a:solidFill>
              </a:rPr>
              <a:t>bipartite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There is an edge between a doctor and a hospital if and only if each find the other acceptable.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140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Solution via max-flow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06AE92-4DBB-D340-A94D-9734743B2427}"/>
              </a:ext>
            </a:extLst>
          </p:cNvPr>
          <p:cNvSpPr/>
          <p:nvPr/>
        </p:nvSpPr>
        <p:spPr>
          <a:xfrm>
            <a:off x="504031" y="1248584"/>
            <a:ext cx="8915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We can solve this problem by reducing it to a maximum flow problem, as follows.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0A7F90-DC8C-4545-809B-2F3580761602}"/>
                  </a:ext>
                </a:extLst>
              </p:cNvPr>
              <p:cNvSpPr/>
              <p:nvPr/>
            </p:nvSpPr>
            <p:spPr>
              <a:xfrm>
                <a:off x="504031" y="2239184"/>
                <a:ext cx="929640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SG" dirty="0"/>
                  <a:t>Let G be the given bipartite graph with vertex set L </a:t>
                </a: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SG" dirty="0"/>
                  <a:t> R, such that every edge joins a vertex in L to a vertex in R.</a:t>
                </a:r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0A7F90-DC8C-4545-809B-2F35807616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31" y="2239184"/>
                <a:ext cx="9296400" cy="830997"/>
              </a:xfrm>
              <a:prstGeom prst="rect">
                <a:avLst/>
              </a:prstGeom>
              <a:blipFill>
                <a:blip r:embed="rId2"/>
                <a:stretch>
                  <a:fillRect l="-955" t="-447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8E08C29-4836-D94D-BB4F-B3C792E06E5E}"/>
              </a:ext>
            </a:extLst>
          </p:cNvPr>
          <p:cNvSpPr/>
          <p:nvPr/>
        </p:nvSpPr>
        <p:spPr>
          <a:xfrm>
            <a:off x="351631" y="3566468"/>
            <a:ext cx="71641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We create a new directed graph </a:t>
            </a:r>
            <a:r>
              <a:rPr lang="en-SG" b="1" dirty="0"/>
              <a:t>G’ </a:t>
            </a:r>
            <a:r>
              <a:rPr lang="en-SG" dirty="0"/>
              <a:t>by: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8CD64A-1FE5-B846-B786-794D9A36D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5" y="4784860"/>
            <a:ext cx="10152063" cy="113659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0AEB0B-B7E5-7348-81CB-3BD990B45E6F}"/>
              </a:ext>
            </a:extLst>
          </p:cNvPr>
          <p:cNvSpPr txBox="1"/>
          <p:nvPr/>
        </p:nvSpPr>
        <p:spPr>
          <a:xfrm>
            <a:off x="310551" y="6538823"/>
            <a:ext cx="9228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Maximum-flow in G’ gives the maximum matching in the original graph!</a:t>
            </a:r>
          </a:p>
        </p:txBody>
      </p:sp>
    </p:spTree>
    <p:extLst>
      <p:ext uri="{BB962C8B-B14F-4D97-AF65-F5344CB8AC3E}">
        <p14:creationId xmlns:p14="http://schemas.microsoft.com/office/powerpoint/2010/main" val="199124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Solution via max-flow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DEB7FD-7A06-B148-B448-D3C9DE18A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6271"/>
            <a:ext cx="10152063" cy="346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42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How Ford—Fulkerson works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89D403-3A94-0342-85E3-0F3B1C8BC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57" y="1282538"/>
            <a:ext cx="10152063" cy="631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40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Tuple-selection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EABCFA-7ECA-3A46-9FAA-5D6E90250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494"/>
            <a:ext cx="7340600" cy="40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78F087-48E9-7A47-B2EF-5D03F75DD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" y="1854994"/>
            <a:ext cx="8039100" cy="41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8966D7-75CD-7B4F-AB14-EB27A62DE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939" y="1886744"/>
            <a:ext cx="1549400" cy="355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351014-F809-8244-9F7C-63CC4BF373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4079"/>
            <a:ext cx="10152063" cy="20480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854EB6-9A53-CC40-83C4-B59036C48A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18827"/>
            <a:ext cx="10152063" cy="166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0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Modeling as a max-flow problem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C2F755-11DC-2D4A-9DDF-4E44E7C93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81" y="2108994"/>
            <a:ext cx="88011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36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Modeling as a max-flow problem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B8E706-383B-AE4C-9434-1E7102E4B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43" y="1305583"/>
            <a:ext cx="10152063" cy="1152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4A225F-2C08-E04E-9447-3664169D8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98369"/>
            <a:ext cx="10152063" cy="15994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42BA04-78D4-4241-9A89-9FC22411D7B8}"/>
              </a:ext>
            </a:extLst>
          </p:cNvPr>
          <p:cNvSpPr txBox="1"/>
          <p:nvPr/>
        </p:nvSpPr>
        <p:spPr>
          <a:xfrm>
            <a:off x="252015" y="5126303"/>
            <a:ext cx="9319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Max-flow on the graph G gives a solution of the tuple selection </a:t>
            </a:r>
            <a:r>
              <a:rPr lang="en-US" dirty="0" err="1"/>
              <a:t>problm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4124A-3385-BB41-B219-44F7012BF32B}"/>
              </a:ext>
            </a:extLst>
          </p:cNvPr>
          <p:cNvSpPr txBox="1"/>
          <p:nvPr/>
        </p:nvSpPr>
        <p:spPr>
          <a:xfrm flipH="1">
            <a:off x="270090" y="5929411"/>
            <a:ext cx="9454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Disclaimer: Note that this algorithm finds the largest </a:t>
            </a:r>
            <a:r>
              <a:rPr lang="en-US" b="1" dirty="0">
                <a:solidFill>
                  <a:srgbClr val="FF0000"/>
                </a:solidFill>
              </a:rPr>
              <a:t>multiset</a:t>
            </a:r>
            <a:r>
              <a:rPr lang="en-US" dirty="0"/>
              <a:t> of d-tuples, i.e., same tuple can appear more than once in the solution.</a:t>
            </a:r>
          </a:p>
        </p:txBody>
      </p:sp>
    </p:spTree>
    <p:extLst>
      <p:ext uri="{BB962C8B-B14F-4D97-AF65-F5344CB8AC3E}">
        <p14:creationId xmlns:p14="http://schemas.microsoft.com/office/powerpoint/2010/main" val="77593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Exam scheduling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0EDBD1-0FC0-4A46-8D3E-A46D72E7D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5" y="1440282"/>
            <a:ext cx="10152063" cy="29871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4E7C08-C765-DD4E-A20F-0127F1BF2393}"/>
              </a:ext>
            </a:extLst>
          </p:cNvPr>
          <p:cNvSpPr txBox="1"/>
          <p:nvPr/>
        </p:nvSpPr>
        <p:spPr>
          <a:xfrm flipH="1">
            <a:off x="36767" y="929787"/>
            <a:ext cx="3867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A0B242-F2EF-1440-9A21-051458AA15FE}"/>
              </a:ext>
            </a:extLst>
          </p:cNvPr>
          <p:cNvSpPr txBox="1"/>
          <p:nvPr/>
        </p:nvSpPr>
        <p:spPr>
          <a:xfrm>
            <a:off x="104961" y="4497599"/>
            <a:ext cx="4585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Constraints: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5B0ED9-F05C-E249-BD3F-1FB3B8E30CB6}"/>
              </a:ext>
            </a:extLst>
          </p:cNvPr>
          <p:cNvSpPr txBox="1"/>
          <p:nvPr/>
        </p:nvSpPr>
        <p:spPr>
          <a:xfrm>
            <a:off x="104961" y="5067939"/>
            <a:ext cx="96752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No proctor is allowed oversee more than 5 exams total.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Each proctor can oversee at most one exam at a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At most one class’s final exam can be scheduled in each room during each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 time slot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81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Exam scheduling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351E75-D227-DA4A-B11D-FA2DA3959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5" y="1054894"/>
            <a:ext cx="10152063" cy="4338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0C5C84-604C-8049-A717-812D0C9B0D0D}"/>
              </a:ext>
            </a:extLst>
          </p:cNvPr>
          <p:cNvSpPr txBox="1"/>
          <p:nvPr/>
        </p:nvSpPr>
        <p:spPr>
          <a:xfrm>
            <a:off x="914400" y="6245525"/>
            <a:ext cx="7438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O(VE) = O(n</a:t>
            </a:r>
            <a:r>
              <a:rPr lang="en-US" baseline="30000" dirty="0"/>
              <a:t>3</a:t>
            </a:r>
            <a:r>
              <a:rPr lang="en-US" dirty="0"/>
              <a:t>) time algorithm via max-flow</a:t>
            </a:r>
          </a:p>
        </p:txBody>
      </p:sp>
    </p:spTree>
    <p:extLst>
      <p:ext uri="{BB962C8B-B14F-4D97-AF65-F5344CB8AC3E}">
        <p14:creationId xmlns:p14="http://schemas.microsoft.com/office/powerpoint/2010/main" val="335855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Disjoint path cover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18D4D7-E9F2-F44E-9FE6-7A7E04E43B80}"/>
              </a:ext>
            </a:extLst>
          </p:cNvPr>
          <p:cNvSpPr/>
          <p:nvPr/>
        </p:nvSpPr>
        <p:spPr>
          <a:xfrm>
            <a:off x="251401" y="1283494"/>
            <a:ext cx="95490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dirty="0"/>
              <a:t>A </a:t>
            </a:r>
            <a:r>
              <a:rPr lang="en-SG" b="1" dirty="0">
                <a:solidFill>
                  <a:srgbClr val="FF0000"/>
                </a:solidFill>
              </a:rPr>
              <a:t>path cover </a:t>
            </a:r>
            <a:r>
              <a:rPr lang="en-SG" dirty="0"/>
              <a:t>of a directed graph G is a collection of directed paths in G such that every vertex of G lies on at least one path. A </a:t>
            </a:r>
            <a:r>
              <a:rPr lang="en-SG" b="1" dirty="0">
                <a:solidFill>
                  <a:srgbClr val="FF0000"/>
                </a:solidFill>
              </a:rPr>
              <a:t>disjoint-path cover </a:t>
            </a:r>
            <a:r>
              <a:rPr lang="en-SG" dirty="0"/>
              <a:t>of G is a path cover such that every vertex of G lies on exactly one path.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A6313-8EAA-C14B-B19B-E47A9A893396}"/>
              </a:ext>
            </a:extLst>
          </p:cNvPr>
          <p:cNvSpPr txBox="1"/>
          <p:nvPr/>
        </p:nvSpPr>
        <p:spPr>
          <a:xfrm>
            <a:off x="251401" y="3188494"/>
            <a:ext cx="9320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problem is hard in general. We will see an algorithm based on </a:t>
            </a:r>
            <a:r>
              <a:rPr lang="en-US" b="1" dirty="0">
                <a:solidFill>
                  <a:srgbClr val="FF0000"/>
                </a:solidFill>
              </a:rPr>
              <a:t>directed acyclic graphs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61272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Disjoint path cover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B2D136-33D4-7748-AD48-D6DA9CBF0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6" y="1131094"/>
            <a:ext cx="10152063" cy="1733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56EFDC-D1A7-1A42-91AD-FE227BE72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16" y="3186577"/>
            <a:ext cx="86741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40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Disjoint path cover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56EFDC-D1A7-1A42-91AD-FE227BE72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16" y="3186577"/>
            <a:ext cx="8674100" cy="3581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404A3E-69EE-9140-8AD1-68C21D67A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6" y="1313282"/>
            <a:ext cx="10152063" cy="124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40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Disjoint path cover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56EFDC-D1A7-1A42-91AD-FE227BE72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16" y="3186577"/>
            <a:ext cx="8674100" cy="3581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17C2F7-7854-804F-9D66-D7419170B128}"/>
              </a:ext>
            </a:extLst>
          </p:cNvPr>
          <p:cNvSpPr txBox="1"/>
          <p:nvPr/>
        </p:nvSpPr>
        <p:spPr>
          <a:xfrm>
            <a:off x="0" y="1283494"/>
            <a:ext cx="98004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Claim</a:t>
            </a:r>
            <a:r>
              <a:rPr lang="en-US" dirty="0"/>
              <a:t>: G can be covered by k disjoint paths if and only if G’ has a matching of size V – k.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EC3D3-AFFA-CE40-A891-DC409EF8ED12}"/>
              </a:ext>
            </a:extLst>
          </p:cNvPr>
          <p:cNvSpPr txBox="1"/>
          <p:nvPr/>
        </p:nvSpPr>
        <p:spPr>
          <a:xfrm>
            <a:off x="252015" y="2274094"/>
            <a:ext cx="6078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Proof by picture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2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Baseball Elimination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6071D-A149-824D-9EBC-2BBC751B7510}"/>
              </a:ext>
            </a:extLst>
          </p:cNvPr>
          <p:cNvSpPr txBox="1"/>
          <p:nvPr/>
        </p:nvSpPr>
        <p:spPr>
          <a:xfrm>
            <a:off x="351631" y="1283494"/>
            <a:ext cx="87523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Often, it is easy to spot when a team is eliminated—they can’t win enough games to catch up to the current leader in their division.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C351D8-6D2C-CC46-B4F5-388434012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" y="2502694"/>
            <a:ext cx="9347200" cy="3162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7EB80C-C3A0-654A-BC61-DF0D9BA96891}"/>
              </a:ext>
            </a:extLst>
          </p:cNvPr>
          <p:cNvSpPr txBox="1"/>
          <p:nvPr/>
        </p:nvSpPr>
        <p:spPr>
          <a:xfrm>
            <a:off x="155275" y="6107502"/>
            <a:ext cx="9416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Detroit can reach 76 if they win all their remaining games. So, can they end up being the leader?</a:t>
            </a:r>
          </a:p>
        </p:txBody>
      </p:sp>
    </p:spTree>
    <p:extLst>
      <p:ext uri="{BB962C8B-B14F-4D97-AF65-F5344CB8AC3E}">
        <p14:creationId xmlns:p14="http://schemas.microsoft.com/office/powerpoint/2010/main" val="284228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Modeling as a flow problem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943F81-22E8-F345-95E2-6973575DC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5" y="1284528"/>
            <a:ext cx="10152063" cy="1834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3CC03-B667-FE49-B19D-1F2FC8C52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" y="4364150"/>
            <a:ext cx="10152063" cy="161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6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Modeling as a flow problem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F244B-E676-D149-A823-26534D972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5" y="2502694"/>
            <a:ext cx="10152063" cy="197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01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Modeling as a flow problem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11F065-7ADD-9A49-A7EA-DF3456647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31" y="1664494"/>
            <a:ext cx="7971853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00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Modeling as a flow problem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2766BA-73C7-7041-9F28-FBE62B401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494"/>
            <a:ext cx="10152063" cy="992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D54167-74B0-7A4D-A64C-556588495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31" y="2378294"/>
            <a:ext cx="6905053" cy="46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67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86F895F-8C97-EF4E-B62F-1C2620F954D2}"/>
              </a:ext>
            </a:extLst>
          </p:cNvPr>
          <p:cNvSpPr txBox="1">
            <a:spLocks noChangeArrowheads="1"/>
          </p:cNvSpPr>
          <p:nvPr/>
        </p:nvSpPr>
        <p:spPr>
          <a:xfrm>
            <a:off x="-6365" y="292894"/>
            <a:ext cx="8587596" cy="990600"/>
          </a:xfrm>
          <a:prstGeom prst="rect">
            <a:avLst/>
          </a:prstGeom>
        </p:spPr>
        <p:txBody>
          <a:bodyPr/>
          <a:lstStyle>
            <a:lvl1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2pPr>
            <a:lvl3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3pPr>
            <a:lvl4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4pPr>
            <a:lvl5pPr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5pPr>
            <a:lvl6pPr marL="4572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6pPr>
            <a:lvl7pPr marL="9144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7pPr>
            <a:lvl8pPr marL="13716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8pPr>
            <a:lvl9pPr marL="1828800" algn="l" defTabSz="1014413" rtl="0" fontAlgn="base">
              <a:spcBef>
                <a:spcPct val="0"/>
              </a:spcBef>
              <a:spcAft>
                <a:spcPct val="0"/>
              </a:spcAft>
              <a:defRPr sz="35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kern="0" dirty="0"/>
              <a:t>Time complexity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E50017-AD2C-C047-AA7D-2C94B48C83E3}"/>
              </a:ext>
            </a:extLst>
          </p:cNvPr>
          <p:cNvSpPr/>
          <p:nvPr/>
        </p:nvSpPr>
        <p:spPr bwMode="auto">
          <a:xfrm>
            <a:off x="0" y="4784860"/>
            <a:ext cx="504031" cy="38483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AA860-6482-EA4F-B6C8-EF9A8812D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5" y="1342166"/>
            <a:ext cx="10152063" cy="1128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497CD6-5462-DA45-A7B6-D95F343B2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66" y="4304523"/>
            <a:ext cx="10152063" cy="173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0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16567</TotalTime>
  <Words>561</Words>
  <Application>Microsoft Macintosh PowerPoint</Application>
  <PresentationFormat>Custom</PresentationFormat>
  <Paragraphs>67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Cambria Math</vt:lpstr>
      <vt:lpstr>Times</vt:lpstr>
      <vt:lpstr>Wingdings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PowerPC</dc:creator>
  <cp:lastModifiedBy>Microsoft Office User</cp:lastModifiedBy>
  <cp:revision>336</cp:revision>
  <cp:lastPrinted>2019-08-10T08:34:39Z</cp:lastPrinted>
  <dcterms:created xsi:type="dcterms:W3CDTF">2001-10-04T11:39:11Z</dcterms:created>
  <dcterms:modified xsi:type="dcterms:W3CDTF">2019-10-21T23:52:56Z</dcterms:modified>
</cp:coreProperties>
</file>