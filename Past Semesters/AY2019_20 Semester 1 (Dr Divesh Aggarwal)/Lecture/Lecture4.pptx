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450" r:id="rId3"/>
    <p:sldId id="385" r:id="rId4"/>
    <p:sldId id="429" r:id="rId5"/>
    <p:sldId id="430" r:id="rId6"/>
    <p:sldId id="431" r:id="rId7"/>
    <p:sldId id="432" r:id="rId8"/>
    <p:sldId id="433" r:id="rId9"/>
    <p:sldId id="434" r:id="rId10"/>
    <p:sldId id="435" r:id="rId11"/>
    <p:sldId id="436" r:id="rId12"/>
    <p:sldId id="437" r:id="rId13"/>
    <p:sldId id="438" r:id="rId14"/>
    <p:sldId id="439" r:id="rId15"/>
    <p:sldId id="440" r:id="rId16"/>
    <p:sldId id="441" r:id="rId17"/>
    <p:sldId id="442" r:id="rId18"/>
    <p:sldId id="443" r:id="rId19"/>
    <p:sldId id="444" r:id="rId20"/>
    <p:sldId id="445" r:id="rId21"/>
    <p:sldId id="446" r:id="rId22"/>
    <p:sldId id="447" r:id="rId23"/>
    <p:sldId id="448" r:id="rId24"/>
    <p:sldId id="449" r:id="rId25"/>
  </p:sldIdLst>
  <p:sldSz cx="10152063" cy="7596188"/>
  <p:notesSz cx="7596188" cy="1015206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4E02"/>
    <a:srgbClr val="DE5A02"/>
    <a:srgbClr val="003399"/>
    <a:srgbClr val="873701"/>
    <a:srgbClr val="E55D02"/>
    <a:srgbClr val="FF0000"/>
    <a:srgbClr val="969696"/>
    <a:srgbClr val="81ABFF"/>
    <a:srgbClr val="FFFF66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 autoAdjust="0"/>
    <p:restoredTop sz="91821" autoAdjust="0"/>
  </p:normalViewPr>
  <p:slideViewPr>
    <p:cSldViewPr>
      <p:cViewPr varScale="1">
        <p:scale>
          <a:sx n="92" d="100"/>
          <a:sy n="92" d="100"/>
        </p:scale>
        <p:origin x="808" y="184"/>
      </p:cViewPr>
      <p:guideLst>
        <p:guide orient="horz" pos="1392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302125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302125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728AF44-D823-4724-A853-1093A72A094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302125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62000"/>
            <a:ext cx="5086350" cy="380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0413" y="4822825"/>
            <a:ext cx="6076950" cy="456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302125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4901CC-E834-4EBA-8890-E59F33DE9E1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EE9ADB-2485-4A93-AC68-657D518DF81C}" type="slidenum">
              <a:rPr lang="en-US"/>
              <a:pPr/>
              <a:t>1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" name="Rectangle 10"/>
          <p:cNvSpPr>
            <a:spLocks noChangeArrowheads="1"/>
          </p:cNvSpPr>
          <p:nvPr userDrawn="1"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Rectangle 11"/>
          <p:cNvSpPr>
            <a:spLocks noChangeArrowheads="1"/>
          </p:cNvSpPr>
          <p:nvPr userDrawn="1"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8991600" cy="1752600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8205" name="Picture 1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5757863"/>
            <a:ext cx="2573338" cy="12588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DAFAA84-93FD-4C2C-AE46-F7D42BEF3958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688" y="4881563"/>
            <a:ext cx="8629650" cy="1508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8" y="3219450"/>
            <a:ext cx="8629650" cy="166211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1797668-4770-4979-B1D4-D6D2511F0B65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817688"/>
            <a:ext cx="4237037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0625" y="1817688"/>
            <a:ext cx="4238625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0D269CF-64BA-444E-9F2D-69BD9F60489F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36063" cy="12652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0213"/>
            <a:ext cx="4484688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08238"/>
            <a:ext cx="4484688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7788" y="1700213"/>
            <a:ext cx="4486275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7788" y="2408238"/>
            <a:ext cx="4486275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5B54B7F-CFD7-42C9-95D8-A751AB99534C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B2659F-1AD7-4F14-81C4-ADEDB1B20730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0B3CE18-A588-438A-818D-D402E37F5853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0100" cy="12858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0" y="303213"/>
            <a:ext cx="5675313" cy="64817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89088"/>
            <a:ext cx="3340100" cy="51958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E5FF68-5D0A-4A29-8164-F5FA0A65DE11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138" y="5318125"/>
            <a:ext cx="6091237" cy="6270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9138" y="679450"/>
            <a:ext cx="6091237" cy="45577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9138" y="5945188"/>
            <a:ext cx="6091237" cy="8921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E42643D-99CE-49A6-B68E-51ECE14F37DF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77693E4-C871-4A11-9A28-7FDAD6AD934A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3425" y="322263"/>
            <a:ext cx="2155825" cy="66119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22263"/>
            <a:ext cx="6319837" cy="66119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7CBC53-0468-4F6C-80ED-218DC62F935B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322263"/>
            <a:ext cx="7237412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817688"/>
            <a:ext cx="8628062" cy="511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defTabSz="1014413">
              <a:defRPr sz="1000">
                <a:solidFill>
                  <a:srgbClr val="003399"/>
                </a:solidFill>
              </a:defRPr>
            </a:lvl1pPr>
          </a:lstStyle>
          <a:p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defTabSz="1014413">
              <a:defRPr sz="1000">
                <a:solidFill>
                  <a:srgbClr val="003399"/>
                </a:solidFill>
              </a:defRPr>
            </a:lvl1pPr>
          </a:lstStyle>
          <a:p>
            <a:fld id="{F354BF72-ACA3-44A4-878A-614A75F1CF45}" type="slidenum">
              <a:rPr lang="en-GB"/>
              <a:pPr/>
              <a:t>‹#›</a:t>
            </a:fld>
            <a:endParaRPr lang="en-GB" sz="1600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0" y="7319963"/>
            <a:ext cx="10152063" cy="288925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8229600" y="431800"/>
            <a:ext cx="1612900" cy="788988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+mj-lt"/>
          <a:ea typeface="+mj-ea"/>
          <a:cs typeface="+mj-cs"/>
        </a:defRPr>
      </a:lvl1pPr>
      <a:lvl2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2pPr>
      <a:lvl3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3pPr>
      <a:lvl4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4pPr>
      <a:lvl5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5pPr>
      <a:lvl6pPr marL="4572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6pPr>
      <a:lvl7pPr marL="9144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7pPr>
      <a:lvl8pPr marL="13716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8pPr>
      <a:lvl9pPr marL="18288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9pPr>
    </p:titleStyle>
    <p:bodyStyle>
      <a:lvl1pPr algn="l" defTabSz="1014413" rtl="0" fontAlgn="base">
        <a:spcBef>
          <a:spcPct val="20000"/>
        </a:spcBef>
        <a:spcAft>
          <a:spcPct val="0"/>
        </a:spcAft>
        <a:defRPr sz="2500" b="1">
          <a:solidFill>
            <a:srgbClr val="003399"/>
          </a:solidFill>
          <a:latin typeface="+mn-lt"/>
          <a:ea typeface="+mn-ea"/>
          <a:cs typeface="+mn-cs"/>
        </a:defRPr>
      </a:lvl1pPr>
      <a:lvl2pPr marL="374650" indent="6350" algn="l" defTabSz="1014413" rtl="0" fontAlgn="base">
        <a:spcBef>
          <a:spcPct val="20000"/>
        </a:spcBef>
        <a:spcAft>
          <a:spcPct val="0"/>
        </a:spcAft>
        <a:defRPr sz="2600">
          <a:solidFill>
            <a:srgbClr val="003399"/>
          </a:solidFill>
          <a:latin typeface="+mn-lt"/>
        </a:defRPr>
      </a:lvl2pPr>
      <a:lvl3pPr marL="755650" algn="l" defTabSz="1014413" rtl="0" fontAlgn="base">
        <a:spcBef>
          <a:spcPct val="20000"/>
        </a:spcBef>
        <a:spcAft>
          <a:spcPct val="0"/>
        </a:spcAft>
        <a:defRPr sz="2200" b="1">
          <a:solidFill>
            <a:srgbClr val="FF6600"/>
          </a:solidFill>
          <a:latin typeface="+mn-lt"/>
        </a:defRPr>
      </a:lvl3pPr>
      <a:lvl4pPr marL="1143000" indent="6350" algn="l" defTabSz="1014413" rtl="0" fontAlgn="base">
        <a:spcBef>
          <a:spcPct val="20000"/>
        </a:spcBef>
        <a:spcAft>
          <a:spcPct val="0"/>
        </a:spcAft>
        <a:defRPr sz="2200" i="1">
          <a:solidFill>
            <a:srgbClr val="003399"/>
          </a:solidFill>
          <a:latin typeface="+mn-lt"/>
        </a:defRPr>
      </a:lvl4pPr>
      <a:lvl5pPr marL="15240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5pPr>
      <a:lvl6pPr marL="19812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6pPr>
      <a:lvl7pPr marL="24384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7pPr>
      <a:lvl8pPr marL="28956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8pPr>
      <a:lvl9pPr marL="33528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endParaRPr lang="en-US" dirty="0"/>
          </a:p>
        </p:txBody>
      </p:sp>
      <p:sp>
        <p:nvSpPr>
          <p:cNvPr id="2066" name="Text Box 18"/>
          <p:cNvSpPr txBox="1">
            <a:spLocks noChangeArrowheads="1"/>
          </p:cNvSpPr>
          <p:nvPr/>
        </p:nvSpPr>
        <p:spPr bwMode="auto">
          <a:xfrm>
            <a:off x="792163" y="1055688"/>
            <a:ext cx="8580437" cy="3200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Chapter 4</a:t>
            </a:r>
          </a:p>
          <a:p>
            <a:pPr algn="ctr"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Greedy Algorithms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sz="3600" i="1" dirty="0">
              <a:solidFill>
                <a:schemeClr val="bg1"/>
              </a:solidFill>
              <a:latin typeface="Arial" charset="0"/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i="1" dirty="0" err="1">
                <a:solidFill>
                  <a:schemeClr val="bg1"/>
                </a:solidFill>
                <a:latin typeface="Arial" charset="0"/>
              </a:rPr>
              <a:t>Divesh</a:t>
            </a:r>
            <a:r>
              <a:rPr lang="en-US" i="1" dirty="0">
                <a:solidFill>
                  <a:schemeClr val="bg1"/>
                </a:solidFill>
                <a:latin typeface="Arial" charset="0"/>
              </a:rPr>
              <a:t> Aggarwal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  <a:latin typeface="Arial" charset="0"/>
              </a:rPr>
              <a:t>School of Computing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  <a:latin typeface="Arial" charset="0"/>
              </a:rPr>
              <a:t>Department of Computer Science</a:t>
            </a:r>
            <a:endParaRPr lang="en-GB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068" name="Picture 2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5751513"/>
            <a:ext cx="2576513" cy="12588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Announcements: Midterm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1FB850-60EC-0A48-BA15-73E7005F289D}"/>
              </a:ext>
            </a:extLst>
          </p:cNvPr>
          <p:cNvSpPr txBox="1"/>
          <p:nvPr/>
        </p:nvSpPr>
        <p:spPr>
          <a:xfrm>
            <a:off x="498764" y="1620982"/>
            <a:ext cx="945406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midterm is open book/notes. Electronic devices are not allowed.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midterm will be based on lectures 1 to 4. </a:t>
            </a:r>
            <a:br>
              <a:rPr lang="en-US" sz="2200" dirty="0"/>
            </a:b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You are allowed to use any statement showed in the lecture or the assignments without proof. For any other proof you have read, you must write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If you are asked to write an algorithm</a:t>
            </a:r>
            <a:r>
              <a:rPr lang="en-US" sz="2200"/>
              <a:t>, you </a:t>
            </a:r>
            <a:r>
              <a:rPr lang="en-US" sz="2200" dirty="0"/>
              <a:t>should begin your solution by clearly writing recurrence relations (if there is any) and then clearly explaining your algorithm in words, and only then write the pseudocode if necessary.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Filling up pages will not help. Only write what is needed.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exam is of 3 hours, and there will be 3-4 questions. </a:t>
            </a:r>
          </a:p>
        </p:txBody>
      </p:sp>
    </p:spTree>
    <p:extLst>
      <p:ext uri="{BB962C8B-B14F-4D97-AF65-F5344CB8AC3E}">
        <p14:creationId xmlns:p14="http://schemas.microsoft.com/office/powerpoint/2010/main" val="2508257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Storing files on a tape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391D-F2A0-4B4C-9CF8-78979A7A4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18" y="2121694"/>
            <a:ext cx="9074426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5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Storing files on a tape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222880-EBC2-7746-A64A-C64F633EA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1" y="1283494"/>
            <a:ext cx="9067800" cy="2170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F316EA-3C2E-9B4D-B0B3-A69C3DCDB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07" y="4037840"/>
            <a:ext cx="8687306" cy="4066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B3FD44-6503-9D48-8262-DC78389594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031" y="4506963"/>
            <a:ext cx="4018406" cy="10429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7B50F7-D006-4240-9D93-8BCEF0FB5C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31" y="6084094"/>
            <a:ext cx="8720282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16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Storing files on a tape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DC14C4-4240-E848-B1C7-5F294A55E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1512094"/>
            <a:ext cx="9067800" cy="542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AA4A40-08B9-A841-B180-D078E5C9C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31" y="2731294"/>
            <a:ext cx="9071715" cy="2209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C823A7-0341-824C-9390-9307C3641D8F}"/>
              </a:ext>
            </a:extLst>
          </p:cNvPr>
          <p:cNvSpPr txBox="1"/>
          <p:nvPr/>
        </p:nvSpPr>
        <p:spPr>
          <a:xfrm>
            <a:off x="351631" y="5855494"/>
            <a:ext cx="9029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immediately leads to an O(n log n) time algorithm for the problem</a:t>
            </a:r>
          </a:p>
        </p:txBody>
      </p:sp>
    </p:spTree>
    <p:extLst>
      <p:ext uri="{BB962C8B-B14F-4D97-AF65-F5344CB8AC3E}">
        <p14:creationId xmlns:p14="http://schemas.microsoft.com/office/powerpoint/2010/main" val="224296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Storing files on a tape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53CF13-F7F6-0742-8B68-8C3E9D647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" y="1512094"/>
            <a:ext cx="9173362" cy="2057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DF0A819-BDEE-DF4D-AAF2-2AAD352D99AA}"/>
              </a:ext>
            </a:extLst>
          </p:cNvPr>
          <p:cNvSpPr/>
          <p:nvPr/>
        </p:nvSpPr>
        <p:spPr>
          <a:xfrm>
            <a:off x="13763" y="4560094"/>
            <a:ext cx="99821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/>
              <a:t>We already proved that if all the frequencies are equal, we should sort the files by increasing size. If the </a:t>
            </a:r>
            <a:r>
              <a:rPr lang="en-SG" b="1" dirty="0">
                <a:solidFill>
                  <a:srgbClr val="FF0000"/>
                </a:solidFill>
              </a:rPr>
              <a:t>frequencies</a:t>
            </a:r>
            <a:r>
              <a:rPr lang="en-SG" b="1" dirty="0"/>
              <a:t> </a:t>
            </a:r>
            <a:r>
              <a:rPr lang="en-SG" dirty="0"/>
              <a:t>are all </a:t>
            </a:r>
            <a:r>
              <a:rPr lang="en-SG" b="1" dirty="0">
                <a:solidFill>
                  <a:srgbClr val="FF0000"/>
                </a:solidFill>
              </a:rPr>
              <a:t>different</a:t>
            </a:r>
            <a:r>
              <a:rPr lang="en-SG" b="1" dirty="0"/>
              <a:t> </a:t>
            </a:r>
            <a:r>
              <a:rPr lang="en-SG" dirty="0"/>
              <a:t>but the </a:t>
            </a:r>
            <a:r>
              <a:rPr lang="en-SG" b="1" dirty="0">
                <a:solidFill>
                  <a:srgbClr val="FF0000"/>
                </a:solidFill>
              </a:rPr>
              <a:t>file lengths </a:t>
            </a:r>
            <a:r>
              <a:rPr lang="en-SG" dirty="0"/>
              <a:t>L[</a:t>
            </a:r>
            <a:r>
              <a:rPr lang="en-SG" dirty="0" err="1"/>
              <a:t>i</a:t>
            </a:r>
            <a:r>
              <a:rPr lang="en-SG" dirty="0"/>
              <a:t>] are all</a:t>
            </a:r>
            <a:r>
              <a:rPr lang="en-SG" b="1" dirty="0"/>
              <a:t> </a:t>
            </a:r>
            <a:r>
              <a:rPr lang="en-SG" b="1" dirty="0">
                <a:solidFill>
                  <a:srgbClr val="FF0000"/>
                </a:solidFill>
              </a:rPr>
              <a:t>equal</a:t>
            </a:r>
            <a:r>
              <a:rPr lang="en-SG" dirty="0"/>
              <a:t>, then intuitively, we should </a:t>
            </a:r>
            <a:r>
              <a:rPr lang="en-SG" b="1" dirty="0">
                <a:solidFill>
                  <a:srgbClr val="FF0000"/>
                </a:solidFill>
              </a:rPr>
              <a:t>sort the files by decreasing access frequency</a:t>
            </a:r>
            <a:r>
              <a:rPr lang="en-SG" dirty="0"/>
              <a:t>, with the most-accessed file first. Why?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92B32C-8EDF-464F-9EBC-6B855BF52003}"/>
              </a:ext>
            </a:extLst>
          </p:cNvPr>
          <p:cNvSpPr txBox="1"/>
          <p:nvPr/>
        </p:nvSpPr>
        <p:spPr>
          <a:xfrm>
            <a:off x="483079" y="6780362"/>
            <a:ext cx="8707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for varying file lengths and frequencies?</a:t>
            </a:r>
          </a:p>
        </p:txBody>
      </p:sp>
    </p:spTree>
    <p:extLst>
      <p:ext uri="{BB962C8B-B14F-4D97-AF65-F5344CB8AC3E}">
        <p14:creationId xmlns:p14="http://schemas.microsoft.com/office/powerpoint/2010/main" val="31649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Storing files on a tape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AF7C42-E1D5-4F47-8624-69AC971B4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2094"/>
            <a:ext cx="10052534" cy="1066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43029B-A66F-0741-929C-E5E79A62D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0" y="3036094"/>
            <a:ext cx="9579483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Scheduling classes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AB8733-FC93-704A-B7AF-3253A8C3CBCC}"/>
              </a:ext>
            </a:extLst>
          </p:cNvPr>
          <p:cNvSpPr txBox="1"/>
          <p:nvPr/>
        </p:nvSpPr>
        <p:spPr>
          <a:xfrm>
            <a:off x="199231" y="1759789"/>
            <a:ext cx="995283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/>
              <a:t>Suppose you wish to sign up for as many classes as possible without any overlap!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8CEA141-303E-D243-8417-54F5971D348C}"/>
                  </a:ext>
                </a:extLst>
              </p:cNvPr>
              <p:cNvSpPr/>
              <p:nvPr/>
            </p:nvSpPr>
            <p:spPr>
              <a:xfrm>
                <a:off x="199230" y="2502694"/>
                <a:ext cx="9952831" cy="18620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SG" sz="2300" dirty="0"/>
                  <a:t>More formally, suppose you are given two arrays S[1 .. n] and F[1 .. n] listing the start and finish times of each class; to be concrete, we can assume that </a:t>
                </a:r>
              </a:p>
              <a:p>
                <a:r>
                  <a:rPr lang="en-SG" sz="2300" dirty="0"/>
                  <a:t>0 </a:t>
                </a:r>
                <a14:m>
                  <m:oMath xmlns:m="http://schemas.openxmlformats.org/officeDocument/2006/math">
                    <m:r>
                      <a:rPr lang="en-SG" sz="23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SG" sz="2300" dirty="0"/>
                  <a:t> S[</a:t>
                </a:r>
                <a:r>
                  <a:rPr lang="en-SG" sz="2300" dirty="0" err="1"/>
                  <a:t>i</a:t>
                </a:r>
                <a:r>
                  <a:rPr lang="en-SG" sz="2300" dirty="0"/>
                  <a:t>] &lt; F[</a:t>
                </a:r>
                <a:r>
                  <a:rPr lang="en-SG" sz="2300" dirty="0" err="1"/>
                  <a:t>i</a:t>
                </a:r>
                <a:r>
                  <a:rPr lang="en-SG" sz="2300" dirty="0"/>
                  <a:t>]  </a:t>
                </a:r>
                <a14:m>
                  <m:oMath xmlns:m="http://schemas.openxmlformats.org/officeDocument/2006/math">
                    <m:r>
                      <a:rPr lang="en-SG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SG" sz="2300" dirty="0"/>
                  <a:t> M     for each </a:t>
                </a:r>
                <a:r>
                  <a:rPr lang="en-SG" sz="2300" dirty="0" err="1"/>
                  <a:t>i</a:t>
                </a:r>
                <a:r>
                  <a:rPr lang="en-SG" sz="2300" dirty="0"/>
                  <a:t>, for some value M. Your task is to choose the largest possible subset X of {1, 2, . . . , n} so that for any pair </a:t>
                </a:r>
                <a:r>
                  <a:rPr lang="en-SG" sz="2300" dirty="0" err="1"/>
                  <a:t>i</a:t>
                </a:r>
                <a:r>
                  <a:rPr lang="en-SG" sz="2300" dirty="0"/>
                  <a:t>, j  in  X, either </a:t>
                </a:r>
              </a:p>
              <a:p>
                <a:r>
                  <a:rPr lang="en-SG" sz="2300" dirty="0"/>
                  <a:t>  S[</a:t>
                </a:r>
                <a:r>
                  <a:rPr lang="en-SG" sz="2300" dirty="0" err="1"/>
                  <a:t>i</a:t>
                </a:r>
                <a:r>
                  <a:rPr lang="en-SG" sz="2300" dirty="0"/>
                  <a:t>] &gt; F[ j] or S[ j] &gt; F[</a:t>
                </a:r>
                <a:r>
                  <a:rPr lang="en-SG" sz="2300" dirty="0" err="1"/>
                  <a:t>i</a:t>
                </a:r>
                <a:r>
                  <a:rPr lang="en-SG" sz="2300" dirty="0"/>
                  <a:t>].</a:t>
                </a:r>
                <a:endParaRPr lang="en-US" sz="23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8CEA141-303E-D243-8417-54F5971D34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30" y="2502694"/>
                <a:ext cx="9952831" cy="1862048"/>
              </a:xfrm>
              <a:prstGeom prst="rect">
                <a:avLst/>
              </a:prstGeom>
              <a:blipFill>
                <a:blip r:embed="rId2"/>
                <a:stretch>
                  <a:fillRect l="-893" t="-2027"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0358B7A-BA9C-3D45-83FA-738FCFF4FE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831" y="4661371"/>
            <a:ext cx="6645586" cy="248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9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Scheduling classes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3341AD-A8C8-F347-B1CA-767E933FA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00" y="1435894"/>
            <a:ext cx="9840397" cy="2971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7CAC3D3-1051-BC43-9BFC-4849A6DC488E}"/>
              </a:ext>
            </a:extLst>
          </p:cNvPr>
          <p:cNvSpPr/>
          <p:nvPr/>
        </p:nvSpPr>
        <p:spPr>
          <a:xfrm>
            <a:off x="210119" y="5703094"/>
            <a:ext cx="98124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/>
              <a:t>Evaluating this recursive algorithm from the bottom up gives us a dynamic programming algorithm that runs in O(n</a:t>
            </a:r>
            <a:r>
              <a:rPr lang="en-SG" baseline="30000" dirty="0"/>
              <a:t>2</a:t>
            </a:r>
            <a:r>
              <a:rPr lang="en-SG" dirty="0"/>
              <a:t>) time. We don’t discuss the details because we can come up with a better algorithm for this problem.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144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Scheduling classes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75A681-55B2-EC46-A958-B5202FF06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5" y="2731294"/>
            <a:ext cx="9870392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060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Scheduling classes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948E36-C852-CA48-B9DC-F9CCFBD86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31" y="1664494"/>
            <a:ext cx="8309636" cy="506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80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Scheduling classes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F7308C-7025-034F-AB5B-33BDF46FF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31" y="1512094"/>
            <a:ext cx="9249697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803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Scheduling classes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F1072-1F8D-1341-9BF3-AA5925FB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31" y="2439194"/>
            <a:ext cx="8991600" cy="271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4167C7-7E41-BA4A-94A3-99FDFF010782}"/>
              </a:ext>
            </a:extLst>
          </p:cNvPr>
          <p:cNvSpPr txBox="1"/>
          <p:nvPr/>
        </p:nvSpPr>
        <p:spPr>
          <a:xfrm>
            <a:off x="1494631" y="5860689"/>
            <a:ext cx="716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correctness of the algorithm follows by induction. </a:t>
            </a:r>
          </a:p>
        </p:txBody>
      </p:sp>
    </p:spTree>
    <p:extLst>
      <p:ext uri="{BB962C8B-B14F-4D97-AF65-F5344CB8AC3E}">
        <p14:creationId xmlns:p14="http://schemas.microsoft.com/office/powerpoint/2010/main" val="71954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Huffman Codes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E0CFD9-2A1E-2143-BBB8-290C71CA2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168" y="1283494"/>
            <a:ext cx="10162741" cy="23553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593604-3562-7F49-909E-7CE089E0AF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288" y="4788694"/>
            <a:ext cx="10097943" cy="226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Huffman Codes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C29CC4-3FFF-E445-8DC2-41B12E1E3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" y="1588294"/>
            <a:ext cx="9815429" cy="273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9B83F-9666-CD41-AF71-2AC2B3FF8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94" y="5703094"/>
            <a:ext cx="9437077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08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Huffman Codes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BB3447-FDC4-3C48-AD91-A104E9E40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56" y="1512094"/>
            <a:ext cx="9679186" cy="1803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61CB1D-D71F-2843-A73B-A993AFFE6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4407694"/>
            <a:ext cx="9642763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1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Huffman Codes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3DC897-0CEB-FA4D-93AF-74BE0BA2A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" y="1435894"/>
            <a:ext cx="9528007" cy="1295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2D45C0-9669-B04C-BFA3-17B49A6C07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44" y="3074194"/>
            <a:ext cx="9585492" cy="1638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3232B6-3149-0042-BB08-F649B625F3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0" y="4864894"/>
            <a:ext cx="9781006" cy="7324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16EFCD-0D6F-5B4C-9A1F-B425D3FDA8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75" y="5597392"/>
            <a:ext cx="9782762" cy="150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34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Huffman Codes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40F10C-C918-094C-AA25-AB7D3AA3C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31" y="1270150"/>
            <a:ext cx="88011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68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Huffman Codes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5390DD-41B8-7742-96E5-80F51CCEA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64" y="1260086"/>
            <a:ext cx="9553198" cy="42906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3417AC-9AB9-BE42-8B6C-6B194CCE9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30" y="6007894"/>
            <a:ext cx="7581901" cy="43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96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Correctness Proof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4D6950-3051-E047-A55E-E2D41D0B2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" y="1283493"/>
            <a:ext cx="9067800" cy="11601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8B2044-58F6-5E40-B790-DDE18158E271}"/>
              </a:ext>
            </a:extLst>
          </p:cNvPr>
          <p:cNvSpPr txBox="1"/>
          <p:nvPr/>
        </p:nvSpPr>
        <p:spPr>
          <a:xfrm>
            <a:off x="199231" y="2731294"/>
            <a:ext cx="937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Let </a:t>
            </a:r>
            <a:r>
              <a:rPr lang="en-SG" i="1" dirty="0"/>
              <a:t>T</a:t>
            </a:r>
            <a:r>
              <a:rPr lang="en-SG" dirty="0"/>
              <a:t> be an optimal code tree, and suppose this tree has depth d. Because </a:t>
            </a:r>
            <a:r>
              <a:rPr lang="en-SG" i="1" dirty="0"/>
              <a:t>T</a:t>
            </a:r>
            <a:r>
              <a:rPr lang="en-SG" dirty="0"/>
              <a:t> is a full binary tree, it has at least </a:t>
            </a:r>
            <a:r>
              <a:rPr lang="en-SG" dirty="0">
                <a:solidFill>
                  <a:srgbClr val="FF0000"/>
                </a:solidFill>
              </a:rPr>
              <a:t>two leaves at depth d that are siblings</a:t>
            </a:r>
            <a:r>
              <a:rPr lang="en-SG" dirty="0"/>
              <a:t>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AF7A3B-4118-8C42-BC38-913C9C03A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" y="3721893"/>
            <a:ext cx="9372600" cy="15552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24D3B0-8B8A-2E4C-AD52-B5D39BD10E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51" y="6490110"/>
            <a:ext cx="8718194" cy="4321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C27626-4320-F94D-88A0-68CD445F53D7}"/>
                  </a:ext>
                </a:extLst>
              </p:cNvPr>
              <p:cNvSpPr txBox="1"/>
              <p:nvPr/>
            </p:nvSpPr>
            <p:spPr>
              <a:xfrm flipH="1">
                <a:off x="199231" y="5693434"/>
                <a:ext cx="822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It follows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Thus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C27626-4320-F94D-88A0-68CD445F5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9231" y="5693434"/>
                <a:ext cx="8229600" cy="461665"/>
              </a:xfrm>
              <a:prstGeom prst="rect">
                <a:avLst/>
              </a:prstGeom>
              <a:blipFill>
                <a:blip r:embed="rId5"/>
                <a:stretch>
                  <a:fillRect l="-1079"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755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Optimality by induction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3206C7-EAAA-734A-A042-C595FC659B29}"/>
              </a:ext>
            </a:extLst>
          </p:cNvPr>
          <p:cNvSpPr txBox="1"/>
          <p:nvPr/>
        </p:nvSpPr>
        <p:spPr>
          <a:xfrm>
            <a:off x="0" y="1664374"/>
            <a:ext cx="1015206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300" dirty="0"/>
              <a:t>Let f [1 .. n] be the original input frequencies, and assume without loss of generality that f [1] and f [2] are the two smallest frequencies. </a:t>
            </a:r>
          </a:p>
          <a:p>
            <a:endParaRPr lang="en-SG" sz="2300" dirty="0"/>
          </a:p>
          <a:p>
            <a:r>
              <a:rPr lang="en-SG" sz="2300" dirty="0"/>
              <a:t>Define    f [n + 1] = f [1] + f [2].</a:t>
            </a:r>
            <a:endParaRPr lang="en-US" sz="2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B24EEA-8784-D94D-8639-CDE7FF1CF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79" y="4179094"/>
            <a:ext cx="9686924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9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Optimality by induction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CC00A3-68C2-7545-BF58-0BDE067F4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3494"/>
            <a:ext cx="9917206" cy="381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D5A222-A4C2-D541-8BB2-7C0125206C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0" y="5535912"/>
            <a:ext cx="9829441" cy="138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74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833D0-70E8-1C45-8239-9D8202733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369" y="1512094"/>
            <a:ext cx="9788281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57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198FC0-6CEB-8B41-99CC-8B962CE35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31" y="1255772"/>
            <a:ext cx="7714868" cy="513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845178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10780</TotalTime>
  <Words>474</Words>
  <Application>Microsoft Macintosh PowerPoint</Application>
  <PresentationFormat>Custom</PresentationFormat>
  <Paragraphs>54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Cambria Math</vt:lpstr>
      <vt:lpstr>Times</vt:lpstr>
      <vt:lpstr>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PowerPC</dc:creator>
  <cp:lastModifiedBy>Microsoft Office User</cp:lastModifiedBy>
  <cp:revision>199</cp:revision>
  <cp:lastPrinted>2019-08-10T08:34:39Z</cp:lastPrinted>
  <dcterms:created xsi:type="dcterms:W3CDTF">2001-10-04T11:39:11Z</dcterms:created>
  <dcterms:modified xsi:type="dcterms:W3CDTF">2019-09-03T00:26:55Z</dcterms:modified>
</cp:coreProperties>
</file>