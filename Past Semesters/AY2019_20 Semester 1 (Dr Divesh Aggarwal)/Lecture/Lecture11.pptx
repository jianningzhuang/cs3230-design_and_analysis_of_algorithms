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490" r:id="rId2"/>
    <p:sldId id="520" r:id="rId3"/>
    <p:sldId id="521" r:id="rId4"/>
    <p:sldId id="522" r:id="rId5"/>
    <p:sldId id="523" r:id="rId6"/>
    <p:sldId id="524" r:id="rId7"/>
    <p:sldId id="525" r:id="rId8"/>
    <p:sldId id="526" r:id="rId9"/>
    <p:sldId id="527" r:id="rId10"/>
    <p:sldId id="528" r:id="rId11"/>
    <p:sldId id="529" r:id="rId12"/>
    <p:sldId id="530" r:id="rId13"/>
    <p:sldId id="531" r:id="rId14"/>
    <p:sldId id="532" r:id="rId15"/>
    <p:sldId id="533" r:id="rId16"/>
    <p:sldId id="534" r:id="rId17"/>
    <p:sldId id="535" r:id="rId18"/>
    <p:sldId id="536" r:id="rId19"/>
    <p:sldId id="537" r:id="rId20"/>
    <p:sldId id="538" r:id="rId21"/>
    <p:sldId id="539" r:id="rId22"/>
    <p:sldId id="540" r:id="rId23"/>
    <p:sldId id="541" r:id="rId24"/>
    <p:sldId id="542" r:id="rId25"/>
    <p:sldId id="543" r:id="rId26"/>
    <p:sldId id="544" r:id="rId27"/>
    <p:sldId id="545" r:id="rId28"/>
    <p:sldId id="546" r:id="rId29"/>
    <p:sldId id="547" r:id="rId30"/>
    <p:sldId id="548" r:id="rId31"/>
    <p:sldId id="549" r:id="rId32"/>
    <p:sldId id="550" r:id="rId33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E55D02"/>
    <a:srgbClr val="DE5A02"/>
    <a:srgbClr val="C14E02"/>
    <a:srgbClr val="003399"/>
    <a:srgbClr val="873701"/>
    <a:srgbClr val="FF0000"/>
    <a:srgbClr val="969696"/>
    <a:srgbClr val="81AB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092" autoAdjust="0"/>
    <p:restoredTop sz="91763" autoAdjust="0"/>
  </p:normalViewPr>
  <p:slideViewPr>
    <p:cSldViewPr>
      <p:cViewPr varScale="1">
        <p:scale>
          <a:sx n="74" d="100"/>
          <a:sy n="74" d="100"/>
        </p:scale>
        <p:origin x="184" y="616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28AF44-D823-4724-A853-1093A72A09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62000"/>
            <a:ext cx="5086350" cy="380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0413" y="4822825"/>
            <a:ext cx="6076950" cy="456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4901CC-E834-4EBA-8890-E59F33DE9E1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EE9ADB-2485-4A93-AC68-657D518DF81C}" type="slidenum">
              <a:rPr lang="en-US"/>
              <a:pPr/>
              <a:t>1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61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0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09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70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44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42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80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75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28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36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64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82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8205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AFAA84-93FD-4C2C-AE46-F7D42BEF3958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797668-4770-4979-B1D4-D6D2511F0B65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817688"/>
            <a:ext cx="4237037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1817688"/>
            <a:ext cx="4238625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D269CF-64BA-444E-9F2D-69BD9F60489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B54B7F-CFD7-42C9-95D8-A751AB99534C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B2659F-1AD7-4F14-81C4-ADEDB1B20730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B3CE18-A588-438A-818D-D402E37F5853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E5FF68-5D0A-4A29-8164-F5FA0A65DE11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42643D-99CE-49A6-B68E-51ECE14F37D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7693E4-C871-4A11-9A28-7FDAD6AD934A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322263"/>
            <a:ext cx="2155825" cy="6611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22263"/>
            <a:ext cx="6319837" cy="6611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7CBC53-0468-4F6C-80ED-218DC62F935B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22263"/>
            <a:ext cx="7237412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17688"/>
            <a:ext cx="8628062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</a:defRPr>
            </a:lvl1pPr>
          </a:lstStyle>
          <a:p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000">
                <a:solidFill>
                  <a:srgbClr val="003399"/>
                </a:solidFill>
              </a:defRPr>
            </a:lvl1pPr>
          </a:lstStyle>
          <a:p>
            <a:fld id="{F354BF72-ACA3-44A4-878A-614A75F1CF45}" type="slidenum">
              <a:rPr lang="en-GB"/>
              <a:pPr/>
              <a:t>‹#›</a:t>
            </a:fld>
            <a:endParaRPr lang="en-GB" sz="1600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7319963"/>
            <a:ext cx="10152063" cy="28892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229600" y="431800"/>
            <a:ext cx="1612900" cy="78898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+mj-lt"/>
          <a:ea typeface="+mj-ea"/>
          <a:cs typeface="+mj-cs"/>
        </a:defRPr>
      </a:lvl1pPr>
      <a:lvl2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2pPr>
      <a:lvl3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3pPr>
      <a:lvl4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4pPr>
      <a:lvl5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9pPr>
    </p:titleStyle>
    <p:bodyStyle>
      <a:lvl1pPr algn="l" defTabSz="1014413" rtl="0" fontAlgn="base">
        <a:spcBef>
          <a:spcPct val="20000"/>
        </a:spcBef>
        <a:spcAft>
          <a:spcPct val="0"/>
        </a:spcAft>
        <a:defRPr sz="2500" b="1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fontAlgn="base">
        <a:spcBef>
          <a:spcPct val="20000"/>
        </a:spcBef>
        <a:spcAft>
          <a:spcPct val="0"/>
        </a:spcAft>
        <a:defRPr sz="2600">
          <a:solidFill>
            <a:srgbClr val="003399"/>
          </a:solidFill>
          <a:latin typeface="+mn-lt"/>
        </a:defRPr>
      </a:lvl2pPr>
      <a:lvl3pPr marL="755650" algn="l" defTabSz="1014413" rtl="0" fontAlgn="base">
        <a:spcBef>
          <a:spcPct val="20000"/>
        </a:spcBef>
        <a:spcAft>
          <a:spcPct val="0"/>
        </a:spcAft>
        <a:defRPr sz="2200" b="1">
          <a:solidFill>
            <a:srgbClr val="FF6600"/>
          </a:solidFill>
          <a:latin typeface="+mn-lt"/>
        </a:defRPr>
      </a:lvl3pPr>
      <a:lvl4pPr marL="1143000" indent="6350" algn="l" defTabSz="1014413" rtl="0" fontAlgn="base">
        <a:spcBef>
          <a:spcPct val="20000"/>
        </a:spcBef>
        <a:spcAft>
          <a:spcPct val="0"/>
        </a:spcAft>
        <a:defRPr sz="2200" i="1">
          <a:solidFill>
            <a:srgbClr val="003399"/>
          </a:solidFill>
          <a:latin typeface="+mn-lt"/>
        </a:defRPr>
      </a:lvl4pPr>
      <a:lvl5pPr marL="15240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endParaRPr lang="en-US" dirty="0"/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792163" y="1055688"/>
            <a:ext cx="8580437" cy="32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Chapter 12</a:t>
            </a:r>
          </a:p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NP-Hardness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sz="3600" i="1" dirty="0">
              <a:solidFill>
                <a:schemeClr val="bg1"/>
              </a:solidFill>
              <a:latin typeface="Arial" charset="0"/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i="1" dirty="0" err="1">
                <a:solidFill>
                  <a:schemeClr val="bg1"/>
                </a:solidFill>
                <a:latin typeface="Arial" charset="0"/>
              </a:rPr>
              <a:t>Divesh</a:t>
            </a:r>
            <a:r>
              <a:rPr lang="en-US" i="1" dirty="0">
                <a:solidFill>
                  <a:schemeClr val="bg1"/>
                </a:solidFill>
                <a:latin typeface="Arial" charset="0"/>
              </a:rPr>
              <a:t> Aggarwal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School of Computing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Department of Computer Science</a:t>
            </a:r>
            <a:endParaRPr lang="en-GB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5751513"/>
            <a:ext cx="2576513" cy="12588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022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 game you can’t win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27C97-1939-B34F-AC9F-D9F094CED962}"/>
              </a:ext>
            </a:extLst>
          </p:cNvPr>
          <p:cNvSpPr txBox="1"/>
          <p:nvPr/>
        </p:nvSpPr>
        <p:spPr>
          <a:xfrm>
            <a:off x="199231" y="1512094"/>
            <a:ext cx="967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Imagine that a salesman (</a:t>
            </a:r>
            <a:r>
              <a:rPr lang="en-SG" b="1" dirty="0"/>
              <a:t>adversary</a:t>
            </a:r>
            <a:r>
              <a:rPr lang="en-SG" dirty="0"/>
              <a:t>) presents you with a black steel box with </a:t>
            </a:r>
            <a:r>
              <a:rPr lang="en-SG" b="1" dirty="0">
                <a:solidFill>
                  <a:srgbClr val="FF0000"/>
                </a:solidFill>
              </a:rPr>
              <a:t>n binary switches</a:t>
            </a:r>
            <a:r>
              <a:rPr lang="en-SG" dirty="0">
                <a:solidFill>
                  <a:srgbClr val="FF0000"/>
                </a:solidFill>
              </a:rPr>
              <a:t> </a:t>
            </a:r>
            <a:r>
              <a:rPr lang="en-SG" dirty="0"/>
              <a:t>on the front and a light bulb on top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92A97-A7DF-9143-8276-52B110A4D63F}"/>
              </a:ext>
            </a:extLst>
          </p:cNvPr>
          <p:cNvSpPr txBox="1"/>
          <p:nvPr/>
        </p:nvSpPr>
        <p:spPr>
          <a:xfrm>
            <a:off x="199231" y="2731294"/>
            <a:ext cx="995283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300" dirty="0"/>
              <a:t>The salesman tells you that the state of the light bulb is controlled by a complex </a:t>
            </a:r>
            <a:r>
              <a:rPr lang="en-SG" sz="2300" b="1" dirty="0" err="1">
                <a:solidFill>
                  <a:srgbClr val="FF0000"/>
                </a:solidFill>
              </a:rPr>
              <a:t>boolean</a:t>
            </a:r>
            <a:r>
              <a:rPr lang="en-SG" sz="2300" b="1" dirty="0">
                <a:solidFill>
                  <a:srgbClr val="FF0000"/>
                </a:solidFill>
              </a:rPr>
              <a:t> circuit</a:t>
            </a:r>
            <a:r>
              <a:rPr lang="en-SG" sz="2300" dirty="0"/>
              <a:t>—a collection of A</a:t>
            </a:r>
            <a:r>
              <a:rPr lang="en-SG" sz="2000" dirty="0"/>
              <a:t>ND</a:t>
            </a:r>
            <a:r>
              <a:rPr lang="en-SG" sz="2300" dirty="0"/>
              <a:t>, O</a:t>
            </a:r>
            <a:r>
              <a:rPr lang="en-SG" sz="2000" dirty="0"/>
              <a:t>R</a:t>
            </a:r>
            <a:r>
              <a:rPr lang="en-SG" sz="2300" dirty="0"/>
              <a:t>, and N</a:t>
            </a:r>
            <a:r>
              <a:rPr lang="en-SG" sz="2000" dirty="0"/>
              <a:t>OT</a:t>
            </a:r>
            <a:r>
              <a:rPr lang="en-SG" sz="2300" dirty="0"/>
              <a:t> gates connected by wires, with </a:t>
            </a:r>
            <a:r>
              <a:rPr lang="en-SG" sz="2300" b="1" dirty="0">
                <a:solidFill>
                  <a:srgbClr val="FF0000"/>
                </a:solidFill>
              </a:rPr>
              <a:t>one input wire for each switch </a:t>
            </a:r>
            <a:r>
              <a:rPr lang="en-SG" sz="2300" dirty="0"/>
              <a:t>and a single </a:t>
            </a:r>
            <a:r>
              <a:rPr lang="en-SG" sz="2300" b="1" dirty="0">
                <a:solidFill>
                  <a:srgbClr val="FF0000"/>
                </a:solidFill>
              </a:rPr>
              <a:t>output wire for the bulb</a:t>
            </a:r>
            <a:r>
              <a:rPr lang="en-SG" sz="2300" dirty="0"/>
              <a:t>.</a:t>
            </a:r>
            <a:endParaRPr lang="en-US" sz="23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AD264-2DF6-1549-91CB-AE8CB0FB591B}"/>
              </a:ext>
            </a:extLst>
          </p:cNvPr>
          <p:cNvSpPr/>
          <p:nvPr/>
        </p:nvSpPr>
        <p:spPr>
          <a:xfrm>
            <a:off x="199231" y="5550694"/>
            <a:ext cx="9510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He asks - Is it possible to set the switches so that the light bulb turns on?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C6B970-9F12-A548-AE52-E675FB666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631" y="4063640"/>
            <a:ext cx="6212765" cy="13088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C8E9E3-EBC2-5949-872E-8E89F125B66C}"/>
              </a:ext>
            </a:extLst>
          </p:cNvPr>
          <p:cNvSpPr txBox="1"/>
          <p:nvPr/>
        </p:nvSpPr>
        <p:spPr>
          <a:xfrm>
            <a:off x="351631" y="6312694"/>
            <a:ext cx="952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answer correctly, he pays you </a:t>
            </a:r>
            <a:r>
              <a:rPr lang="en-US" b="1" dirty="0"/>
              <a:t>$100 billion</a:t>
            </a:r>
            <a:r>
              <a:rPr lang="en-US" dirty="0"/>
              <a:t>, else you pay him </a:t>
            </a:r>
            <a:r>
              <a:rPr lang="en-US" b="1" dirty="0"/>
              <a:t>$1000</a:t>
            </a:r>
          </a:p>
        </p:txBody>
      </p:sp>
    </p:spTree>
    <p:extLst>
      <p:ext uri="{BB962C8B-B14F-4D97-AF65-F5344CB8AC3E}">
        <p14:creationId xmlns:p14="http://schemas.microsoft.com/office/powerpoint/2010/main" val="280646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Should you play the game?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82C48-EE10-B149-8A07-7F86EC07FA3A}"/>
              </a:ext>
            </a:extLst>
          </p:cNvPr>
          <p:cNvSpPr txBox="1"/>
          <p:nvPr/>
        </p:nvSpPr>
        <p:spPr>
          <a:xfrm>
            <a:off x="427831" y="1588294"/>
            <a:ext cx="900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matter what you answer, the salesman can just produce a circuit that is inconsistent with your answer (unless you have tried all 2</a:t>
            </a:r>
            <a:r>
              <a:rPr lang="en-US" baseline="30000" dirty="0"/>
              <a:t>n</a:t>
            </a:r>
            <a:r>
              <a:rPr lang="en-US" dirty="0"/>
              <a:t> settings)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1D2A8-2A54-244D-B07D-4D8915587D43}"/>
              </a:ext>
            </a:extLst>
          </p:cNvPr>
          <p:cNvSpPr txBox="1"/>
          <p:nvPr/>
        </p:nvSpPr>
        <p:spPr>
          <a:xfrm>
            <a:off x="427831" y="2755317"/>
            <a:ext cx="8828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the salesman shows you the circuit?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2496DD-6336-6944-A99F-7FF0B4070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31" y="3546853"/>
            <a:ext cx="7967795" cy="33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5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Should you play the game?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7E18CA-477E-B942-8171-F1BA9DE9D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44" y="1307530"/>
            <a:ext cx="9604631" cy="29477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C48E2-5E5C-6742-8908-741B627AB3C1}"/>
              </a:ext>
            </a:extLst>
          </p:cNvPr>
          <p:cNvSpPr txBox="1"/>
          <p:nvPr/>
        </p:nvSpPr>
        <p:spPr>
          <a:xfrm>
            <a:off x="241540" y="5158596"/>
            <a:ext cx="9581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Nobody has shown whether this is impossible, either!</a:t>
            </a:r>
          </a:p>
        </p:txBody>
      </p:sp>
    </p:spTree>
    <p:extLst>
      <p:ext uri="{BB962C8B-B14F-4D97-AF65-F5344CB8AC3E}">
        <p14:creationId xmlns:p14="http://schemas.microsoft.com/office/powerpoint/2010/main" val="246078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P vs NP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5A4C68-0686-4944-BF1B-86F7BF4F6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70" y="1512094"/>
            <a:ext cx="9080500" cy="68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58558B-C664-CA4D-B0DD-F2F8D9E86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1" y="2458244"/>
            <a:ext cx="9055100" cy="850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976873-3555-5142-8885-474001DFC4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31" y="3518694"/>
            <a:ext cx="9029700" cy="147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885E19-E6E8-CF46-990A-34C6957F43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45" y="5480844"/>
            <a:ext cx="9055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0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P vs NP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3BDE0-32D9-D64C-8B76-551F656E44C0}"/>
              </a:ext>
            </a:extLst>
          </p:cNvPr>
          <p:cNvSpPr txBox="1"/>
          <p:nvPr/>
        </p:nvSpPr>
        <p:spPr>
          <a:xfrm>
            <a:off x="199231" y="1435894"/>
            <a:ext cx="9952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easy to see the CIRCUIT-SAT is in NP : a satisfying assignment is a proof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54D3D-56BD-044F-9CC1-8E2148953923}"/>
              </a:ext>
            </a:extLst>
          </p:cNvPr>
          <p:cNvSpPr txBox="1"/>
          <p:nvPr/>
        </p:nvSpPr>
        <p:spPr>
          <a:xfrm>
            <a:off x="199231" y="2502694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don’t know whether CIRCUIT-SAT is in 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D1B90-D177-5F41-A99B-7D830F73C7E2}"/>
              </a:ext>
            </a:extLst>
          </p:cNvPr>
          <p:cNvSpPr txBox="1"/>
          <p:nvPr/>
        </p:nvSpPr>
        <p:spPr>
          <a:xfrm>
            <a:off x="131043" y="3611195"/>
            <a:ext cx="9625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don’t know whether CIRCUIT-SAT is in co-NP either: There is no proof that tells us that the circuit is </a:t>
            </a:r>
            <a:r>
              <a:rPr lang="en-US" b="1" dirty="0">
                <a:solidFill>
                  <a:srgbClr val="FF0000"/>
                </a:solidFill>
              </a:rPr>
              <a:t>not satisfiable</a:t>
            </a:r>
            <a:r>
              <a:rPr lang="en-US" dirty="0"/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1C1D7A-F4A9-F049-BB5B-F70A99350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446" y="4677995"/>
            <a:ext cx="47244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1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NP hardness and NP-completeness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69131-82C6-3A4A-8A12-C1BC6FA3B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32" y="1304656"/>
            <a:ext cx="9296400" cy="172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956784-8320-A24D-8472-751407880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2" y="3575050"/>
            <a:ext cx="9131300" cy="1447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3041B9-2573-5B45-BC07-6DDEEDB12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37" y="5516832"/>
            <a:ext cx="9365049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NP hardness and NP-completeness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DF3BB8-2AA9-FD44-8126-85E276BAC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101" y="1435894"/>
            <a:ext cx="6586330" cy="320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E250D0-2B52-0548-8A63-0EE814063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5169694"/>
            <a:ext cx="7200900" cy="571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01E832-1AEB-974B-BC61-14273470B6AC}"/>
              </a:ext>
            </a:extLst>
          </p:cNvPr>
          <p:cNvSpPr txBox="1"/>
          <p:nvPr/>
        </p:nvSpPr>
        <p:spPr>
          <a:xfrm>
            <a:off x="327804" y="6228272"/>
            <a:ext cx="901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not see a proof of this theorem, but only what it implies!</a:t>
            </a:r>
          </a:p>
        </p:txBody>
      </p:sp>
    </p:spTree>
    <p:extLst>
      <p:ext uri="{BB962C8B-B14F-4D97-AF65-F5344CB8AC3E}">
        <p14:creationId xmlns:p14="http://schemas.microsoft.com/office/powerpoint/2010/main" val="356898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How to prove NP-hardness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E6653-D0CF-184D-BA0E-98597F5F1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431" y="1588294"/>
            <a:ext cx="6462110" cy="1295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ED1DC7-E8D1-724B-A8D6-53226FC823AB}"/>
              </a:ext>
            </a:extLst>
          </p:cNvPr>
          <p:cNvSpPr txBox="1"/>
          <p:nvPr/>
        </p:nvSpPr>
        <p:spPr>
          <a:xfrm>
            <a:off x="166987" y="3493294"/>
            <a:ext cx="99528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E.g., If we reduce </a:t>
            </a:r>
            <a:r>
              <a:rPr lang="en-US" b="1" dirty="0"/>
              <a:t>CIRCUIT-SAT</a:t>
            </a:r>
            <a:r>
              <a:rPr lang="en-US" dirty="0"/>
              <a:t> to </a:t>
            </a:r>
            <a:r>
              <a:rPr lang="en-US" b="1" dirty="0"/>
              <a:t>A</a:t>
            </a:r>
            <a:r>
              <a:rPr lang="en-US" dirty="0"/>
              <a:t>, then a polynomial time algorithm for A will imply a polynomial time algorithm for CIRCUIT-SAT</a:t>
            </a:r>
          </a:p>
          <a:p>
            <a:pPr algn="ctr"/>
            <a:r>
              <a:rPr lang="en-US" dirty="0"/>
              <a:t> (which will imply a polynomial time algorithm for all of NP)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Hence shows that A is NP-hard!</a:t>
            </a:r>
          </a:p>
        </p:txBody>
      </p:sp>
    </p:spTree>
    <p:extLst>
      <p:ext uri="{BB962C8B-B14F-4D97-AF65-F5344CB8AC3E}">
        <p14:creationId xmlns:p14="http://schemas.microsoft.com/office/powerpoint/2010/main" val="16930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How to prove NP-hardness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E6653-D0CF-184D-BA0E-98597F5F1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031" y="1512094"/>
            <a:ext cx="6462110" cy="1295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AA43B7-62F7-AE45-BB5A-ED32D8D42142}"/>
              </a:ext>
            </a:extLst>
          </p:cNvPr>
          <p:cNvSpPr txBox="1"/>
          <p:nvPr/>
        </p:nvSpPr>
        <p:spPr>
          <a:xfrm>
            <a:off x="427831" y="402446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assume the NP-hardness of CIRCUIT-SAT, and start from there!</a:t>
            </a:r>
          </a:p>
        </p:txBody>
      </p:sp>
    </p:spTree>
    <p:extLst>
      <p:ext uri="{BB962C8B-B14F-4D97-AF65-F5344CB8AC3E}">
        <p14:creationId xmlns:p14="http://schemas.microsoft.com/office/powerpoint/2010/main" val="36245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94AEE5-7FD0-3746-B82E-6058B2C81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252897"/>
            <a:ext cx="9169400" cy="133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99E839-FD4E-5E49-8F4B-810DE368D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31" y="2807494"/>
            <a:ext cx="79375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5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Circuit-SAT to SAT reduction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613F85-E7C2-EB42-ACAF-273DBF5F9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0" y="1564166"/>
            <a:ext cx="9513101" cy="29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841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3-SAT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BFCE5-5845-9E44-A83F-15B821414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495036"/>
            <a:ext cx="9194800" cy="2044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5F590B-813B-2042-BC8C-149B8AA1D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6" y="4485931"/>
            <a:ext cx="9691292" cy="186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Circuit-SAT to 3-SAT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96348-6DC8-FD4B-B84F-DB3F079EC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95" y="1991894"/>
            <a:ext cx="7370736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5A2B52-DAA2-994B-A33E-EB4E4E4F6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71" y="5639594"/>
            <a:ext cx="7543800" cy="1130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4983CB-DB81-A940-80B7-8D327405CFE7}"/>
              </a:ext>
            </a:extLst>
          </p:cNvPr>
          <p:cNvSpPr txBox="1"/>
          <p:nvPr/>
        </p:nvSpPr>
        <p:spPr>
          <a:xfrm>
            <a:off x="427831" y="1414732"/>
            <a:ext cx="6629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transform every gate into </a:t>
            </a:r>
            <a:r>
              <a:rPr lang="en-US" b="1" dirty="0">
                <a:solidFill>
                  <a:srgbClr val="FF0000"/>
                </a:solidFill>
              </a:rPr>
              <a:t>at-most-3</a:t>
            </a:r>
            <a:r>
              <a:rPr lang="en-US" dirty="0"/>
              <a:t> clauses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207B54-5AA8-8E46-AB22-3396BE4549C8}"/>
              </a:ext>
            </a:extLst>
          </p:cNvPr>
          <p:cNvSpPr txBox="1"/>
          <p:nvPr/>
        </p:nvSpPr>
        <p:spPr>
          <a:xfrm>
            <a:off x="683055" y="4811893"/>
            <a:ext cx="904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Changing 1-clause and 2-clause to 3-clause with auxiliary variables</a:t>
            </a:r>
          </a:p>
        </p:txBody>
      </p:sp>
    </p:spTree>
    <p:extLst>
      <p:ext uri="{BB962C8B-B14F-4D97-AF65-F5344CB8AC3E}">
        <p14:creationId xmlns:p14="http://schemas.microsoft.com/office/powerpoint/2010/main" val="399008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Circuit-SAT to 3-SAT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D4147-299D-B44F-9AF1-7C32202A5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0" y="1874554"/>
            <a:ext cx="9283815" cy="329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67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3-SAT formula for the circuit we saw..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A0599C-A971-274A-888B-E8C5B0ACD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30" y="1320470"/>
            <a:ext cx="8738731" cy="41540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D2BC90B-6DB3-EA4D-8586-9E2F58EA1060}"/>
              </a:ext>
            </a:extLst>
          </p:cNvPr>
          <p:cNvSpPr/>
          <p:nvPr/>
        </p:nvSpPr>
        <p:spPr>
          <a:xfrm>
            <a:off x="580231" y="6018419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At first glance, this formula might look a lot more complicated than the original circuit, but in fact, it’s only larger by a constant factor.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34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Maximum Independent Set (from 3-SAT)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C2A044-EB05-E446-B539-0C27682E5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1" y="3833633"/>
            <a:ext cx="8953500" cy="318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28FF3A-5F17-8A45-B5C9-A80907532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31" y="1263164"/>
            <a:ext cx="9473268" cy="177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Maximum Independent Set (from 3-SAT)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EB16B3-358D-454A-A28B-76C67E2C6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0" y="1248584"/>
            <a:ext cx="9640335" cy="25495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FA4A8A-20B5-804E-BA7A-1685E2E29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98" y="3569494"/>
            <a:ext cx="5373134" cy="38206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D3A795-3D86-7C4B-8E9D-737F15DAAE35}"/>
              </a:ext>
            </a:extLst>
          </p:cNvPr>
          <p:cNvSpPr txBox="1"/>
          <p:nvPr/>
        </p:nvSpPr>
        <p:spPr>
          <a:xfrm>
            <a:off x="199230" y="4180012"/>
            <a:ext cx="47613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graph has an independence set of size at most 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independence set has size k if and only if the 3CNF is satisfiable.</a:t>
            </a:r>
          </a:p>
        </p:txBody>
      </p:sp>
    </p:spTree>
    <p:extLst>
      <p:ext uri="{BB962C8B-B14F-4D97-AF65-F5344CB8AC3E}">
        <p14:creationId xmlns:p14="http://schemas.microsoft.com/office/powerpoint/2010/main" val="361598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general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B7B2DD-79FA-9940-B9AA-149DCA67A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00" y="1431985"/>
            <a:ext cx="9245600" cy="308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155137-0A66-BF4F-8BAB-9D895BBCBD65}"/>
              </a:ext>
            </a:extLst>
          </p:cNvPr>
          <p:cNvSpPr txBox="1"/>
          <p:nvPr/>
        </p:nvSpPr>
        <p:spPr>
          <a:xfrm>
            <a:off x="310551" y="5365630"/>
            <a:ext cx="9385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have to think of all these tasks simultaneously! </a:t>
            </a:r>
          </a:p>
        </p:txBody>
      </p:sp>
    </p:spTree>
    <p:extLst>
      <p:ext uri="{BB962C8B-B14F-4D97-AF65-F5344CB8AC3E}">
        <p14:creationId xmlns:p14="http://schemas.microsoft.com/office/powerpoint/2010/main" val="71156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Clique and vertex cover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C31ABD-D530-3045-9394-210F977F1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85" y="1306094"/>
            <a:ext cx="9271000" cy="2082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5D414C-0B05-464E-8042-42BAF6C9B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85" y="3891697"/>
            <a:ext cx="92837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92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From Independent set to Clique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FC9E8-D650-A148-A65E-D632C08F7903}"/>
              </a:ext>
            </a:extLst>
          </p:cNvPr>
          <p:cNvSpPr/>
          <p:nvPr/>
        </p:nvSpPr>
        <p:spPr bwMode="auto">
          <a:xfrm>
            <a:off x="2485231" y="3798094"/>
            <a:ext cx="7239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9C585F-89E7-C443-8E7E-39498895190D}"/>
              </a:ext>
            </a:extLst>
          </p:cNvPr>
          <p:cNvSpPr txBox="1"/>
          <p:nvPr/>
        </p:nvSpPr>
        <p:spPr>
          <a:xfrm>
            <a:off x="414068" y="1483743"/>
            <a:ext cx="8471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Easy reduction: Just consider the complement graph. If G has an independent set of size k, then G’ has a clique of size 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0AED4-D96C-CB4B-84CB-8C008680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2648744"/>
            <a:ext cx="9303452" cy="335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44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From Independent set to Vertex Cover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D15ED2-D382-4344-A3DC-B6862C259120}"/>
                  </a:ext>
                </a:extLst>
              </p:cNvPr>
              <p:cNvSpPr txBox="1"/>
              <p:nvPr/>
            </p:nvSpPr>
            <p:spPr>
              <a:xfrm>
                <a:off x="199231" y="1500997"/>
                <a:ext cx="99528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V</a:t>
                </a:r>
                <a:r>
                  <a:rPr lang="en-US" baseline="-25000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V is an independent set in G = (V, E), then V \ V</a:t>
                </a:r>
                <a:r>
                  <a:rPr lang="en-US" baseline="-25000" dirty="0"/>
                  <a:t>1</a:t>
                </a:r>
                <a:r>
                  <a:rPr lang="en-US" dirty="0"/>
                  <a:t> is a vertex cover</a:t>
                </a:r>
                <a:r>
                  <a:rPr lang="en-US" baseline="-25000" dirty="0"/>
                  <a:t> </a:t>
                </a:r>
                <a:r>
                  <a:rPr lang="en-US" dirty="0"/>
                  <a:t>  </a:t>
                </a:r>
                <a:endParaRPr lang="en-US" baseline="-25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D15ED2-D382-4344-A3DC-B6862C259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31" y="1500997"/>
                <a:ext cx="9952832" cy="461665"/>
              </a:xfrm>
              <a:prstGeom prst="rect">
                <a:avLst/>
              </a:prstGeom>
              <a:blipFill>
                <a:blip r:embed="rId3"/>
                <a:stretch>
                  <a:fillRect l="-893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9E43FD8-9FE0-DD4F-945B-F9FD45E30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30" y="2578894"/>
            <a:ext cx="7981071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From Independent set to Vertex Cover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D15ED2-D382-4344-A3DC-B6862C259120}"/>
                  </a:ext>
                </a:extLst>
              </p:cNvPr>
              <p:cNvSpPr txBox="1"/>
              <p:nvPr/>
            </p:nvSpPr>
            <p:spPr>
              <a:xfrm>
                <a:off x="199231" y="1500997"/>
                <a:ext cx="99528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V</a:t>
                </a:r>
                <a:r>
                  <a:rPr lang="en-US" baseline="-25000" dirty="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V is an independent set in G = (V, E), then V \ V</a:t>
                </a:r>
                <a:r>
                  <a:rPr lang="en-US" baseline="-25000" dirty="0"/>
                  <a:t>1</a:t>
                </a:r>
                <a:r>
                  <a:rPr lang="en-US" dirty="0"/>
                  <a:t> is a vertex cover</a:t>
                </a:r>
                <a:r>
                  <a:rPr lang="en-US" baseline="-25000" dirty="0"/>
                  <a:t> </a:t>
                </a:r>
                <a:r>
                  <a:rPr lang="en-US" dirty="0"/>
                  <a:t>  </a:t>
                </a:r>
                <a:endParaRPr lang="en-US" baseline="-25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D15ED2-D382-4344-A3DC-B6862C259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31" y="1500997"/>
                <a:ext cx="9952832" cy="461665"/>
              </a:xfrm>
              <a:prstGeom prst="rect">
                <a:avLst/>
              </a:prstGeom>
              <a:blipFill>
                <a:blip r:embed="rId3"/>
                <a:stretch>
                  <a:fillRect l="-893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9E43FD8-9FE0-DD4F-945B-F9FD45E30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30" y="2578894"/>
            <a:ext cx="7981071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11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Graph 3-coloring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699F10-BD0B-F942-882D-4803A2F23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1" y="1431985"/>
            <a:ext cx="9287846" cy="9906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17196-ACF1-074C-AAC8-5F5E4075EB11}"/>
              </a:ext>
            </a:extLst>
          </p:cNvPr>
          <p:cNvSpPr txBox="1"/>
          <p:nvPr/>
        </p:nvSpPr>
        <p:spPr>
          <a:xfrm>
            <a:off x="655608" y="2656936"/>
            <a:ext cx="861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 coloring problem asks for a coloring of a graph with minimum number of colors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C8895-F222-BD43-A22E-973DBFC93299}"/>
              </a:ext>
            </a:extLst>
          </p:cNvPr>
          <p:cNvSpPr txBox="1"/>
          <p:nvPr/>
        </p:nvSpPr>
        <p:spPr>
          <a:xfrm>
            <a:off x="776377" y="3722284"/>
            <a:ext cx="893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3-coloring problem: Does there exist a proper 3-coloring?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4E57E1-38AF-E04A-AEFF-70B780653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30" y="4418300"/>
            <a:ext cx="8080373" cy="250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4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3-SAT to 3-coloring reduction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0C2829-6E68-4C44-92DB-64B5843D6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2" y="1283494"/>
            <a:ext cx="9882266" cy="2853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653508-5F22-524B-8FCE-01AF6D4F5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456" y="4407694"/>
            <a:ext cx="2942898" cy="213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06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3-SAT to 3-coloring reduction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82BC73-80F4-B441-A5B6-92C54EABD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2" y="1799793"/>
            <a:ext cx="962171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9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3-SAT to 3-coloring reduction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D38BB-FE4F-C443-9195-0D278FAE5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05" y="1317596"/>
            <a:ext cx="9318760" cy="415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22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Altogether..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6FF54-4652-AD42-BFA7-0D164DD62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31" y="1213644"/>
            <a:ext cx="7556064" cy="2584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20AEA5-AADE-DC44-84CD-101294DBF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831" y="4179094"/>
            <a:ext cx="4955988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80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complete reduction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73AA3-A1C1-6C43-9D78-39D59D79D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2494"/>
            <a:ext cx="8175036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09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Subset sum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E735B6-BAF1-5843-B987-85698BB1F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345039"/>
            <a:ext cx="9759488" cy="10775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AD9B0B-9371-BC4D-A37D-26A1098DD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71" y="3091006"/>
            <a:ext cx="9231368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36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Reduction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7642A-9450-1B4A-A9D9-862635757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01" y="1219552"/>
            <a:ext cx="9805815" cy="444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5E535C-2807-AB4F-A6EA-3B7D7DBA5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22" y="1818727"/>
            <a:ext cx="6628418" cy="17489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8F5CED-32EB-3048-A6A8-9522750A96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3732"/>
            <a:ext cx="9701546" cy="4329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44E83C-3BAC-0E44-AF24-B2E7187E7E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4351824"/>
            <a:ext cx="9944276" cy="274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71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Remark!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290AF-C648-554F-A7CC-5A1765FF02F4}"/>
              </a:ext>
            </a:extLst>
          </p:cNvPr>
          <p:cNvSpPr txBox="1"/>
          <p:nvPr/>
        </p:nvSpPr>
        <p:spPr>
          <a:xfrm>
            <a:off x="1759789" y="143198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1CB4FD-17FA-B242-9CF7-F75A8CF0AFB0}"/>
              </a:ext>
            </a:extLst>
          </p:cNvPr>
          <p:cNvSpPr/>
          <p:nvPr/>
        </p:nvSpPr>
        <p:spPr bwMode="auto">
          <a:xfrm>
            <a:off x="3475831" y="2045494"/>
            <a:ext cx="6239846" cy="37709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6204BE-5538-564F-A056-9DB2D0A22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0" y="1208252"/>
            <a:ext cx="9389075" cy="1446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B814B-707B-2643-964E-B335D25DFA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3874294"/>
            <a:ext cx="9345478" cy="1828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6DE89A-304C-4A4A-ACF5-183312CFE3CA}"/>
              </a:ext>
            </a:extLst>
          </p:cNvPr>
          <p:cNvSpPr/>
          <p:nvPr/>
        </p:nvSpPr>
        <p:spPr bwMode="auto">
          <a:xfrm>
            <a:off x="8733631" y="5398294"/>
            <a:ext cx="963478" cy="304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5B412C-60E5-3942-9051-7304D749121D}"/>
              </a:ext>
            </a:extLst>
          </p:cNvPr>
          <p:cNvSpPr/>
          <p:nvPr/>
        </p:nvSpPr>
        <p:spPr bwMode="auto">
          <a:xfrm>
            <a:off x="1463824" y="3666375"/>
            <a:ext cx="19812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36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17952</TotalTime>
  <Words>613</Words>
  <Application>Microsoft Macintosh PowerPoint</Application>
  <PresentationFormat>Custom</PresentationFormat>
  <Paragraphs>76</Paragraphs>
  <Slides>32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Cambria Math</vt:lpstr>
      <vt:lpstr>Times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Microsoft Office User</cp:lastModifiedBy>
  <cp:revision>368</cp:revision>
  <cp:lastPrinted>2019-08-10T08:34:39Z</cp:lastPrinted>
  <dcterms:created xsi:type="dcterms:W3CDTF">2001-10-04T11:39:11Z</dcterms:created>
  <dcterms:modified xsi:type="dcterms:W3CDTF">2019-10-20T14:24:47Z</dcterms:modified>
</cp:coreProperties>
</file>