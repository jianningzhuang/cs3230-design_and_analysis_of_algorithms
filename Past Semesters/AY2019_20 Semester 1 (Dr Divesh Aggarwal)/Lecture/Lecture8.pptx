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5"/>
  </p:notesMasterIdLst>
  <p:handoutMasterIdLst>
    <p:handoutMasterId r:id="rId36"/>
  </p:handoutMasterIdLst>
  <p:sldIdLst>
    <p:sldId id="490" r:id="rId2"/>
    <p:sldId id="489" r:id="rId3"/>
    <p:sldId id="491" r:id="rId4"/>
    <p:sldId id="492" r:id="rId5"/>
    <p:sldId id="493" r:id="rId6"/>
    <p:sldId id="495" r:id="rId7"/>
    <p:sldId id="496" r:id="rId8"/>
    <p:sldId id="497" r:id="rId9"/>
    <p:sldId id="499" r:id="rId10"/>
    <p:sldId id="501" r:id="rId11"/>
    <p:sldId id="502" r:id="rId12"/>
    <p:sldId id="503" r:id="rId13"/>
    <p:sldId id="505" r:id="rId14"/>
    <p:sldId id="506" r:id="rId15"/>
    <p:sldId id="507" r:id="rId16"/>
    <p:sldId id="508" r:id="rId17"/>
    <p:sldId id="509" r:id="rId18"/>
    <p:sldId id="510" r:id="rId19"/>
    <p:sldId id="511" r:id="rId20"/>
    <p:sldId id="513" r:id="rId21"/>
    <p:sldId id="515" r:id="rId22"/>
    <p:sldId id="516" r:id="rId23"/>
    <p:sldId id="517" r:id="rId24"/>
    <p:sldId id="518" r:id="rId25"/>
    <p:sldId id="519" r:id="rId26"/>
    <p:sldId id="520" r:id="rId27"/>
    <p:sldId id="521" r:id="rId28"/>
    <p:sldId id="522" r:id="rId29"/>
    <p:sldId id="523" r:id="rId30"/>
    <p:sldId id="524" r:id="rId31"/>
    <p:sldId id="525" r:id="rId32"/>
    <p:sldId id="526" r:id="rId33"/>
    <p:sldId id="527" r:id="rId34"/>
  </p:sldIdLst>
  <p:sldSz cx="10152063" cy="7596188"/>
  <p:notesSz cx="7596188" cy="10152063"/>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1392">
          <p15:clr>
            <a:srgbClr val="A4A3A4"/>
          </p15:clr>
        </p15:guide>
        <p15:guide id="2" pos="3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5D02"/>
    <a:srgbClr val="DE5A02"/>
    <a:srgbClr val="C14E02"/>
    <a:srgbClr val="003399"/>
    <a:srgbClr val="873701"/>
    <a:srgbClr val="FF0000"/>
    <a:srgbClr val="969696"/>
    <a:srgbClr val="81ABFF"/>
    <a:srgbClr val="FFFF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43" autoAdjust="0"/>
    <p:restoredTop sz="91821" autoAdjust="0"/>
  </p:normalViewPr>
  <p:slideViewPr>
    <p:cSldViewPr>
      <p:cViewPr varScale="1">
        <p:scale>
          <a:sx n="92" d="100"/>
          <a:sy n="92" d="100"/>
        </p:scale>
        <p:origin x="808" y="184"/>
      </p:cViewPr>
      <p:guideLst>
        <p:guide orient="horz" pos="1392"/>
        <p:guide pos="321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9699" name="Rectangle 3"/>
          <p:cNvSpPr>
            <a:spLocks noGrp="1" noChangeArrowheads="1"/>
          </p:cNvSpPr>
          <p:nvPr>
            <p:ph type="dt" sz="quarter" idx="1"/>
          </p:nvPr>
        </p:nvSpPr>
        <p:spPr bwMode="auto">
          <a:xfrm>
            <a:off x="4302125"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9700" name="Rectangle 4"/>
          <p:cNvSpPr>
            <a:spLocks noGrp="1" noChangeArrowheads="1"/>
          </p:cNvSpPr>
          <p:nvPr>
            <p:ph type="ftr" sz="quarter" idx="2"/>
          </p:nvPr>
        </p:nvSpPr>
        <p:spPr bwMode="auto">
          <a:xfrm>
            <a:off x="0"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9701" name="Rectangle 5"/>
          <p:cNvSpPr>
            <a:spLocks noGrp="1" noChangeArrowheads="1"/>
          </p:cNvSpPr>
          <p:nvPr>
            <p:ph type="sldNum" sz="quarter" idx="3"/>
          </p:nvPr>
        </p:nvSpPr>
        <p:spPr bwMode="auto">
          <a:xfrm>
            <a:off x="4302125"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728AF44-D823-4724-A853-1093A72A0941}"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7891" name="Rectangle 3"/>
          <p:cNvSpPr>
            <a:spLocks noGrp="1" noChangeArrowheads="1"/>
          </p:cNvSpPr>
          <p:nvPr>
            <p:ph type="dt" idx="1"/>
          </p:nvPr>
        </p:nvSpPr>
        <p:spPr bwMode="auto">
          <a:xfrm>
            <a:off x="4302125"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7892" name="Rectangle 4"/>
          <p:cNvSpPr>
            <a:spLocks noGrp="1" noRot="1" noChangeAspect="1" noChangeArrowheads="1" noTextEdit="1"/>
          </p:cNvSpPr>
          <p:nvPr>
            <p:ph type="sldImg" idx="2"/>
          </p:nvPr>
        </p:nvSpPr>
        <p:spPr bwMode="auto">
          <a:xfrm>
            <a:off x="1255713" y="762000"/>
            <a:ext cx="5086350" cy="3806825"/>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760413" y="4822825"/>
            <a:ext cx="6076950" cy="45672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894" name="Rectangle 6"/>
          <p:cNvSpPr>
            <a:spLocks noGrp="1" noChangeArrowheads="1"/>
          </p:cNvSpPr>
          <p:nvPr>
            <p:ph type="ftr" sz="quarter" idx="4"/>
          </p:nvPr>
        </p:nvSpPr>
        <p:spPr bwMode="auto">
          <a:xfrm>
            <a:off x="0"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7895" name="Rectangle 7"/>
          <p:cNvSpPr>
            <a:spLocks noGrp="1" noChangeArrowheads="1"/>
          </p:cNvSpPr>
          <p:nvPr>
            <p:ph type="sldNum" sz="quarter" idx="5"/>
          </p:nvPr>
        </p:nvSpPr>
        <p:spPr bwMode="auto">
          <a:xfrm>
            <a:off x="4302125"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E54901CC-E834-4EBA-8890-E59F33DE9E1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E9ADB-2485-4A93-AC68-657D518DF81C}" type="slidenum">
              <a:rPr lang="en-US"/>
              <a:pPr/>
              <a:t>1</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94036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E9ADB-2485-4A93-AC68-657D518DF81C}" type="slidenum">
              <a:rPr lang="en-US"/>
              <a:pPr/>
              <a:t>12</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04975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E9ADB-2485-4A93-AC68-657D518DF81C}" type="slidenum">
              <a:rPr lang="en-US"/>
              <a:pPr/>
              <a:t>21</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741622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202" name="Rectangle 10"/>
          <p:cNvSpPr>
            <a:spLocks noChangeArrowheads="1"/>
          </p:cNvSpPr>
          <p:nvPr userDrawn="1"/>
        </p:nvSpPr>
        <p:spPr bwMode="auto">
          <a:xfrm>
            <a:off x="0" y="0"/>
            <a:ext cx="10152063" cy="5486400"/>
          </a:xfrm>
          <a:prstGeom prst="rect">
            <a:avLst/>
          </a:prstGeom>
          <a:solidFill>
            <a:srgbClr val="FF6600"/>
          </a:solidFill>
          <a:ln w="9525">
            <a:noFill/>
            <a:miter lim="800000"/>
            <a:headEnd/>
            <a:tailEnd/>
          </a:ln>
          <a:effectLst/>
        </p:spPr>
        <p:txBody>
          <a:bodyPr wrap="none" anchor="ctr"/>
          <a:lstStyle/>
          <a:p>
            <a:endParaRPr lang="en-US"/>
          </a:p>
        </p:txBody>
      </p:sp>
      <p:sp>
        <p:nvSpPr>
          <p:cNvPr id="8203" name="Rectangle 11"/>
          <p:cNvSpPr>
            <a:spLocks noChangeArrowheads="1"/>
          </p:cNvSpPr>
          <p:nvPr userDrawn="1"/>
        </p:nvSpPr>
        <p:spPr bwMode="auto">
          <a:xfrm>
            <a:off x="0" y="7315200"/>
            <a:ext cx="10152063" cy="280988"/>
          </a:xfrm>
          <a:prstGeom prst="rect">
            <a:avLst/>
          </a:prstGeom>
          <a:solidFill>
            <a:srgbClr val="FF6600"/>
          </a:solidFill>
          <a:ln w="9525">
            <a:noFill/>
            <a:miter lim="800000"/>
            <a:headEnd/>
            <a:tailEnd/>
          </a:ln>
          <a:effectLst/>
        </p:spPr>
        <p:txBody>
          <a:bodyPr wrap="none" anchor="ctr"/>
          <a:lstStyle/>
          <a:p>
            <a:endParaRPr lang="en-US"/>
          </a:p>
        </p:txBody>
      </p:sp>
      <p:sp>
        <p:nvSpPr>
          <p:cNvPr id="8194" name="Rectangle 2"/>
          <p:cNvSpPr>
            <a:spLocks noGrp="1" noChangeArrowheads="1"/>
          </p:cNvSpPr>
          <p:nvPr>
            <p:ph type="ctrTitle"/>
          </p:nvPr>
        </p:nvSpPr>
        <p:spPr>
          <a:xfrm>
            <a:off x="609600" y="1524000"/>
            <a:ext cx="8991600" cy="1752600"/>
          </a:xfrm>
        </p:spPr>
        <p:txBody>
          <a:bodyPr/>
          <a:lstStyle>
            <a:lvl1pPr algn="ctr">
              <a:defRPr sz="6000">
                <a:solidFill>
                  <a:schemeClr val="bg1"/>
                </a:solidFill>
              </a:defRPr>
            </a:lvl1pPr>
          </a:lstStyle>
          <a:p>
            <a:r>
              <a:rPr lang="en-GB"/>
              <a:t>Click to edit Master title style</a:t>
            </a:r>
          </a:p>
        </p:txBody>
      </p:sp>
      <p:pic>
        <p:nvPicPr>
          <p:cNvPr id="8205" name="Picture 13"/>
          <p:cNvPicPr>
            <a:picLocks noChangeAspect="1" noChangeArrowheads="1"/>
          </p:cNvPicPr>
          <p:nvPr userDrawn="1"/>
        </p:nvPicPr>
        <p:blipFill>
          <a:blip r:embed="rId2"/>
          <a:srcRect/>
          <a:stretch>
            <a:fillRect/>
          </a:stretch>
        </p:blipFill>
        <p:spPr bwMode="auto">
          <a:xfrm>
            <a:off x="3733800" y="5757863"/>
            <a:ext cx="2573338" cy="1258887"/>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DAFAA84-93FD-4C2C-AE46-F7D42BEF3958}" type="slidenum">
              <a:rPr lang="en-GB"/>
              <a:pPr/>
              <a:t>‹#›</a:t>
            </a:fld>
            <a:endParaRPr lang="en-GB" sz="16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1688" y="4881563"/>
            <a:ext cx="8629650" cy="15081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1688" y="3219450"/>
            <a:ext cx="8629650" cy="166211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71797668-4770-4979-B1D4-D6D2511F0B65}" type="slidenum">
              <a:rPr lang="en-GB"/>
              <a:pPr/>
              <a:t>‹#›</a:t>
            </a:fld>
            <a:endParaRPr lang="en-GB" sz="160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1188" y="1817688"/>
            <a:ext cx="4237037" cy="5116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00625" y="1817688"/>
            <a:ext cx="4238625" cy="5116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90D269CF-64BA-444E-9F2D-69BD9F60489F}" type="slidenum">
              <a:rPr lang="en-GB"/>
              <a:pPr/>
              <a:t>‹#›</a:t>
            </a:fld>
            <a:endParaRPr lang="en-GB" sz="16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36063" cy="12652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0213"/>
            <a:ext cx="4484688" cy="7080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08238"/>
            <a:ext cx="4484688" cy="43767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57788" y="1700213"/>
            <a:ext cx="4486275" cy="7080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7788" y="2408238"/>
            <a:ext cx="4486275" cy="43767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GB"/>
          </a:p>
        </p:txBody>
      </p:sp>
      <p:sp>
        <p:nvSpPr>
          <p:cNvPr id="8" name="Slide Number Placeholder 7"/>
          <p:cNvSpPr>
            <a:spLocks noGrp="1"/>
          </p:cNvSpPr>
          <p:nvPr>
            <p:ph type="sldNum" sz="quarter" idx="11"/>
          </p:nvPr>
        </p:nvSpPr>
        <p:spPr/>
        <p:txBody>
          <a:bodyPr/>
          <a:lstStyle>
            <a:lvl1pPr>
              <a:defRPr/>
            </a:lvl1pPr>
          </a:lstStyle>
          <a:p>
            <a:fld id="{A5B54B7F-CFD7-42C9-95D8-A751AB99534C}" type="slidenum">
              <a:rPr lang="en-GB"/>
              <a:pPr/>
              <a:t>‹#›</a:t>
            </a:fld>
            <a:endParaRPr lang="en-GB" sz="160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GB"/>
          </a:p>
        </p:txBody>
      </p:sp>
      <p:sp>
        <p:nvSpPr>
          <p:cNvPr id="4" name="Slide Number Placeholder 3"/>
          <p:cNvSpPr>
            <a:spLocks noGrp="1"/>
          </p:cNvSpPr>
          <p:nvPr>
            <p:ph type="sldNum" sz="quarter" idx="11"/>
          </p:nvPr>
        </p:nvSpPr>
        <p:spPr/>
        <p:txBody>
          <a:bodyPr/>
          <a:lstStyle>
            <a:lvl1pPr>
              <a:defRPr/>
            </a:lvl1pPr>
          </a:lstStyle>
          <a:p>
            <a:fld id="{A1B2659F-1AD7-4F14-81C4-ADEDB1B20730}" type="slidenum">
              <a:rPr lang="en-GB"/>
              <a:pPr/>
              <a:t>‹#›</a:t>
            </a:fld>
            <a:endParaRPr lang="en-GB" sz="160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Slide Number Placeholder 2"/>
          <p:cNvSpPr>
            <a:spLocks noGrp="1"/>
          </p:cNvSpPr>
          <p:nvPr>
            <p:ph type="sldNum" sz="quarter" idx="11"/>
          </p:nvPr>
        </p:nvSpPr>
        <p:spPr/>
        <p:txBody>
          <a:bodyPr/>
          <a:lstStyle>
            <a:lvl1pPr>
              <a:defRPr/>
            </a:lvl1pPr>
          </a:lstStyle>
          <a:p>
            <a:fld id="{70B3CE18-A588-438A-818D-D402E37F5853}" type="slidenum">
              <a:rPr lang="en-GB"/>
              <a:pPr/>
              <a:t>‹#›</a:t>
            </a:fld>
            <a:endParaRPr lang="en-GB" sz="16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0100" cy="12858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68750" y="303213"/>
            <a:ext cx="5675313" cy="64817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89088"/>
            <a:ext cx="3340100" cy="51958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E6E5FF68-5D0A-4A29-8164-F5FA0A65DE11}" type="slidenum">
              <a:rPr lang="en-GB"/>
              <a:pPr/>
              <a:t>‹#›</a:t>
            </a:fld>
            <a:endParaRPr lang="en-GB" sz="160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138" y="5318125"/>
            <a:ext cx="6091237" cy="62706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9138" y="679450"/>
            <a:ext cx="6091237" cy="45577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89138" y="5945188"/>
            <a:ext cx="6091237" cy="8921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AE42643D-99CE-49A6-B68E-51ECE14F37DF}" type="slidenum">
              <a:rPr lang="en-GB"/>
              <a:pPr/>
              <a:t>‹#›</a:t>
            </a:fld>
            <a:endParaRPr lang="en-GB" sz="160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77693E4-C871-4A11-9A28-7FDAD6AD934A}" type="slidenum">
              <a:rPr lang="en-GB"/>
              <a:pPr/>
              <a:t>‹#›</a:t>
            </a:fld>
            <a:endParaRPr lang="en-GB" sz="16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3425" y="322263"/>
            <a:ext cx="2155825" cy="6611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11188" y="322263"/>
            <a:ext cx="6319837" cy="66119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E97CBC53-0468-4F6C-80ED-218DC62F935B}" type="slidenum">
              <a:rPr lang="en-GB"/>
              <a:pPr/>
              <a:t>‹#›</a:t>
            </a:fld>
            <a:endParaRPr lang="en-GB" sz="16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11188" y="322263"/>
            <a:ext cx="7237412" cy="1266825"/>
          </a:xfrm>
          <a:prstGeom prst="rect">
            <a:avLst/>
          </a:prstGeom>
          <a:noFill/>
          <a:ln w="9525">
            <a:noFill/>
            <a:miter lim="800000"/>
            <a:headEnd/>
            <a:tailEnd/>
          </a:ln>
          <a:effectLst/>
        </p:spPr>
        <p:txBody>
          <a:bodyPr vert="horz" wrap="square" lIns="101384" tIns="50691" rIns="101384" bIns="50691"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611188" y="1817688"/>
            <a:ext cx="8628062" cy="5116512"/>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4"/>
          <p:cNvSpPr>
            <a:spLocks noGrp="1" noChangeArrowheads="1"/>
          </p:cNvSpPr>
          <p:nvPr>
            <p:ph type="dt" sz="half" idx="2"/>
          </p:nvPr>
        </p:nvSpPr>
        <p:spPr bwMode="auto">
          <a:xfrm>
            <a:off x="611188" y="7016750"/>
            <a:ext cx="2114550" cy="506413"/>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lvl1pPr defTabSz="1014413">
              <a:defRPr sz="1000">
                <a:solidFill>
                  <a:srgbClr val="003399"/>
                </a:solidFill>
              </a:defRPr>
            </a:lvl1pPr>
          </a:lstStyle>
          <a:p>
            <a:endParaRPr lang="en-GB"/>
          </a:p>
        </p:txBody>
      </p:sp>
      <p:sp>
        <p:nvSpPr>
          <p:cNvPr id="1030" name="Rectangle 6"/>
          <p:cNvSpPr>
            <a:spLocks noGrp="1" noChangeArrowheads="1"/>
          </p:cNvSpPr>
          <p:nvPr>
            <p:ph type="sldNum" sz="quarter" idx="4"/>
          </p:nvPr>
        </p:nvSpPr>
        <p:spPr bwMode="auto">
          <a:xfrm>
            <a:off x="7696200" y="7016750"/>
            <a:ext cx="2114550" cy="506413"/>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lvl1pPr algn="r" defTabSz="1014413">
              <a:defRPr sz="1000">
                <a:solidFill>
                  <a:srgbClr val="003399"/>
                </a:solidFill>
              </a:defRPr>
            </a:lvl1pPr>
          </a:lstStyle>
          <a:p>
            <a:fld id="{F354BF72-ACA3-44A4-878A-614A75F1CF45}" type="slidenum">
              <a:rPr lang="en-GB"/>
              <a:pPr/>
              <a:t>‹#›</a:t>
            </a:fld>
            <a:endParaRPr lang="en-GB" sz="1600"/>
          </a:p>
        </p:txBody>
      </p:sp>
      <p:sp>
        <p:nvSpPr>
          <p:cNvPr id="1031" name="Rectangle 7"/>
          <p:cNvSpPr>
            <a:spLocks noChangeArrowheads="1"/>
          </p:cNvSpPr>
          <p:nvPr userDrawn="1"/>
        </p:nvSpPr>
        <p:spPr bwMode="auto">
          <a:xfrm>
            <a:off x="0" y="7319963"/>
            <a:ext cx="10152063" cy="288925"/>
          </a:xfrm>
          <a:prstGeom prst="rect">
            <a:avLst/>
          </a:prstGeom>
          <a:solidFill>
            <a:srgbClr val="003399"/>
          </a:solidFill>
          <a:ln w="9525">
            <a:noFill/>
            <a:miter lim="800000"/>
            <a:headEnd/>
            <a:tailEnd/>
          </a:ln>
          <a:effectLst/>
        </p:spPr>
        <p:txBody>
          <a:bodyPr wrap="none" anchor="ctr"/>
          <a:lstStyle/>
          <a:p>
            <a:endParaRPr lang="en-US"/>
          </a:p>
        </p:txBody>
      </p:sp>
      <p:sp>
        <p:nvSpPr>
          <p:cNvPr id="1032" name="Rectangle 8"/>
          <p:cNvSpPr>
            <a:spLocks noChangeArrowheads="1"/>
          </p:cNvSpPr>
          <p:nvPr userDrawn="1"/>
        </p:nvSpPr>
        <p:spPr bwMode="auto">
          <a:xfrm>
            <a:off x="0" y="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1034" name="Picture 10"/>
          <p:cNvPicPr>
            <a:picLocks noChangeAspect="1" noChangeArrowheads="1"/>
          </p:cNvPicPr>
          <p:nvPr userDrawn="1"/>
        </p:nvPicPr>
        <p:blipFill>
          <a:blip r:embed="rId13"/>
          <a:srcRect/>
          <a:stretch>
            <a:fillRect/>
          </a:stretch>
        </p:blipFill>
        <p:spPr bwMode="auto">
          <a:xfrm>
            <a:off x="8229600" y="431800"/>
            <a:ext cx="1612900" cy="788988"/>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p:titleStyle>
    <p:bodyStyle>
      <a:lvl1pPr algn="l" defTabSz="1014413" rtl="0" fontAlgn="base">
        <a:spcBef>
          <a:spcPct val="20000"/>
        </a:spcBef>
        <a:spcAft>
          <a:spcPct val="0"/>
        </a:spcAft>
        <a:defRPr sz="2500" b="1">
          <a:solidFill>
            <a:srgbClr val="003399"/>
          </a:solidFill>
          <a:latin typeface="+mn-lt"/>
          <a:ea typeface="+mn-ea"/>
          <a:cs typeface="+mn-cs"/>
        </a:defRPr>
      </a:lvl1pPr>
      <a:lvl2pPr marL="374650" indent="6350" algn="l" defTabSz="1014413" rtl="0" fontAlgn="base">
        <a:spcBef>
          <a:spcPct val="20000"/>
        </a:spcBef>
        <a:spcAft>
          <a:spcPct val="0"/>
        </a:spcAft>
        <a:defRPr sz="2600">
          <a:solidFill>
            <a:srgbClr val="003399"/>
          </a:solidFill>
          <a:latin typeface="+mn-lt"/>
        </a:defRPr>
      </a:lvl2pPr>
      <a:lvl3pPr marL="755650" algn="l" defTabSz="1014413" rtl="0" fontAlgn="base">
        <a:spcBef>
          <a:spcPct val="20000"/>
        </a:spcBef>
        <a:spcAft>
          <a:spcPct val="0"/>
        </a:spcAft>
        <a:defRPr sz="2200" b="1">
          <a:solidFill>
            <a:srgbClr val="FF6600"/>
          </a:solidFill>
          <a:latin typeface="+mn-lt"/>
        </a:defRPr>
      </a:lvl3pPr>
      <a:lvl4pPr marL="1143000" indent="6350" algn="l" defTabSz="1014413" rtl="0" fontAlgn="base">
        <a:spcBef>
          <a:spcPct val="20000"/>
        </a:spcBef>
        <a:spcAft>
          <a:spcPct val="0"/>
        </a:spcAft>
        <a:defRPr sz="2200" i="1">
          <a:solidFill>
            <a:srgbClr val="003399"/>
          </a:solidFill>
          <a:latin typeface="+mn-lt"/>
        </a:defRPr>
      </a:lvl4pPr>
      <a:lvl5pPr marL="1524000" algn="l" defTabSz="1014413" rtl="0" fontAlgn="base">
        <a:spcBef>
          <a:spcPct val="20000"/>
        </a:spcBef>
        <a:spcAft>
          <a:spcPct val="0"/>
        </a:spcAft>
        <a:defRPr sz="2000">
          <a:solidFill>
            <a:srgbClr val="003399"/>
          </a:solidFill>
          <a:latin typeface="+mn-lt"/>
        </a:defRPr>
      </a:lvl5pPr>
      <a:lvl6pPr marL="1981200" algn="l" defTabSz="1014413" rtl="0" fontAlgn="base">
        <a:spcBef>
          <a:spcPct val="20000"/>
        </a:spcBef>
        <a:spcAft>
          <a:spcPct val="0"/>
        </a:spcAft>
        <a:defRPr sz="2000">
          <a:solidFill>
            <a:srgbClr val="003399"/>
          </a:solidFill>
          <a:latin typeface="+mn-lt"/>
        </a:defRPr>
      </a:lvl6pPr>
      <a:lvl7pPr marL="2438400" algn="l" defTabSz="1014413" rtl="0" fontAlgn="base">
        <a:spcBef>
          <a:spcPct val="20000"/>
        </a:spcBef>
        <a:spcAft>
          <a:spcPct val="0"/>
        </a:spcAft>
        <a:defRPr sz="2000">
          <a:solidFill>
            <a:srgbClr val="003399"/>
          </a:solidFill>
          <a:latin typeface="+mn-lt"/>
        </a:defRPr>
      </a:lvl7pPr>
      <a:lvl8pPr marL="2895600" algn="l" defTabSz="1014413" rtl="0" fontAlgn="base">
        <a:spcBef>
          <a:spcPct val="20000"/>
        </a:spcBef>
        <a:spcAft>
          <a:spcPct val="0"/>
        </a:spcAft>
        <a:defRPr sz="2000">
          <a:solidFill>
            <a:srgbClr val="003399"/>
          </a:solidFill>
          <a:latin typeface="+mn-lt"/>
        </a:defRPr>
      </a:lvl8pPr>
      <a:lvl9pPr marL="3352800" algn="l" defTabSz="1014413" rtl="0" fontAlgn="base">
        <a:spcBef>
          <a:spcPct val="20000"/>
        </a:spcBef>
        <a:spcAft>
          <a:spcPct val="0"/>
        </a:spcAft>
        <a:defRPr sz="2000">
          <a:solidFill>
            <a:srgbClr val="00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0" y="0"/>
            <a:ext cx="10152063" cy="5486400"/>
          </a:xfrm>
          <a:prstGeom prst="rect">
            <a:avLst/>
          </a:prstGeom>
          <a:solidFill>
            <a:srgbClr val="003399"/>
          </a:solidFill>
          <a:ln w="9525">
            <a:noFill/>
            <a:miter lim="800000"/>
            <a:headEnd/>
            <a:tailEnd/>
          </a:ln>
          <a:effectLst/>
        </p:spPr>
        <p:txBody>
          <a:bodyPr wrap="none" anchor="ctr"/>
          <a:lstStyle/>
          <a:p>
            <a:pPr algn="r"/>
            <a:endParaRPr lang="en-US" dirty="0"/>
          </a:p>
        </p:txBody>
      </p:sp>
      <p:sp>
        <p:nvSpPr>
          <p:cNvPr id="2066" name="Text Box 18"/>
          <p:cNvSpPr txBox="1">
            <a:spLocks noChangeArrowheads="1"/>
          </p:cNvSpPr>
          <p:nvPr/>
        </p:nvSpPr>
        <p:spPr bwMode="auto">
          <a:xfrm>
            <a:off x="792163" y="1055688"/>
            <a:ext cx="8580437" cy="2646109"/>
          </a:xfrm>
          <a:prstGeom prst="rect">
            <a:avLst/>
          </a:prstGeom>
          <a:noFill/>
          <a:ln w="9525">
            <a:noFill/>
            <a:miter lim="800000"/>
            <a:headEnd/>
            <a:tailEnd/>
          </a:ln>
          <a:effectLst/>
        </p:spPr>
        <p:txBody>
          <a:bodyPr>
            <a:spAutoFit/>
          </a:bodyPr>
          <a:lstStyle/>
          <a:p>
            <a:pPr algn="ctr" eaLnBrk="1" hangingPunct="1"/>
            <a:r>
              <a:rPr lang="en-US" sz="3600" dirty="0">
                <a:solidFill>
                  <a:schemeClr val="bg1"/>
                </a:solidFill>
                <a:latin typeface="Arial" charset="0"/>
              </a:rPr>
              <a:t>Lower bounds</a:t>
            </a:r>
          </a:p>
          <a:p>
            <a:pPr algn="ctr" eaLnBrk="1" hangingPunct="1">
              <a:lnSpc>
                <a:spcPct val="70000"/>
              </a:lnSpc>
              <a:spcBef>
                <a:spcPct val="50000"/>
              </a:spcBef>
            </a:pPr>
            <a:endParaRPr lang="en-US" sz="3600" i="1" dirty="0">
              <a:solidFill>
                <a:schemeClr val="bg1"/>
              </a:solidFill>
              <a:latin typeface="Arial" charset="0"/>
            </a:endParaRPr>
          </a:p>
          <a:p>
            <a:pPr algn="ctr" eaLnBrk="1" hangingPunct="1">
              <a:lnSpc>
                <a:spcPct val="70000"/>
              </a:lnSpc>
              <a:spcBef>
                <a:spcPct val="50000"/>
              </a:spcBef>
            </a:pPr>
            <a:r>
              <a:rPr lang="en-US" i="1" dirty="0" err="1">
                <a:solidFill>
                  <a:schemeClr val="bg1"/>
                </a:solidFill>
                <a:latin typeface="Arial" charset="0"/>
              </a:rPr>
              <a:t>Divesh</a:t>
            </a:r>
            <a:r>
              <a:rPr lang="en-US" i="1" dirty="0">
                <a:solidFill>
                  <a:schemeClr val="bg1"/>
                </a:solidFill>
                <a:latin typeface="Arial" charset="0"/>
              </a:rPr>
              <a:t> Aggarwal</a:t>
            </a:r>
          </a:p>
          <a:p>
            <a:pPr algn="ctr" eaLnBrk="1" hangingPunct="1">
              <a:lnSpc>
                <a:spcPct val="70000"/>
              </a:lnSpc>
              <a:spcBef>
                <a:spcPct val="50000"/>
              </a:spcBef>
            </a:pPr>
            <a:r>
              <a:rPr lang="en-US" dirty="0">
                <a:solidFill>
                  <a:schemeClr val="bg1"/>
                </a:solidFill>
                <a:latin typeface="Arial" charset="0"/>
              </a:rPr>
              <a:t>School of Computing</a:t>
            </a:r>
          </a:p>
          <a:p>
            <a:pPr algn="ctr" eaLnBrk="1" hangingPunct="1">
              <a:lnSpc>
                <a:spcPct val="70000"/>
              </a:lnSpc>
              <a:spcBef>
                <a:spcPct val="50000"/>
              </a:spcBef>
            </a:pPr>
            <a:r>
              <a:rPr lang="en-US" dirty="0">
                <a:solidFill>
                  <a:schemeClr val="bg1"/>
                </a:solidFill>
                <a:latin typeface="Arial" charset="0"/>
              </a:rPr>
              <a:t>Department of Computer Science</a:t>
            </a:r>
            <a:endParaRPr lang="en-GB" dirty="0">
              <a:solidFill>
                <a:schemeClr val="bg1"/>
              </a:solidFill>
              <a:latin typeface="Arial" charset="0"/>
            </a:endParaRPr>
          </a:p>
        </p:txBody>
      </p:sp>
      <p:sp>
        <p:nvSpPr>
          <p:cNvPr id="2067" name="Rectangle 19"/>
          <p:cNvSpPr>
            <a:spLocks noChangeArrowheads="1"/>
          </p:cNvSpPr>
          <p:nvPr/>
        </p:nvSpPr>
        <p:spPr bwMode="auto">
          <a:xfrm>
            <a:off x="0" y="731520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2068" name="Picture 20"/>
          <p:cNvPicPr>
            <a:picLocks noChangeAspect="1" noChangeArrowheads="1"/>
          </p:cNvPicPr>
          <p:nvPr/>
        </p:nvPicPr>
        <p:blipFill>
          <a:blip r:embed="rId3"/>
          <a:srcRect/>
          <a:stretch>
            <a:fillRect/>
          </a:stretch>
        </p:blipFill>
        <p:spPr bwMode="auto">
          <a:xfrm>
            <a:off x="3810000" y="5751513"/>
            <a:ext cx="2576513" cy="1258887"/>
          </a:xfrm>
          <a:prstGeom prst="rect">
            <a:avLst/>
          </a:prstGeom>
          <a:noFill/>
        </p:spPr>
      </p:pic>
    </p:spTree>
    <p:extLst>
      <p:ext uri="{BB962C8B-B14F-4D97-AF65-F5344CB8AC3E}">
        <p14:creationId xmlns:p14="http://schemas.microsoft.com/office/powerpoint/2010/main" val="1620220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What is a lower bound?</a:t>
            </a:r>
          </a:p>
        </p:txBody>
      </p:sp>
      <p:pic>
        <p:nvPicPr>
          <p:cNvPr id="4" name="Picture 3">
            <a:extLst>
              <a:ext uri="{FF2B5EF4-FFF2-40B4-BE49-F238E27FC236}">
                <a16:creationId xmlns:a16="http://schemas.microsoft.com/office/drawing/2014/main" id="{CCFFCA35-F548-944A-AE03-CF417F9DE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83494"/>
            <a:ext cx="10096500" cy="1295400"/>
          </a:xfrm>
          <a:prstGeom prst="rect">
            <a:avLst/>
          </a:prstGeom>
        </p:spPr>
      </p:pic>
      <p:pic>
        <p:nvPicPr>
          <p:cNvPr id="8" name="Picture 7">
            <a:extLst>
              <a:ext uri="{FF2B5EF4-FFF2-40B4-BE49-F238E27FC236}">
                <a16:creationId xmlns:a16="http://schemas.microsoft.com/office/drawing/2014/main" id="{C6F0B974-051C-B945-BC42-23964A56FC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 y="3950494"/>
            <a:ext cx="10134600" cy="1219200"/>
          </a:xfrm>
          <a:prstGeom prst="rect">
            <a:avLst/>
          </a:prstGeom>
        </p:spPr>
      </p:pic>
    </p:spTree>
    <p:extLst>
      <p:ext uri="{BB962C8B-B14F-4D97-AF65-F5344CB8AC3E}">
        <p14:creationId xmlns:p14="http://schemas.microsoft.com/office/powerpoint/2010/main" val="155128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Upper bounds vs lower bounds</a:t>
            </a:r>
          </a:p>
        </p:txBody>
      </p:sp>
      <p:pic>
        <p:nvPicPr>
          <p:cNvPr id="3" name="Picture 2">
            <a:extLst>
              <a:ext uri="{FF2B5EF4-FFF2-40B4-BE49-F238E27FC236}">
                <a16:creationId xmlns:a16="http://schemas.microsoft.com/office/drawing/2014/main" id="{782EBD18-E24F-6341-A4D5-DE2FD0F69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7635"/>
            <a:ext cx="10051626" cy="1981200"/>
          </a:xfrm>
          <a:prstGeom prst="rect">
            <a:avLst/>
          </a:prstGeom>
        </p:spPr>
      </p:pic>
      <p:sp>
        <p:nvSpPr>
          <p:cNvPr id="6" name="TextBox 5">
            <a:extLst>
              <a:ext uri="{FF2B5EF4-FFF2-40B4-BE49-F238E27FC236}">
                <a16:creationId xmlns:a16="http://schemas.microsoft.com/office/drawing/2014/main" id="{88932057-A1D0-C74C-95BF-31EC3FB0D869}"/>
              </a:ext>
            </a:extLst>
          </p:cNvPr>
          <p:cNvSpPr txBox="1"/>
          <p:nvPr/>
        </p:nvSpPr>
        <p:spPr>
          <a:xfrm>
            <a:off x="199231" y="1414732"/>
            <a:ext cx="7924800" cy="461665"/>
          </a:xfrm>
          <a:prstGeom prst="rect">
            <a:avLst/>
          </a:prstGeom>
          <a:noFill/>
        </p:spPr>
        <p:txBody>
          <a:bodyPr wrap="square" rtlCol="0">
            <a:spAutoFit/>
          </a:bodyPr>
          <a:lstStyle/>
          <a:p>
            <a:r>
              <a:rPr lang="en-US" b="1" dirty="0">
                <a:latin typeface="+mn-lt"/>
              </a:rPr>
              <a:t>Algorithms research is often about statements like…</a:t>
            </a:r>
          </a:p>
        </p:txBody>
      </p:sp>
      <p:pic>
        <p:nvPicPr>
          <p:cNvPr id="9" name="Picture 8">
            <a:extLst>
              <a:ext uri="{FF2B5EF4-FFF2-40B4-BE49-F238E27FC236}">
                <a16:creationId xmlns:a16="http://schemas.microsoft.com/office/drawing/2014/main" id="{6C82004F-1B71-2E4C-B1A8-B3DDF67AC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74" y="4376426"/>
            <a:ext cx="10096500" cy="673100"/>
          </a:xfrm>
          <a:prstGeom prst="rect">
            <a:avLst/>
          </a:prstGeom>
        </p:spPr>
      </p:pic>
      <p:pic>
        <p:nvPicPr>
          <p:cNvPr id="11" name="Picture 10">
            <a:extLst>
              <a:ext uri="{FF2B5EF4-FFF2-40B4-BE49-F238E27FC236}">
                <a16:creationId xmlns:a16="http://schemas.microsoft.com/office/drawing/2014/main" id="{0FD77632-462B-494F-96E6-F3C5D2D62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74" y="5049526"/>
            <a:ext cx="10033000" cy="939800"/>
          </a:xfrm>
          <a:prstGeom prst="rect">
            <a:avLst/>
          </a:prstGeom>
        </p:spPr>
      </p:pic>
    </p:spTree>
    <p:extLst>
      <p:ext uri="{BB962C8B-B14F-4D97-AF65-F5344CB8AC3E}">
        <p14:creationId xmlns:p14="http://schemas.microsoft.com/office/powerpoint/2010/main" val="22933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Decision tree model</a:t>
            </a:r>
          </a:p>
        </p:txBody>
      </p:sp>
      <p:pic>
        <p:nvPicPr>
          <p:cNvPr id="4" name="Picture 3">
            <a:extLst>
              <a:ext uri="{FF2B5EF4-FFF2-40B4-BE49-F238E27FC236}">
                <a16:creationId xmlns:a16="http://schemas.microsoft.com/office/drawing/2014/main" id="{C9D1BFB0-45BC-3D40-90CC-7D8F81125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3" y="1283494"/>
            <a:ext cx="10096500" cy="977900"/>
          </a:xfrm>
          <a:prstGeom prst="rect">
            <a:avLst/>
          </a:prstGeom>
        </p:spPr>
      </p:pic>
      <p:pic>
        <p:nvPicPr>
          <p:cNvPr id="12" name="Picture 11">
            <a:extLst>
              <a:ext uri="{FF2B5EF4-FFF2-40B4-BE49-F238E27FC236}">
                <a16:creationId xmlns:a16="http://schemas.microsoft.com/office/drawing/2014/main" id="{AFD7492B-F1E1-F842-9D83-105D259095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31" y="3280345"/>
            <a:ext cx="10058400" cy="2184400"/>
          </a:xfrm>
          <a:prstGeom prst="rect">
            <a:avLst/>
          </a:prstGeom>
        </p:spPr>
      </p:pic>
    </p:spTree>
    <p:extLst>
      <p:ext uri="{BB962C8B-B14F-4D97-AF65-F5344CB8AC3E}">
        <p14:creationId xmlns:p14="http://schemas.microsoft.com/office/powerpoint/2010/main" val="100461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Decision tree for the dictionary problem..</a:t>
            </a:r>
          </a:p>
        </p:txBody>
      </p:sp>
      <p:pic>
        <p:nvPicPr>
          <p:cNvPr id="3" name="Picture 2">
            <a:extLst>
              <a:ext uri="{FF2B5EF4-FFF2-40B4-BE49-F238E27FC236}">
                <a16:creationId xmlns:a16="http://schemas.microsoft.com/office/drawing/2014/main" id="{40E43998-DB02-4648-906B-A679FD875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45694"/>
            <a:ext cx="10152063" cy="3206566"/>
          </a:xfrm>
          <a:prstGeom prst="rect">
            <a:avLst/>
          </a:prstGeom>
        </p:spPr>
      </p:pic>
      <p:sp>
        <p:nvSpPr>
          <p:cNvPr id="6" name="TextBox 5">
            <a:extLst>
              <a:ext uri="{FF2B5EF4-FFF2-40B4-BE49-F238E27FC236}">
                <a16:creationId xmlns:a16="http://schemas.microsoft.com/office/drawing/2014/main" id="{280DC9C1-CCFE-6747-9DDA-5D5380C5AB10}"/>
              </a:ext>
            </a:extLst>
          </p:cNvPr>
          <p:cNvSpPr txBox="1"/>
          <p:nvPr/>
        </p:nvSpPr>
        <p:spPr>
          <a:xfrm>
            <a:off x="199231" y="1679764"/>
            <a:ext cx="9601200" cy="1200329"/>
          </a:xfrm>
          <a:prstGeom prst="rect">
            <a:avLst/>
          </a:prstGeom>
          <a:noFill/>
        </p:spPr>
        <p:txBody>
          <a:bodyPr wrap="square" rtlCol="0">
            <a:spAutoFit/>
          </a:bodyPr>
          <a:lstStyle/>
          <a:p>
            <a:r>
              <a:rPr lang="en-SG" dirty="0"/>
              <a:t>Here’s another simple and familiar example, called the dictionary problem. Let A be a fixed sorted array with n numbers. Suppose we want to determine, given a number x, the position of x in the array A, if any.</a:t>
            </a:r>
            <a:endParaRPr lang="en-US" dirty="0"/>
          </a:p>
        </p:txBody>
      </p:sp>
    </p:spTree>
    <p:extLst>
      <p:ext uri="{BB962C8B-B14F-4D97-AF65-F5344CB8AC3E}">
        <p14:creationId xmlns:p14="http://schemas.microsoft.com/office/powerpoint/2010/main" val="1918502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Decision tree for the dictionary problem..</a:t>
            </a:r>
          </a:p>
        </p:txBody>
      </p:sp>
      <p:pic>
        <p:nvPicPr>
          <p:cNvPr id="4" name="Picture 3">
            <a:extLst>
              <a:ext uri="{FF2B5EF4-FFF2-40B4-BE49-F238E27FC236}">
                <a16:creationId xmlns:a16="http://schemas.microsoft.com/office/drawing/2014/main" id="{F07DF92E-979C-8D47-9400-9099A760EC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 y="1281652"/>
            <a:ext cx="10121900" cy="1600200"/>
          </a:xfrm>
          <a:prstGeom prst="rect">
            <a:avLst/>
          </a:prstGeom>
        </p:spPr>
      </p:pic>
      <p:pic>
        <p:nvPicPr>
          <p:cNvPr id="8" name="Picture 7">
            <a:extLst>
              <a:ext uri="{FF2B5EF4-FFF2-40B4-BE49-F238E27FC236}">
                <a16:creationId xmlns:a16="http://schemas.microsoft.com/office/drawing/2014/main" id="{3586E089-6FEA-C64E-B821-AF3D376CC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47" y="4636294"/>
            <a:ext cx="10109200" cy="1257300"/>
          </a:xfrm>
          <a:prstGeom prst="rect">
            <a:avLst/>
          </a:prstGeom>
        </p:spPr>
      </p:pic>
    </p:spTree>
    <p:extLst>
      <p:ext uri="{BB962C8B-B14F-4D97-AF65-F5344CB8AC3E}">
        <p14:creationId xmlns:p14="http://schemas.microsoft.com/office/powerpoint/2010/main" val="7938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The model is crucial..</a:t>
            </a:r>
          </a:p>
        </p:txBody>
      </p:sp>
      <p:pic>
        <p:nvPicPr>
          <p:cNvPr id="3" name="Picture 2">
            <a:extLst>
              <a:ext uri="{FF2B5EF4-FFF2-40B4-BE49-F238E27FC236}">
                <a16:creationId xmlns:a16="http://schemas.microsoft.com/office/drawing/2014/main" id="{4074CFC5-EFE5-5945-B6AF-80D10569F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11" y="1435894"/>
            <a:ext cx="2717800" cy="444500"/>
          </a:xfrm>
          <a:prstGeom prst="rect">
            <a:avLst/>
          </a:prstGeom>
        </p:spPr>
      </p:pic>
      <p:pic>
        <p:nvPicPr>
          <p:cNvPr id="7" name="Picture 6">
            <a:extLst>
              <a:ext uri="{FF2B5EF4-FFF2-40B4-BE49-F238E27FC236}">
                <a16:creationId xmlns:a16="http://schemas.microsoft.com/office/drawing/2014/main" id="{51BD5B2F-E053-5948-B683-F94CC4B99D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43" y="2046767"/>
            <a:ext cx="10071100" cy="635000"/>
          </a:xfrm>
          <a:prstGeom prst="rect">
            <a:avLst/>
          </a:prstGeom>
        </p:spPr>
      </p:pic>
      <p:sp>
        <p:nvSpPr>
          <p:cNvPr id="9" name="TextBox 8">
            <a:extLst>
              <a:ext uri="{FF2B5EF4-FFF2-40B4-BE49-F238E27FC236}">
                <a16:creationId xmlns:a16="http://schemas.microsoft.com/office/drawing/2014/main" id="{0DBDFEDA-0C47-E54A-87D0-7D9AF14ABE59}"/>
              </a:ext>
            </a:extLst>
          </p:cNvPr>
          <p:cNvSpPr txBox="1"/>
          <p:nvPr/>
        </p:nvSpPr>
        <p:spPr>
          <a:xfrm>
            <a:off x="241540" y="3433313"/>
            <a:ext cx="9177891" cy="830997"/>
          </a:xfrm>
          <a:prstGeom prst="rect">
            <a:avLst/>
          </a:prstGeom>
          <a:noFill/>
        </p:spPr>
        <p:txBody>
          <a:bodyPr wrap="square" rtlCol="0">
            <a:spAutoFit/>
          </a:bodyPr>
          <a:lstStyle/>
          <a:p>
            <a:r>
              <a:rPr lang="en-SG" dirty="0"/>
              <a:t>No, it isn’t. The reason is that hashing involves a query with more than a constant number of outcomes, specifically ‘What is the hash value of x?’</a:t>
            </a:r>
            <a:endParaRPr lang="en-US" dirty="0"/>
          </a:p>
        </p:txBody>
      </p:sp>
    </p:spTree>
    <p:extLst>
      <p:ext uri="{BB962C8B-B14F-4D97-AF65-F5344CB8AC3E}">
        <p14:creationId xmlns:p14="http://schemas.microsoft.com/office/powerpoint/2010/main" val="1712139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Sorting lower bound in the decision tree model</a:t>
            </a:r>
          </a:p>
        </p:txBody>
      </p:sp>
      <p:pic>
        <p:nvPicPr>
          <p:cNvPr id="4" name="Picture 3">
            <a:extLst>
              <a:ext uri="{FF2B5EF4-FFF2-40B4-BE49-F238E27FC236}">
                <a16:creationId xmlns:a16="http://schemas.microsoft.com/office/drawing/2014/main" id="{BCF96645-445A-A541-9EEB-982DF8B55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88294"/>
            <a:ext cx="10096500" cy="850900"/>
          </a:xfrm>
          <a:prstGeom prst="rect">
            <a:avLst/>
          </a:prstGeom>
        </p:spPr>
      </p:pic>
      <p:pic>
        <p:nvPicPr>
          <p:cNvPr id="8" name="Picture 7">
            <a:extLst>
              <a:ext uri="{FF2B5EF4-FFF2-40B4-BE49-F238E27FC236}">
                <a16:creationId xmlns:a16="http://schemas.microsoft.com/office/drawing/2014/main" id="{DF882FF7-B753-8046-8A4A-F6BD36BD0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61514"/>
            <a:ext cx="10152063" cy="1873160"/>
          </a:xfrm>
          <a:prstGeom prst="rect">
            <a:avLst/>
          </a:prstGeom>
        </p:spPr>
      </p:pic>
      <p:pic>
        <p:nvPicPr>
          <p:cNvPr id="11" name="Picture 10">
            <a:extLst>
              <a:ext uri="{FF2B5EF4-FFF2-40B4-BE49-F238E27FC236}">
                <a16:creationId xmlns:a16="http://schemas.microsoft.com/office/drawing/2014/main" id="{463BB0A2-F66F-5049-A035-F1A42363B6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231" y="5156994"/>
            <a:ext cx="9194800" cy="1295400"/>
          </a:xfrm>
          <a:prstGeom prst="rect">
            <a:avLst/>
          </a:prstGeom>
        </p:spPr>
      </p:pic>
    </p:spTree>
    <p:extLst>
      <p:ext uri="{BB962C8B-B14F-4D97-AF65-F5344CB8AC3E}">
        <p14:creationId xmlns:p14="http://schemas.microsoft.com/office/powerpoint/2010/main" val="71396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Finding the maximum</a:t>
            </a:r>
          </a:p>
        </p:txBody>
      </p:sp>
      <p:pic>
        <p:nvPicPr>
          <p:cNvPr id="3" name="Picture 2">
            <a:extLst>
              <a:ext uri="{FF2B5EF4-FFF2-40B4-BE49-F238E27FC236}">
                <a16:creationId xmlns:a16="http://schemas.microsoft.com/office/drawing/2014/main" id="{F65A6F4E-6F50-5545-BBCA-77182CA674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7531"/>
            <a:ext cx="10045700" cy="800100"/>
          </a:xfrm>
          <a:prstGeom prst="rect">
            <a:avLst/>
          </a:prstGeom>
        </p:spPr>
      </p:pic>
      <p:pic>
        <p:nvPicPr>
          <p:cNvPr id="7" name="Picture 6">
            <a:extLst>
              <a:ext uri="{FF2B5EF4-FFF2-40B4-BE49-F238E27FC236}">
                <a16:creationId xmlns:a16="http://schemas.microsoft.com/office/drawing/2014/main" id="{F436CCCF-5130-134E-B3AB-73C910189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74094"/>
            <a:ext cx="9182100" cy="393700"/>
          </a:xfrm>
          <a:prstGeom prst="rect">
            <a:avLst/>
          </a:prstGeom>
        </p:spPr>
      </p:pic>
      <p:sp>
        <p:nvSpPr>
          <p:cNvPr id="9" name="TextBox 8">
            <a:extLst>
              <a:ext uri="{FF2B5EF4-FFF2-40B4-BE49-F238E27FC236}">
                <a16:creationId xmlns:a16="http://schemas.microsoft.com/office/drawing/2014/main" id="{7254E711-C30F-3C4F-B3EF-2771884E5405}"/>
              </a:ext>
            </a:extLst>
          </p:cNvPr>
          <p:cNvSpPr txBox="1"/>
          <p:nvPr/>
        </p:nvSpPr>
        <p:spPr>
          <a:xfrm>
            <a:off x="276045" y="3140015"/>
            <a:ext cx="8906055" cy="830997"/>
          </a:xfrm>
          <a:prstGeom prst="rect">
            <a:avLst/>
          </a:prstGeom>
          <a:noFill/>
        </p:spPr>
        <p:txBody>
          <a:bodyPr wrap="square" rtlCol="0">
            <a:spAutoFit/>
          </a:bodyPr>
          <a:lstStyle/>
          <a:p>
            <a:r>
              <a:rPr lang="en-US" dirty="0"/>
              <a:t>The information-theoretic method gives a lower bound of log n. This bound is tight. Why?</a:t>
            </a:r>
          </a:p>
        </p:txBody>
      </p:sp>
      <p:sp>
        <p:nvSpPr>
          <p:cNvPr id="10" name="Rectangle 9">
            <a:extLst>
              <a:ext uri="{FF2B5EF4-FFF2-40B4-BE49-F238E27FC236}">
                <a16:creationId xmlns:a16="http://schemas.microsoft.com/office/drawing/2014/main" id="{B7F3F7A9-2813-0C4E-9C27-552F0FB34158}"/>
              </a:ext>
            </a:extLst>
          </p:cNvPr>
          <p:cNvSpPr/>
          <p:nvPr/>
        </p:nvSpPr>
        <p:spPr>
          <a:xfrm>
            <a:off x="217307" y="4179094"/>
            <a:ext cx="9448800" cy="830997"/>
          </a:xfrm>
          <a:prstGeom prst="rect">
            <a:avLst/>
          </a:prstGeom>
        </p:spPr>
        <p:txBody>
          <a:bodyPr wrap="square">
            <a:spAutoFit/>
          </a:bodyPr>
          <a:lstStyle/>
          <a:p>
            <a:r>
              <a:rPr lang="en-SG" dirty="0"/>
              <a:t>We can locate the maximum element by asking only log n ‘unreasonable’ questions like “Is the index of the maximum element odd?”</a:t>
            </a:r>
            <a:endParaRPr lang="en-US" dirty="0"/>
          </a:p>
        </p:txBody>
      </p:sp>
      <p:sp>
        <p:nvSpPr>
          <p:cNvPr id="12" name="Rectangle 11">
            <a:extLst>
              <a:ext uri="{FF2B5EF4-FFF2-40B4-BE49-F238E27FC236}">
                <a16:creationId xmlns:a16="http://schemas.microsoft.com/office/drawing/2014/main" id="{2C287EAE-8557-3C4A-9B99-8E9221949573}"/>
              </a:ext>
            </a:extLst>
          </p:cNvPr>
          <p:cNvSpPr/>
          <p:nvPr/>
        </p:nvSpPr>
        <p:spPr>
          <a:xfrm>
            <a:off x="199231" y="5287864"/>
            <a:ext cx="9952832" cy="1200329"/>
          </a:xfrm>
          <a:prstGeom prst="rect">
            <a:avLst/>
          </a:prstGeom>
        </p:spPr>
        <p:txBody>
          <a:bodyPr wrap="square">
            <a:spAutoFit/>
          </a:bodyPr>
          <a:lstStyle/>
          <a:p>
            <a:r>
              <a:rPr lang="en-SG" dirty="0"/>
              <a:t>We need to consider a more reasonable model of computation, by restricting the kinds of questions the algorithm is allowed to ask. We will consider the </a:t>
            </a:r>
            <a:r>
              <a:rPr lang="en-SG" b="1" dirty="0"/>
              <a:t>comparison tree model</a:t>
            </a:r>
            <a:r>
              <a:rPr lang="en-SG" dirty="0"/>
              <a:t>, where every query must have the form “Is xi &gt; x j?”.</a:t>
            </a:r>
            <a:endParaRPr lang="en-US" dirty="0"/>
          </a:p>
        </p:txBody>
      </p:sp>
    </p:spTree>
    <p:extLst>
      <p:ext uri="{BB962C8B-B14F-4D97-AF65-F5344CB8AC3E}">
        <p14:creationId xmlns:p14="http://schemas.microsoft.com/office/powerpoint/2010/main" val="143889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We will use the adversary argument</a:t>
            </a:r>
          </a:p>
        </p:txBody>
      </p:sp>
      <p:pic>
        <p:nvPicPr>
          <p:cNvPr id="4" name="Picture 3">
            <a:extLst>
              <a:ext uri="{FF2B5EF4-FFF2-40B4-BE49-F238E27FC236}">
                <a16:creationId xmlns:a16="http://schemas.microsoft.com/office/drawing/2014/main" id="{306B4B75-2EDA-2F4D-A27E-E508A952B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83494"/>
            <a:ext cx="10152063" cy="2503248"/>
          </a:xfrm>
          <a:prstGeom prst="rect">
            <a:avLst/>
          </a:prstGeom>
        </p:spPr>
      </p:pic>
      <p:sp>
        <p:nvSpPr>
          <p:cNvPr id="6" name="TextBox 5">
            <a:extLst>
              <a:ext uri="{FF2B5EF4-FFF2-40B4-BE49-F238E27FC236}">
                <a16:creationId xmlns:a16="http://schemas.microsoft.com/office/drawing/2014/main" id="{F55EB4E8-E032-9347-AFF1-77020794AA1B}"/>
              </a:ext>
            </a:extLst>
          </p:cNvPr>
          <p:cNvSpPr txBox="1"/>
          <p:nvPr/>
        </p:nvSpPr>
        <p:spPr>
          <a:xfrm>
            <a:off x="36768" y="4331494"/>
            <a:ext cx="10152062" cy="1569660"/>
          </a:xfrm>
          <a:prstGeom prst="rect">
            <a:avLst/>
          </a:prstGeom>
          <a:noFill/>
        </p:spPr>
        <p:txBody>
          <a:bodyPr wrap="square" rtlCol="0">
            <a:spAutoFit/>
          </a:bodyPr>
          <a:lstStyle/>
          <a:p>
            <a:r>
              <a:rPr lang="en-SG" dirty="0"/>
              <a:t>For the maximum problem, whenever the adversary reveals that x</a:t>
            </a:r>
            <a:r>
              <a:rPr lang="en-SG" baseline="-25000" dirty="0"/>
              <a:t>i</a:t>
            </a:r>
            <a:r>
              <a:rPr lang="en-SG" dirty="0"/>
              <a:t> &lt; </a:t>
            </a:r>
            <a:r>
              <a:rPr lang="en-SG" dirty="0" err="1"/>
              <a:t>x</a:t>
            </a:r>
            <a:r>
              <a:rPr lang="en-SG" baseline="-25000" dirty="0" err="1"/>
              <a:t>j</a:t>
            </a:r>
            <a:r>
              <a:rPr lang="en-SG" baseline="-25000" dirty="0"/>
              <a:t> </a:t>
            </a:r>
            <a:r>
              <a:rPr lang="en-SG" dirty="0"/>
              <a:t>, he marks x</a:t>
            </a:r>
            <a:r>
              <a:rPr lang="en-SG" baseline="-25000" dirty="0"/>
              <a:t>i</a:t>
            </a:r>
            <a:r>
              <a:rPr lang="en-SG" dirty="0"/>
              <a:t> as an item that the algorithm knows (or should know) is not the maximum element. If there are less than t comparisons, then the algorithm knows that t elements are not maximum. Any other element can be the maximum. </a:t>
            </a:r>
            <a:endParaRPr lang="en-US" dirty="0"/>
          </a:p>
        </p:txBody>
      </p:sp>
      <p:sp>
        <p:nvSpPr>
          <p:cNvPr id="8" name="TextBox 7">
            <a:extLst>
              <a:ext uri="{FF2B5EF4-FFF2-40B4-BE49-F238E27FC236}">
                <a16:creationId xmlns:a16="http://schemas.microsoft.com/office/drawing/2014/main" id="{410732A4-A065-0D4E-A832-5EBBB83DFDD2}"/>
              </a:ext>
            </a:extLst>
          </p:cNvPr>
          <p:cNvSpPr txBox="1"/>
          <p:nvPr/>
        </p:nvSpPr>
        <p:spPr>
          <a:xfrm>
            <a:off x="36768" y="6428249"/>
            <a:ext cx="9839863" cy="461665"/>
          </a:xfrm>
          <a:prstGeom prst="rect">
            <a:avLst/>
          </a:prstGeom>
          <a:noFill/>
        </p:spPr>
        <p:txBody>
          <a:bodyPr wrap="square" rtlCol="0">
            <a:spAutoFit/>
          </a:bodyPr>
          <a:lstStyle/>
          <a:p>
            <a:r>
              <a:rPr lang="en-US" dirty="0"/>
              <a:t>Thus, the algorithm is correct on all inputs if and only if t is at least n-1.</a:t>
            </a:r>
          </a:p>
        </p:txBody>
      </p:sp>
    </p:spTree>
    <p:extLst>
      <p:ext uri="{BB962C8B-B14F-4D97-AF65-F5344CB8AC3E}">
        <p14:creationId xmlns:p14="http://schemas.microsoft.com/office/powerpoint/2010/main" val="126309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The adversary argument</a:t>
            </a:r>
          </a:p>
        </p:txBody>
      </p:sp>
      <p:pic>
        <p:nvPicPr>
          <p:cNvPr id="7" name="Picture 6">
            <a:extLst>
              <a:ext uri="{FF2B5EF4-FFF2-40B4-BE49-F238E27FC236}">
                <a16:creationId xmlns:a16="http://schemas.microsoft.com/office/drawing/2014/main" id="{5B1FC8D0-47ED-7A4C-A638-7D4283013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3" y="1512094"/>
            <a:ext cx="10152063" cy="1897691"/>
          </a:xfrm>
          <a:prstGeom prst="rect">
            <a:avLst/>
          </a:prstGeom>
        </p:spPr>
      </p:pic>
      <p:sp>
        <p:nvSpPr>
          <p:cNvPr id="9" name="TextBox 8">
            <a:extLst>
              <a:ext uri="{FF2B5EF4-FFF2-40B4-BE49-F238E27FC236}">
                <a16:creationId xmlns:a16="http://schemas.microsoft.com/office/drawing/2014/main" id="{686C98BF-ADD7-FB43-A0E3-17EF675FE753}"/>
              </a:ext>
            </a:extLst>
          </p:cNvPr>
          <p:cNvSpPr txBox="1"/>
          <p:nvPr/>
        </p:nvSpPr>
        <p:spPr>
          <a:xfrm>
            <a:off x="500332" y="5451894"/>
            <a:ext cx="9223899" cy="830997"/>
          </a:xfrm>
          <a:prstGeom prst="rect">
            <a:avLst/>
          </a:prstGeom>
          <a:noFill/>
        </p:spPr>
        <p:txBody>
          <a:bodyPr wrap="square" rtlCol="0">
            <a:spAutoFit/>
          </a:bodyPr>
          <a:lstStyle/>
          <a:p>
            <a:r>
              <a:rPr lang="en-US" dirty="0"/>
              <a:t>You might want to look at the adversary arguments chapter from Jeff Erickson’s notes for other examples. </a:t>
            </a:r>
          </a:p>
        </p:txBody>
      </p:sp>
    </p:spTree>
    <p:extLst>
      <p:ext uri="{BB962C8B-B14F-4D97-AF65-F5344CB8AC3E}">
        <p14:creationId xmlns:p14="http://schemas.microsoft.com/office/powerpoint/2010/main" val="53971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0" y="0"/>
            <a:ext cx="10152063" cy="5486400"/>
          </a:xfrm>
          <a:prstGeom prst="rect">
            <a:avLst/>
          </a:prstGeom>
          <a:solidFill>
            <a:srgbClr val="003399"/>
          </a:solidFill>
          <a:ln w="9525">
            <a:noFill/>
            <a:miter lim="800000"/>
            <a:headEnd/>
            <a:tailEnd/>
          </a:ln>
          <a:effectLst/>
        </p:spPr>
        <p:txBody>
          <a:bodyPr wrap="none" anchor="ctr"/>
          <a:lstStyle/>
          <a:p>
            <a:pPr algn="r"/>
            <a:endParaRPr lang="en-US" dirty="0"/>
          </a:p>
        </p:txBody>
      </p:sp>
      <p:sp>
        <p:nvSpPr>
          <p:cNvPr id="2066" name="Text Box 18"/>
          <p:cNvSpPr txBox="1">
            <a:spLocks noChangeArrowheads="1"/>
          </p:cNvSpPr>
          <p:nvPr/>
        </p:nvSpPr>
        <p:spPr bwMode="auto">
          <a:xfrm>
            <a:off x="792163" y="1055688"/>
            <a:ext cx="8580437" cy="2646109"/>
          </a:xfrm>
          <a:prstGeom prst="rect">
            <a:avLst/>
          </a:prstGeom>
          <a:noFill/>
          <a:ln w="9525">
            <a:noFill/>
            <a:miter lim="800000"/>
            <a:headEnd/>
            <a:tailEnd/>
          </a:ln>
          <a:effectLst/>
        </p:spPr>
        <p:txBody>
          <a:bodyPr>
            <a:spAutoFit/>
          </a:bodyPr>
          <a:lstStyle/>
          <a:p>
            <a:pPr algn="ctr" eaLnBrk="1" hangingPunct="1"/>
            <a:r>
              <a:rPr lang="en-US" sz="3600" dirty="0">
                <a:solidFill>
                  <a:schemeClr val="bg1"/>
                </a:solidFill>
                <a:latin typeface="Arial" charset="0"/>
              </a:rPr>
              <a:t>Linear sorting algorithms</a:t>
            </a:r>
          </a:p>
          <a:p>
            <a:pPr algn="ctr" eaLnBrk="1" hangingPunct="1">
              <a:lnSpc>
                <a:spcPct val="70000"/>
              </a:lnSpc>
              <a:spcBef>
                <a:spcPct val="50000"/>
              </a:spcBef>
            </a:pPr>
            <a:endParaRPr lang="en-US" sz="3600" i="1" dirty="0">
              <a:solidFill>
                <a:schemeClr val="bg1"/>
              </a:solidFill>
              <a:latin typeface="Arial" charset="0"/>
            </a:endParaRPr>
          </a:p>
          <a:p>
            <a:pPr algn="ctr" eaLnBrk="1" hangingPunct="1">
              <a:lnSpc>
                <a:spcPct val="70000"/>
              </a:lnSpc>
              <a:spcBef>
                <a:spcPct val="50000"/>
              </a:spcBef>
            </a:pPr>
            <a:r>
              <a:rPr lang="en-US" i="1" dirty="0" err="1">
                <a:solidFill>
                  <a:schemeClr val="bg1"/>
                </a:solidFill>
                <a:latin typeface="Arial" charset="0"/>
              </a:rPr>
              <a:t>Divesh</a:t>
            </a:r>
            <a:r>
              <a:rPr lang="en-US" i="1" dirty="0">
                <a:solidFill>
                  <a:schemeClr val="bg1"/>
                </a:solidFill>
                <a:latin typeface="Arial" charset="0"/>
              </a:rPr>
              <a:t> Aggarwal</a:t>
            </a:r>
          </a:p>
          <a:p>
            <a:pPr algn="ctr" eaLnBrk="1" hangingPunct="1">
              <a:lnSpc>
                <a:spcPct val="70000"/>
              </a:lnSpc>
              <a:spcBef>
                <a:spcPct val="50000"/>
              </a:spcBef>
            </a:pPr>
            <a:r>
              <a:rPr lang="en-US" dirty="0">
                <a:solidFill>
                  <a:schemeClr val="bg1"/>
                </a:solidFill>
                <a:latin typeface="Arial" charset="0"/>
              </a:rPr>
              <a:t>School of Computing</a:t>
            </a:r>
          </a:p>
          <a:p>
            <a:pPr algn="ctr" eaLnBrk="1" hangingPunct="1">
              <a:lnSpc>
                <a:spcPct val="70000"/>
              </a:lnSpc>
              <a:spcBef>
                <a:spcPct val="50000"/>
              </a:spcBef>
            </a:pPr>
            <a:r>
              <a:rPr lang="en-US" dirty="0">
                <a:solidFill>
                  <a:schemeClr val="bg1"/>
                </a:solidFill>
                <a:latin typeface="Arial" charset="0"/>
              </a:rPr>
              <a:t>Department of Computer Science</a:t>
            </a:r>
            <a:endParaRPr lang="en-GB" dirty="0">
              <a:solidFill>
                <a:schemeClr val="bg1"/>
              </a:solidFill>
              <a:latin typeface="Arial" charset="0"/>
            </a:endParaRPr>
          </a:p>
        </p:txBody>
      </p:sp>
      <p:sp>
        <p:nvSpPr>
          <p:cNvPr id="2067" name="Rectangle 19"/>
          <p:cNvSpPr>
            <a:spLocks noChangeArrowheads="1"/>
          </p:cNvSpPr>
          <p:nvPr/>
        </p:nvSpPr>
        <p:spPr bwMode="auto">
          <a:xfrm>
            <a:off x="0" y="731520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2068" name="Picture 20"/>
          <p:cNvPicPr>
            <a:picLocks noChangeAspect="1" noChangeArrowheads="1"/>
          </p:cNvPicPr>
          <p:nvPr/>
        </p:nvPicPr>
        <p:blipFill>
          <a:blip r:embed="rId3"/>
          <a:srcRect/>
          <a:stretch>
            <a:fillRect/>
          </a:stretch>
        </p:blipFill>
        <p:spPr bwMode="auto">
          <a:xfrm>
            <a:off x="3810000" y="5751513"/>
            <a:ext cx="2576513" cy="1258887"/>
          </a:xfrm>
          <a:prstGeom prst="rect">
            <a:avLst/>
          </a:prstGeom>
          <a:noFill/>
        </p:spPr>
      </p:pic>
    </p:spTree>
    <p:extLst>
      <p:ext uri="{BB962C8B-B14F-4D97-AF65-F5344CB8AC3E}">
        <p14:creationId xmlns:p14="http://schemas.microsoft.com/office/powerpoint/2010/main" val="3201693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Counting sort</a:t>
            </a:r>
          </a:p>
        </p:txBody>
      </p:sp>
      <p:pic>
        <p:nvPicPr>
          <p:cNvPr id="3" name="Picture 2">
            <a:extLst>
              <a:ext uri="{FF2B5EF4-FFF2-40B4-BE49-F238E27FC236}">
                <a16:creationId xmlns:a16="http://schemas.microsoft.com/office/drawing/2014/main" id="{5474F17B-A9AC-ED43-8763-007D3A722E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53" y="1435894"/>
            <a:ext cx="8519886" cy="609600"/>
          </a:xfrm>
          <a:prstGeom prst="rect">
            <a:avLst/>
          </a:prstGeom>
        </p:spPr>
      </p:pic>
      <p:pic>
        <p:nvPicPr>
          <p:cNvPr id="6" name="Picture 5">
            <a:extLst>
              <a:ext uri="{FF2B5EF4-FFF2-40B4-BE49-F238E27FC236}">
                <a16:creationId xmlns:a16="http://schemas.microsoft.com/office/drawing/2014/main" id="{3C4ACCE7-E04B-A043-847B-3F8F3024B7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769" y="3716913"/>
            <a:ext cx="8889178" cy="914401"/>
          </a:xfrm>
          <a:prstGeom prst="rect">
            <a:avLst/>
          </a:prstGeom>
        </p:spPr>
      </p:pic>
      <p:pic>
        <p:nvPicPr>
          <p:cNvPr id="10" name="Picture 9">
            <a:extLst>
              <a:ext uri="{FF2B5EF4-FFF2-40B4-BE49-F238E27FC236}">
                <a16:creationId xmlns:a16="http://schemas.microsoft.com/office/drawing/2014/main" id="{1FAB8B55-E6B5-7549-9D58-6E3B95F3B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065" y="4631314"/>
            <a:ext cx="9060225" cy="589535"/>
          </a:xfrm>
          <a:prstGeom prst="rect">
            <a:avLst/>
          </a:prstGeom>
        </p:spPr>
      </p:pic>
    </p:spTree>
    <p:extLst>
      <p:ext uri="{BB962C8B-B14F-4D97-AF65-F5344CB8AC3E}">
        <p14:creationId xmlns:p14="http://schemas.microsoft.com/office/powerpoint/2010/main" val="139214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Counting sort</a:t>
            </a:r>
          </a:p>
        </p:txBody>
      </p:sp>
      <p:pic>
        <p:nvPicPr>
          <p:cNvPr id="4" name="Picture 3">
            <a:extLst>
              <a:ext uri="{FF2B5EF4-FFF2-40B4-BE49-F238E27FC236}">
                <a16:creationId xmlns:a16="http://schemas.microsoft.com/office/drawing/2014/main" id="{42E9A9C7-FA7F-2F47-9EA5-48B347479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1131094"/>
            <a:ext cx="9693982" cy="3276600"/>
          </a:xfrm>
          <a:prstGeom prst="rect">
            <a:avLst/>
          </a:prstGeom>
        </p:spPr>
      </p:pic>
      <p:pic>
        <p:nvPicPr>
          <p:cNvPr id="11" name="Picture 10">
            <a:extLst>
              <a:ext uri="{FF2B5EF4-FFF2-40B4-BE49-F238E27FC236}">
                <a16:creationId xmlns:a16="http://schemas.microsoft.com/office/drawing/2014/main" id="{6A3B939C-D1F7-EE49-BB56-AA8F298ED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31" y="5255554"/>
            <a:ext cx="9676990" cy="1504950"/>
          </a:xfrm>
          <a:prstGeom prst="rect">
            <a:avLst/>
          </a:prstGeom>
        </p:spPr>
      </p:pic>
    </p:spTree>
    <p:extLst>
      <p:ext uri="{BB962C8B-B14F-4D97-AF65-F5344CB8AC3E}">
        <p14:creationId xmlns:p14="http://schemas.microsoft.com/office/powerpoint/2010/main" val="3586974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Counting sort</a:t>
            </a:r>
          </a:p>
        </p:txBody>
      </p:sp>
      <p:pic>
        <p:nvPicPr>
          <p:cNvPr id="7" name="Picture 6">
            <a:extLst>
              <a:ext uri="{FF2B5EF4-FFF2-40B4-BE49-F238E27FC236}">
                <a16:creationId xmlns:a16="http://schemas.microsoft.com/office/drawing/2014/main" id="{AC7E56F3-A749-4C4C-AD66-CA0B2F968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831" y="1054894"/>
            <a:ext cx="8786368" cy="3581400"/>
          </a:xfrm>
          <a:prstGeom prst="rect">
            <a:avLst/>
          </a:prstGeom>
        </p:spPr>
      </p:pic>
      <p:pic>
        <p:nvPicPr>
          <p:cNvPr id="9" name="Picture 8">
            <a:extLst>
              <a:ext uri="{FF2B5EF4-FFF2-40B4-BE49-F238E27FC236}">
                <a16:creationId xmlns:a16="http://schemas.microsoft.com/office/drawing/2014/main" id="{9AB491EE-D71B-0541-8B29-C253B905FC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012" y="4795044"/>
            <a:ext cx="9781206" cy="1593850"/>
          </a:xfrm>
          <a:prstGeom prst="rect">
            <a:avLst/>
          </a:prstGeom>
        </p:spPr>
      </p:pic>
    </p:spTree>
    <p:extLst>
      <p:ext uri="{BB962C8B-B14F-4D97-AF65-F5344CB8AC3E}">
        <p14:creationId xmlns:p14="http://schemas.microsoft.com/office/powerpoint/2010/main" val="2571010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Radix sort</a:t>
            </a:r>
          </a:p>
        </p:txBody>
      </p:sp>
      <p:pic>
        <p:nvPicPr>
          <p:cNvPr id="3" name="Picture 2">
            <a:extLst>
              <a:ext uri="{FF2B5EF4-FFF2-40B4-BE49-F238E27FC236}">
                <a16:creationId xmlns:a16="http://schemas.microsoft.com/office/drawing/2014/main" id="{B2F251EA-EE45-DE4A-A282-1ED39A128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231" y="1131094"/>
            <a:ext cx="533400" cy="1828800"/>
          </a:xfrm>
          <a:prstGeom prst="rect">
            <a:avLst/>
          </a:prstGeom>
        </p:spPr>
      </p:pic>
      <p:sp>
        <p:nvSpPr>
          <p:cNvPr id="4" name="TextBox 3">
            <a:extLst>
              <a:ext uri="{FF2B5EF4-FFF2-40B4-BE49-F238E27FC236}">
                <a16:creationId xmlns:a16="http://schemas.microsoft.com/office/drawing/2014/main" id="{E43C99B2-6051-754A-BA5F-A05F7B7E91BA}"/>
              </a:ext>
            </a:extLst>
          </p:cNvPr>
          <p:cNvSpPr txBox="1"/>
          <p:nvPr/>
        </p:nvSpPr>
        <p:spPr>
          <a:xfrm>
            <a:off x="1924050" y="1409700"/>
            <a:ext cx="7977697" cy="1200329"/>
          </a:xfrm>
          <a:prstGeom prst="rect">
            <a:avLst/>
          </a:prstGeom>
          <a:noFill/>
        </p:spPr>
        <p:txBody>
          <a:bodyPr wrap="none" rtlCol="0">
            <a:spAutoFit/>
          </a:bodyPr>
          <a:lstStyle/>
          <a:p>
            <a:r>
              <a:rPr lang="en-US" dirty="0"/>
              <a:t>Intuitively, one might want to sort numbers based on their most</a:t>
            </a:r>
          </a:p>
          <a:p>
            <a:r>
              <a:rPr lang="en-US" dirty="0"/>
              <a:t>significant bit and then recursively sort based on the next </a:t>
            </a:r>
          </a:p>
          <a:p>
            <a:r>
              <a:rPr lang="en-US" dirty="0"/>
              <a:t>significant digit, etc.</a:t>
            </a:r>
          </a:p>
        </p:txBody>
      </p:sp>
      <p:sp>
        <p:nvSpPr>
          <p:cNvPr id="6" name="TextBox 5">
            <a:extLst>
              <a:ext uri="{FF2B5EF4-FFF2-40B4-BE49-F238E27FC236}">
                <a16:creationId xmlns:a16="http://schemas.microsoft.com/office/drawing/2014/main" id="{BBE14645-558D-624D-85A1-400657B8BA10}"/>
              </a:ext>
            </a:extLst>
          </p:cNvPr>
          <p:cNvSpPr txBox="1"/>
          <p:nvPr/>
        </p:nvSpPr>
        <p:spPr>
          <a:xfrm>
            <a:off x="2095500" y="2895600"/>
            <a:ext cx="7806247" cy="830997"/>
          </a:xfrm>
          <a:prstGeom prst="rect">
            <a:avLst/>
          </a:prstGeom>
          <a:noFill/>
        </p:spPr>
        <p:txBody>
          <a:bodyPr wrap="square" rtlCol="0">
            <a:spAutoFit/>
          </a:bodyPr>
          <a:lstStyle/>
          <a:p>
            <a:r>
              <a:rPr lang="en-US" dirty="0"/>
              <a:t>However, this would require maintaining 10 different list of numbers (assuming numbers are in decimal notation)</a:t>
            </a:r>
          </a:p>
        </p:txBody>
      </p:sp>
      <p:sp>
        <p:nvSpPr>
          <p:cNvPr id="8" name="TextBox 7">
            <a:extLst>
              <a:ext uri="{FF2B5EF4-FFF2-40B4-BE49-F238E27FC236}">
                <a16:creationId xmlns:a16="http://schemas.microsoft.com/office/drawing/2014/main" id="{B0D6962A-484E-EF49-B9DC-D52BC4EA1630}"/>
              </a:ext>
            </a:extLst>
          </p:cNvPr>
          <p:cNvSpPr txBox="1"/>
          <p:nvPr/>
        </p:nvSpPr>
        <p:spPr>
          <a:xfrm>
            <a:off x="342900" y="4343400"/>
            <a:ext cx="9076531" cy="830997"/>
          </a:xfrm>
          <a:prstGeom prst="rect">
            <a:avLst/>
          </a:prstGeom>
          <a:noFill/>
        </p:spPr>
        <p:txBody>
          <a:bodyPr wrap="square" rtlCol="0">
            <a:spAutoFit/>
          </a:bodyPr>
          <a:lstStyle/>
          <a:p>
            <a:r>
              <a:rPr lang="en-SG" dirty="0"/>
              <a:t>Radix sort solves the problem of card sorting counterintuitively by sorting on the </a:t>
            </a:r>
            <a:r>
              <a:rPr lang="en-SG" b="1" i="1" dirty="0"/>
              <a:t>least significant </a:t>
            </a:r>
            <a:r>
              <a:rPr lang="en-SG" dirty="0"/>
              <a:t>digit first</a:t>
            </a:r>
            <a:endParaRPr lang="en-US" dirty="0"/>
          </a:p>
        </p:txBody>
      </p:sp>
    </p:spTree>
    <p:extLst>
      <p:ext uri="{BB962C8B-B14F-4D97-AF65-F5344CB8AC3E}">
        <p14:creationId xmlns:p14="http://schemas.microsoft.com/office/powerpoint/2010/main" val="4131753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Radix sort</a:t>
            </a:r>
          </a:p>
        </p:txBody>
      </p:sp>
      <p:pic>
        <p:nvPicPr>
          <p:cNvPr id="7" name="Picture 6">
            <a:extLst>
              <a:ext uri="{FF2B5EF4-FFF2-40B4-BE49-F238E27FC236}">
                <a16:creationId xmlns:a16="http://schemas.microsoft.com/office/drawing/2014/main" id="{9D593ABD-01CD-304A-AF5F-EE3117D6C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831" y="1435894"/>
            <a:ext cx="6624320" cy="3048000"/>
          </a:xfrm>
          <a:prstGeom prst="rect">
            <a:avLst/>
          </a:prstGeom>
        </p:spPr>
      </p:pic>
      <p:sp>
        <p:nvSpPr>
          <p:cNvPr id="9" name="TextBox 8">
            <a:extLst>
              <a:ext uri="{FF2B5EF4-FFF2-40B4-BE49-F238E27FC236}">
                <a16:creationId xmlns:a16="http://schemas.microsoft.com/office/drawing/2014/main" id="{69608BF3-B66A-9D4B-A199-B04B8B5D2866}"/>
              </a:ext>
            </a:extLst>
          </p:cNvPr>
          <p:cNvSpPr txBox="1"/>
          <p:nvPr/>
        </p:nvSpPr>
        <p:spPr>
          <a:xfrm>
            <a:off x="427831" y="4941094"/>
            <a:ext cx="8981281" cy="1200329"/>
          </a:xfrm>
          <a:prstGeom prst="rect">
            <a:avLst/>
          </a:prstGeom>
          <a:noFill/>
        </p:spPr>
        <p:txBody>
          <a:bodyPr wrap="square" rtlCol="0">
            <a:spAutoFit/>
          </a:bodyPr>
          <a:lstStyle/>
          <a:p>
            <a:r>
              <a:rPr lang="en-US" dirty="0"/>
              <a:t>For d-digit numbers, we need d counting sort operations. The only requirement is that the counting sort algorithm is stable, i.e., equal elements’ doesn’t change while sorting.</a:t>
            </a:r>
          </a:p>
        </p:txBody>
      </p:sp>
      <p:sp>
        <p:nvSpPr>
          <p:cNvPr id="11" name="TextBox 10">
            <a:extLst>
              <a:ext uri="{FF2B5EF4-FFF2-40B4-BE49-F238E27FC236}">
                <a16:creationId xmlns:a16="http://schemas.microsoft.com/office/drawing/2014/main" id="{E981A9B3-DBF0-B34F-9A41-0B1D620CE7FE}"/>
              </a:ext>
            </a:extLst>
          </p:cNvPr>
          <p:cNvSpPr txBox="1"/>
          <p:nvPr/>
        </p:nvSpPr>
        <p:spPr>
          <a:xfrm>
            <a:off x="514350" y="6477000"/>
            <a:ext cx="8894762" cy="461665"/>
          </a:xfrm>
          <a:prstGeom prst="rect">
            <a:avLst/>
          </a:prstGeom>
          <a:noFill/>
        </p:spPr>
        <p:txBody>
          <a:bodyPr wrap="square" rtlCol="0">
            <a:spAutoFit/>
          </a:bodyPr>
          <a:lstStyle/>
          <a:p>
            <a:r>
              <a:rPr lang="en-US" dirty="0"/>
              <a:t>The algorithm is straightforward and runs in time O(d(</a:t>
            </a:r>
            <a:r>
              <a:rPr lang="en-US" dirty="0" err="1"/>
              <a:t>n+k</a:t>
            </a:r>
            <a:r>
              <a:rPr lang="en-US" dirty="0"/>
              <a:t>))</a:t>
            </a:r>
          </a:p>
        </p:txBody>
      </p:sp>
    </p:spTree>
    <p:extLst>
      <p:ext uri="{BB962C8B-B14F-4D97-AF65-F5344CB8AC3E}">
        <p14:creationId xmlns:p14="http://schemas.microsoft.com/office/powerpoint/2010/main" val="148568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Bucket sort</a:t>
            </a:r>
          </a:p>
        </p:txBody>
      </p:sp>
      <p:sp>
        <p:nvSpPr>
          <p:cNvPr id="2" name="Rectangle 1">
            <a:extLst>
              <a:ext uri="{FF2B5EF4-FFF2-40B4-BE49-F238E27FC236}">
                <a16:creationId xmlns:a16="http://schemas.microsoft.com/office/drawing/2014/main" id="{E77CA00F-7FBF-3B48-87FC-EE3A2B5419A0}"/>
              </a:ext>
            </a:extLst>
          </p:cNvPr>
          <p:cNvSpPr/>
          <p:nvPr/>
        </p:nvSpPr>
        <p:spPr>
          <a:xfrm>
            <a:off x="207962" y="1290638"/>
            <a:ext cx="9448800" cy="2308324"/>
          </a:xfrm>
          <a:prstGeom prst="rect">
            <a:avLst/>
          </a:prstGeom>
        </p:spPr>
        <p:txBody>
          <a:bodyPr wrap="square">
            <a:spAutoFit/>
          </a:bodyPr>
          <a:lstStyle/>
          <a:p>
            <a:r>
              <a:rPr lang="en-SG" dirty="0"/>
              <a:t>Bucket sort runs in linear time when the input is drawn from a uniform distribution. Like counting sort, bucket sort is fast because it assumes something about the input. Whereas counting sort assumes that the input consists of integers in a small range, bucket sort assumes that the input is generated by a random process that distributes elements uniformly over the interval [0, 1).</a:t>
            </a:r>
            <a:endParaRPr lang="en-US" dirty="0"/>
          </a:p>
        </p:txBody>
      </p:sp>
      <p:sp>
        <p:nvSpPr>
          <p:cNvPr id="3" name="Rectangle 2">
            <a:extLst>
              <a:ext uri="{FF2B5EF4-FFF2-40B4-BE49-F238E27FC236}">
                <a16:creationId xmlns:a16="http://schemas.microsoft.com/office/drawing/2014/main" id="{381421D5-0B5C-C84C-B0C9-DCCD54C9D078}"/>
              </a:ext>
            </a:extLst>
          </p:cNvPr>
          <p:cNvSpPr/>
          <p:nvPr/>
        </p:nvSpPr>
        <p:spPr>
          <a:xfrm>
            <a:off x="235743" y="4636294"/>
            <a:ext cx="8982869" cy="2308324"/>
          </a:xfrm>
          <a:prstGeom prst="rect">
            <a:avLst/>
          </a:prstGeom>
        </p:spPr>
        <p:txBody>
          <a:bodyPr wrap="square">
            <a:spAutoFit/>
          </a:bodyPr>
          <a:lstStyle/>
          <a:p>
            <a:r>
              <a:rPr lang="en-SG" dirty="0"/>
              <a:t>The idea of bucket sort is to divide the interval [0, 1) into n equal-sized subintervals, or buckets, and then distribute the n input numbers into the buckets. Since the inputs are uniformly distributed over [0, 1), we don't expect many numbers to fall into each bucket. To produce the output, we simply sort the numbers in each bucket and then go through the buckets in order, listing the elements in each. </a:t>
            </a:r>
            <a:endParaRPr lang="en-US" dirty="0"/>
          </a:p>
        </p:txBody>
      </p:sp>
    </p:spTree>
    <p:extLst>
      <p:ext uri="{BB962C8B-B14F-4D97-AF65-F5344CB8AC3E}">
        <p14:creationId xmlns:p14="http://schemas.microsoft.com/office/powerpoint/2010/main" val="78413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Bucket sort</a:t>
            </a:r>
          </a:p>
        </p:txBody>
      </p:sp>
      <p:pic>
        <p:nvPicPr>
          <p:cNvPr id="6" name="Picture 5">
            <a:extLst>
              <a:ext uri="{FF2B5EF4-FFF2-40B4-BE49-F238E27FC236}">
                <a16:creationId xmlns:a16="http://schemas.microsoft.com/office/drawing/2014/main" id="{7CED28CD-80B8-3042-BEBE-6AD7B86642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961" y="1131094"/>
            <a:ext cx="9431867" cy="1981200"/>
          </a:xfrm>
          <a:prstGeom prst="rect">
            <a:avLst/>
          </a:prstGeom>
        </p:spPr>
      </p:pic>
      <p:pic>
        <p:nvPicPr>
          <p:cNvPr id="8" name="Picture 7">
            <a:extLst>
              <a:ext uri="{FF2B5EF4-FFF2-40B4-BE49-F238E27FC236}">
                <a16:creationId xmlns:a16="http://schemas.microsoft.com/office/drawing/2014/main" id="{BCEE297B-EF2E-DD4E-86FB-0934A7147F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4231" y="3540321"/>
            <a:ext cx="4838700" cy="3623964"/>
          </a:xfrm>
          <a:prstGeom prst="rect">
            <a:avLst/>
          </a:prstGeom>
        </p:spPr>
      </p:pic>
    </p:spTree>
    <p:extLst>
      <p:ext uri="{BB962C8B-B14F-4D97-AF65-F5344CB8AC3E}">
        <p14:creationId xmlns:p14="http://schemas.microsoft.com/office/powerpoint/2010/main" val="353964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Bucket sort</a:t>
            </a:r>
          </a:p>
        </p:txBody>
      </p:sp>
      <p:pic>
        <p:nvPicPr>
          <p:cNvPr id="7" name="Picture 6">
            <a:extLst>
              <a:ext uri="{FF2B5EF4-FFF2-40B4-BE49-F238E27FC236}">
                <a16:creationId xmlns:a16="http://schemas.microsoft.com/office/drawing/2014/main" id="{76ADB8A0-0452-9D45-B858-D55050E24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30" y="1283494"/>
            <a:ext cx="9226122" cy="3505200"/>
          </a:xfrm>
          <a:prstGeom prst="rect">
            <a:avLst/>
          </a:prstGeom>
        </p:spPr>
      </p:pic>
      <p:pic>
        <p:nvPicPr>
          <p:cNvPr id="10" name="Picture 9">
            <a:extLst>
              <a:ext uri="{FF2B5EF4-FFF2-40B4-BE49-F238E27FC236}">
                <a16:creationId xmlns:a16="http://schemas.microsoft.com/office/drawing/2014/main" id="{ED6DA015-229D-B34B-B72D-DB4E320506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010" y="5005388"/>
            <a:ext cx="3135021" cy="903963"/>
          </a:xfrm>
          <a:prstGeom prst="rect">
            <a:avLst/>
          </a:prstGeom>
        </p:spPr>
      </p:pic>
      <p:sp>
        <p:nvSpPr>
          <p:cNvPr id="11" name="TextBox 10">
            <a:extLst>
              <a:ext uri="{FF2B5EF4-FFF2-40B4-BE49-F238E27FC236}">
                <a16:creationId xmlns:a16="http://schemas.microsoft.com/office/drawing/2014/main" id="{1C149D44-0B46-A64F-9397-0609012F6543}"/>
              </a:ext>
            </a:extLst>
          </p:cNvPr>
          <p:cNvSpPr txBox="1"/>
          <p:nvPr/>
        </p:nvSpPr>
        <p:spPr>
          <a:xfrm>
            <a:off x="741361" y="6541294"/>
            <a:ext cx="8229601" cy="461665"/>
          </a:xfrm>
          <a:prstGeom prst="rect">
            <a:avLst/>
          </a:prstGeom>
          <a:noFill/>
        </p:spPr>
        <p:txBody>
          <a:bodyPr wrap="square" rtlCol="0">
            <a:spAutoFit/>
          </a:bodyPr>
          <a:lstStyle/>
          <a:p>
            <a:r>
              <a:rPr lang="en-US" dirty="0"/>
              <a:t>E[n</a:t>
            </a:r>
            <a:r>
              <a:rPr lang="en-US" baseline="-25000" dirty="0"/>
              <a:t>i</a:t>
            </a:r>
            <a:r>
              <a:rPr lang="en-US" baseline="30000" dirty="0"/>
              <a:t>2</a:t>
            </a:r>
            <a:r>
              <a:rPr lang="en-US" dirty="0"/>
              <a:t>] = 2 – 1/n    (Exercise!)</a:t>
            </a:r>
            <a:endParaRPr lang="en-US" baseline="-25000" dirty="0"/>
          </a:p>
        </p:txBody>
      </p:sp>
    </p:spTree>
    <p:extLst>
      <p:ext uri="{BB962C8B-B14F-4D97-AF65-F5344CB8AC3E}">
        <p14:creationId xmlns:p14="http://schemas.microsoft.com/office/powerpoint/2010/main" val="3648918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0" y="0"/>
            <a:ext cx="10152063" cy="5486400"/>
          </a:xfrm>
          <a:prstGeom prst="rect">
            <a:avLst/>
          </a:prstGeom>
          <a:solidFill>
            <a:srgbClr val="003399"/>
          </a:solidFill>
          <a:ln w="9525">
            <a:noFill/>
            <a:miter lim="800000"/>
            <a:headEnd/>
            <a:tailEnd/>
          </a:ln>
          <a:effectLst/>
        </p:spPr>
        <p:txBody>
          <a:bodyPr wrap="none" anchor="ctr"/>
          <a:lstStyle/>
          <a:p>
            <a:pPr algn="r"/>
            <a:endParaRPr lang="en-US" dirty="0"/>
          </a:p>
        </p:txBody>
      </p:sp>
      <p:sp>
        <p:nvSpPr>
          <p:cNvPr id="2066" name="Text Box 18"/>
          <p:cNvSpPr txBox="1">
            <a:spLocks noChangeArrowheads="1"/>
          </p:cNvSpPr>
          <p:nvPr/>
        </p:nvSpPr>
        <p:spPr bwMode="auto">
          <a:xfrm>
            <a:off x="792163" y="1055688"/>
            <a:ext cx="8580437" cy="2646109"/>
          </a:xfrm>
          <a:prstGeom prst="rect">
            <a:avLst/>
          </a:prstGeom>
          <a:noFill/>
          <a:ln w="9525">
            <a:noFill/>
            <a:miter lim="800000"/>
            <a:headEnd/>
            <a:tailEnd/>
          </a:ln>
          <a:effectLst/>
        </p:spPr>
        <p:txBody>
          <a:bodyPr>
            <a:spAutoFit/>
          </a:bodyPr>
          <a:lstStyle/>
          <a:p>
            <a:pPr algn="ctr" eaLnBrk="1" hangingPunct="1"/>
            <a:r>
              <a:rPr lang="en-US" sz="3600" dirty="0">
                <a:solidFill>
                  <a:schemeClr val="bg1"/>
                </a:solidFill>
                <a:latin typeface="Arial" charset="0"/>
              </a:rPr>
              <a:t>Amortized analysis</a:t>
            </a:r>
          </a:p>
          <a:p>
            <a:pPr algn="ctr" eaLnBrk="1" hangingPunct="1">
              <a:lnSpc>
                <a:spcPct val="70000"/>
              </a:lnSpc>
              <a:spcBef>
                <a:spcPct val="50000"/>
              </a:spcBef>
            </a:pPr>
            <a:endParaRPr lang="en-US" sz="3600" i="1" dirty="0">
              <a:solidFill>
                <a:schemeClr val="bg1"/>
              </a:solidFill>
              <a:latin typeface="Arial" charset="0"/>
            </a:endParaRPr>
          </a:p>
          <a:p>
            <a:pPr algn="ctr" eaLnBrk="1" hangingPunct="1">
              <a:lnSpc>
                <a:spcPct val="70000"/>
              </a:lnSpc>
              <a:spcBef>
                <a:spcPct val="50000"/>
              </a:spcBef>
            </a:pPr>
            <a:r>
              <a:rPr lang="en-US" i="1" dirty="0" err="1">
                <a:solidFill>
                  <a:schemeClr val="bg1"/>
                </a:solidFill>
                <a:latin typeface="Arial" charset="0"/>
              </a:rPr>
              <a:t>Divesh</a:t>
            </a:r>
            <a:r>
              <a:rPr lang="en-US" i="1" dirty="0">
                <a:solidFill>
                  <a:schemeClr val="bg1"/>
                </a:solidFill>
                <a:latin typeface="Arial" charset="0"/>
              </a:rPr>
              <a:t> Aggarwal</a:t>
            </a:r>
          </a:p>
          <a:p>
            <a:pPr algn="ctr" eaLnBrk="1" hangingPunct="1">
              <a:lnSpc>
                <a:spcPct val="70000"/>
              </a:lnSpc>
              <a:spcBef>
                <a:spcPct val="50000"/>
              </a:spcBef>
            </a:pPr>
            <a:r>
              <a:rPr lang="en-US" dirty="0">
                <a:solidFill>
                  <a:schemeClr val="bg1"/>
                </a:solidFill>
                <a:latin typeface="Arial" charset="0"/>
              </a:rPr>
              <a:t>School of Computing</a:t>
            </a:r>
          </a:p>
          <a:p>
            <a:pPr algn="ctr" eaLnBrk="1" hangingPunct="1">
              <a:lnSpc>
                <a:spcPct val="70000"/>
              </a:lnSpc>
              <a:spcBef>
                <a:spcPct val="50000"/>
              </a:spcBef>
            </a:pPr>
            <a:r>
              <a:rPr lang="en-US" dirty="0">
                <a:solidFill>
                  <a:schemeClr val="bg1"/>
                </a:solidFill>
                <a:latin typeface="Arial" charset="0"/>
              </a:rPr>
              <a:t>Department of Computer Science</a:t>
            </a:r>
            <a:endParaRPr lang="en-GB" dirty="0">
              <a:solidFill>
                <a:schemeClr val="bg1"/>
              </a:solidFill>
              <a:latin typeface="Arial" charset="0"/>
            </a:endParaRPr>
          </a:p>
        </p:txBody>
      </p:sp>
      <p:sp>
        <p:nvSpPr>
          <p:cNvPr id="2067" name="Rectangle 19"/>
          <p:cNvSpPr>
            <a:spLocks noChangeArrowheads="1"/>
          </p:cNvSpPr>
          <p:nvPr/>
        </p:nvSpPr>
        <p:spPr bwMode="auto">
          <a:xfrm>
            <a:off x="0" y="731520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2068" name="Picture 20"/>
          <p:cNvPicPr>
            <a:picLocks noChangeAspect="1" noChangeArrowheads="1"/>
          </p:cNvPicPr>
          <p:nvPr/>
        </p:nvPicPr>
        <p:blipFill>
          <a:blip r:embed="rId3"/>
          <a:srcRect/>
          <a:stretch>
            <a:fillRect/>
          </a:stretch>
        </p:blipFill>
        <p:spPr bwMode="auto">
          <a:xfrm>
            <a:off x="3810000" y="5751513"/>
            <a:ext cx="2576513" cy="1258887"/>
          </a:xfrm>
          <a:prstGeom prst="rect">
            <a:avLst/>
          </a:prstGeom>
          <a:noFill/>
        </p:spPr>
      </p:pic>
    </p:spTree>
    <p:extLst>
      <p:ext uri="{BB962C8B-B14F-4D97-AF65-F5344CB8AC3E}">
        <p14:creationId xmlns:p14="http://schemas.microsoft.com/office/powerpoint/2010/main" val="3426354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Incrementing a binary counter</a:t>
            </a:r>
          </a:p>
        </p:txBody>
      </p:sp>
      <p:pic>
        <p:nvPicPr>
          <p:cNvPr id="3" name="Picture 2">
            <a:extLst>
              <a:ext uri="{FF2B5EF4-FFF2-40B4-BE49-F238E27FC236}">
                <a16:creationId xmlns:a16="http://schemas.microsoft.com/office/drawing/2014/main" id="{23BC99EF-3A26-CD44-A053-8C178FF57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431" y="2502694"/>
            <a:ext cx="3686861" cy="2438400"/>
          </a:xfrm>
          <a:prstGeom prst="rect">
            <a:avLst/>
          </a:prstGeom>
        </p:spPr>
      </p:pic>
      <p:sp>
        <p:nvSpPr>
          <p:cNvPr id="4" name="TextBox 3">
            <a:extLst>
              <a:ext uri="{FF2B5EF4-FFF2-40B4-BE49-F238E27FC236}">
                <a16:creationId xmlns:a16="http://schemas.microsoft.com/office/drawing/2014/main" id="{286F8879-7041-CA4C-A0F7-A07AE98791EB}"/>
              </a:ext>
            </a:extLst>
          </p:cNvPr>
          <p:cNvSpPr txBox="1"/>
          <p:nvPr/>
        </p:nvSpPr>
        <p:spPr>
          <a:xfrm>
            <a:off x="199231" y="1271409"/>
            <a:ext cx="9525000" cy="830997"/>
          </a:xfrm>
          <a:prstGeom prst="rect">
            <a:avLst/>
          </a:prstGeom>
          <a:noFill/>
        </p:spPr>
        <p:txBody>
          <a:bodyPr wrap="square" rtlCol="0">
            <a:spAutoFit/>
          </a:bodyPr>
          <a:lstStyle/>
          <a:p>
            <a:r>
              <a:rPr lang="en-SG" dirty="0"/>
              <a:t>The input B is an (infinite) array of bits, where B[</a:t>
            </a:r>
            <a:r>
              <a:rPr lang="en-SG" dirty="0" err="1"/>
              <a:t>i</a:t>
            </a:r>
            <a:r>
              <a:rPr lang="en-SG" dirty="0"/>
              <a:t>] = 1 if and only if 2</a:t>
            </a:r>
            <a:r>
              <a:rPr lang="en-SG" baseline="30000" dirty="0"/>
              <a:t>i</a:t>
            </a:r>
            <a:r>
              <a:rPr lang="en-SG" dirty="0"/>
              <a:t> appears in the sum.</a:t>
            </a:r>
            <a:endParaRPr lang="en-US" dirty="0"/>
          </a:p>
        </p:txBody>
      </p:sp>
      <p:sp>
        <p:nvSpPr>
          <p:cNvPr id="6" name="TextBox 5">
            <a:extLst>
              <a:ext uri="{FF2B5EF4-FFF2-40B4-BE49-F238E27FC236}">
                <a16:creationId xmlns:a16="http://schemas.microsoft.com/office/drawing/2014/main" id="{A4AEAC04-F08F-2046-B341-B7299956B367}"/>
              </a:ext>
            </a:extLst>
          </p:cNvPr>
          <p:cNvSpPr txBox="1"/>
          <p:nvPr/>
        </p:nvSpPr>
        <p:spPr>
          <a:xfrm>
            <a:off x="571500" y="5581650"/>
            <a:ext cx="8771731" cy="830997"/>
          </a:xfrm>
          <a:prstGeom prst="rect">
            <a:avLst/>
          </a:prstGeom>
          <a:noFill/>
        </p:spPr>
        <p:txBody>
          <a:bodyPr wrap="square" rtlCol="0">
            <a:spAutoFit/>
          </a:bodyPr>
          <a:lstStyle/>
          <a:p>
            <a:r>
              <a:rPr lang="en-US" dirty="0"/>
              <a:t>If the first k bits are 1, and the next bit is 0, then INCREMENT takes time O(k)</a:t>
            </a:r>
          </a:p>
        </p:txBody>
      </p:sp>
    </p:spTree>
    <p:extLst>
      <p:ext uri="{BB962C8B-B14F-4D97-AF65-F5344CB8AC3E}">
        <p14:creationId xmlns:p14="http://schemas.microsoft.com/office/powerpoint/2010/main" val="210608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Incrementing a binary counter</a:t>
            </a:r>
          </a:p>
        </p:txBody>
      </p:sp>
      <p:pic>
        <p:nvPicPr>
          <p:cNvPr id="3" name="Picture 2">
            <a:extLst>
              <a:ext uri="{FF2B5EF4-FFF2-40B4-BE49-F238E27FC236}">
                <a16:creationId xmlns:a16="http://schemas.microsoft.com/office/drawing/2014/main" id="{23BC99EF-3A26-CD44-A053-8C178FF57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431" y="2502694"/>
            <a:ext cx="3686861" cy="2438400"/>
          </a:xfrm>
          <a:prstGeom prst="rect">
            <a:avLst/>
          </a:prstGeom>
        </p:spPr>
      </p:pic>
      <p:sp>
        <p:nvSpPr>
          <p:cNvPr id="4" name="TextBox 3">
            <a:extLst>
              <a:ext uri="{FF2B5EF4-FFF2-40B4-BE49-F238E27FC236}">
                <a16:creationId xmlns:a16="http://schemas.microsoft.com/office/drawing/2014/main" id="{286F8879-7041-CA4C-A0F7-A07AE98791EB}"/>
              </a:ext>
            </a:extLst>
          </p:cNvPr>
          <p:cNvSpPr txBox="1"/>
          <p:nvPr/>
        </p:nvSpPr>
        <p:spPr>
          <a:xfrm>
            <a:off x="199231" y="1271409"/>
            <a:ext cx="9525000" cy="830997"/>
          </a:xfrm>
          <a:prstGeom prst="rect">
            <a:avLst/>
          </a:prstGeom>
          <a:noFill/>
        </p:spPr>
        <p:txBody>
          <a:bodyPr wrap="square" rtlCol="0">
            <a:spAutoFit/>
          </a:bodyPr>
          <a:lstStyle/>
          <a:p>
            <a:r>
              <a:rPr lang="en-SG" dirty="0"/>
              <a:t>The input B is an (infinite) array of bits, where B[</a:t>
            </a:r>
            <a:r>
              <a:rPr lang="en-SG" dirty="0" err="1"/>
              <a:t>i</a:t>
            </a:r>
            <a:r>
              <a:rPr lang="en-SG" dirty="0"/>
              <a:t>] = 1 if and only if 2</a:t>
            </a:r>
            <a:r>
              <a:rPr lang="en-SG" baseline="30000" dirty="0"/>
              <a:t>i</a:t>
            </a:r>
            <a:r>
              <a:rPr lang="en-SG" dirty="0"/>
              <a:t> appears in the sum.</a:t>
            </a:r>
            <a:endParaRPr lang="en-US" dirty="0"/>
          </a:p>
        </p:txBody>
      </p:sp>
      <p:sp>
        <p:nvSpPr>
          <p:cNvPr id="6" name="TextBox 5">
            <a:extLst>
              <a:ext uri="{FF2B5EF4-FFF2-40B4-BE49-F238E27FC236}">
                <a16:creationId xmlns:a16="http://schemas.microsoft.com/office/drawing/2014/main" id="{A4AEAC04-F08F-2046-B341-B7299956B367}"/>
              </a:ext>
            </a:extLst>
          </p:cNvPr>
          <p:cNvSpPr txBox="1"/>
          <p:nvPr/>
        </p:nvSpPr>
        <p:spPr>
          <a:xfrm>
            <a:off x="571500" y="5581650"/>
            <a:ext cx="8771731" cy="830997"/>
          </a:xfrm>
          <a:prstGeom prst="rect">
            <a:avLst/>
          </a:prstGeom>
          <a:noFill/>
        </p:spPr>
        <p:txBody>
          <a:bodyPr wrap="square" rtlCol="0">
            <a:spAutoFit/>
          </a:bodyPr>
          <a:lstStyle/>
          <a:p>
            <a:r>
              <a:rPr lang="en-US" dirty="0"/>
              <a:t>If the first k bits are 1, and the next bit is 0, then INCREMENT takes time O(k)</a:t>
            </a:r>
          </a:p>
        </p:txBody>
      </p:sp>
    </p:spTree>
    <p:extLst>
      <p:ext uri="{BB962C8B-B14F-4D97-AF65-F5344CB8AC3E}">
        <p14:creationId xmlns:p14="http://schemas.microsoft.com/office/powerpoint/2010/main" val="700426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Counting from 0 to n</a:t>
            </a:r>
          </a:p>
        </p:txBody>
      </p:sp>
      <p:sp>
        <p:nvSpPr>
          <p:cNvPr id="2" name="Rectangle 1">
            <a:extLst>
              <a:ext uri="{FF2B5EF4-FFF2-40B4-BE49-F238E27FC236}">
                <a16:creationId xmlns:a16="http://schemas.microsoft.com/office/drawing/2014/main" id="{50BF5128-E084-E84C-925B-6A4524262EB8}"/>
              </a:ext>
            </a:extLst>
          </p:cNvPr>
          <p:cNvSpPr/>
          <p:nvPr/>
        </p:nvSpPr>
        <p:spPr>
          <a:xfrm>
            <a:off x="188912" y="1588294"/>
            <a:ext cx="9906000" cy="1569660"/>
          </a:xfrm>
          <a:prstGeom prst="rect">
            <a:avLst/>
          </a:prstGeom>
        </p:spPr>
        <p:txBody>
          <a:bodyPr wrap="square">
            <a:spAutoFit/>
          </a:bodyPr>
          <a:lstStyle/>
          <a:p>
            <a:r>
              <a:rPr lang="en-SG" dirty="0"/>
              <a:t>Now suppose we call Increment n times, starting with a zero counter. How long does it take to count from 0 to n? If we only use the worst-case running time for each Increment, we get an upper bound of O(n log n) on the total running time. Although this bound is correct, we can do better..</a:t>
            </a:r>
            <a:endParaRPr lang="en-US" dirty="0"/>
          </a:p>
        </p:txBody>
      </p:sp>
      <p:pic>
        <p:nvPicPr>
          <p:cNvPr id="8" name="Picture 7">
            <a:extLst>
              <a:ext uri="{FF2B5EF4-FFF2-40B4-BE49-F238E27FC236}">
                <a16:creationId xmlns:a16="http://schemas.microsoft.com/office/drawing/2014/main" id="{52EFC42A-383A-014C-9560-A4BFC39D2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31" y="3645694"/>
            <a:ext cx="9802678" cy="2514600"/>
          </a:xfrm>
          <a:prstGeom prst="rect">
            <a:avLst/>
          </a:prstGeom>
        </p:spPr>
      </p:pic>
    </p:spTree>
    <p:extLst>
      <p:ext uri="{BB962C8B-B14F-4D97-AF65-F5344CB8AC3E}">
        <p14:creationId xmlns:p14="http://schemas.microsoft.com/office/powerpoint/2010/main" val="1897438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Amortized cost</a:t>
            </a:r>
          </a:p>
        </p:txBody>
      </p:sp>
      <p:sp>
        <p:nvSpPr>
          <p:cNvPr id="3" name="Rectangle 2">
            <a:extLst>
              <a:ext uri="{FF2B5EF4-FFF2-40B4-BE49-F238E27FC236}">
                <a16:creationId xmlns:a16="http://schemas.microsoft.com/office/drawing/2014/main" id="{5F807F72-F217-D94A-9C41-71C40AD4B940}"/>
              </a:ext>
            </a:extLst>
          </p:cNvPr>
          <p:cNvSpPr/>
          <p:nvPr/>
        </p:nvSpPr>
        <p:spPr>
          <a:xfrm>
            <a:off x="207962" y="1309688"/>
            <a:ext cx="9648031" cy="1938992"/>
          </a:xfrm>
          <a:prstGeom prst="rect">
            <a:avLst/>
          </a:prstGeom>
        </p:spPr>
        <p:txBody>
          <a:bodyPr wrap="square">
            <a:spAutoFit/>
          </a:bodyPr>
          <a:lstStyle/>
          <a:p>
            <a:r>
              <a:rPr lang="en-SG" dirty="0"/>
              <a:t>This sense of “on average” is quite different from the averaging we consider with randomized algorithms. </a:t>
            </a:r>
            <a:r>
              <a:rPr lang="en-SG" b="1" dirty="0">
                <a:solidFill>
                  <a:srgbClr val="FF0000"/>
                </a:solidFill>
              </a:rPr>
              <a:t>There is no probability involved</a:t>
            </a:r>
            <a:r>
              <a:rPr lang="en-SG" dirty="0"/>
              <a:t>; we are </a:t>
            </a:r>
            <a:r>
              <a:rPr lang="en-SG" b="1" dirty="0">
                <a:solidFill>
                  <a:srgbClr val="00B050"/>
                </a:solidFill>
              </a:rPr>
              <a:t>averaging over a sequence of operations</a:t>
            </a:r>
            <a:r>
              <a:rPr lang="en-SG" dirty="0"/>
              <a:t>, </a:t>
            </a:r>
            <a:r>
              <a:rPr lang="en-SG" b="1" dirty="0">
                <a:solidFill>
                  <a:srgbClr val="FF0000"/>
                </a:solidFill>
              </a:rPr>
              <a:t>not the possible running times of a single operation</a:t>
            </a:r>
            <a:r>
              <a:rPr lang="en-SG" dirty="0"/>
              <a:t>. This averaging idea is called amortization—the amortized time for each Increment is O(1).</a:t>
            </a:r>
            <a:endParaRPr lang="en-US" dirty="0"/>
          </a:p>
        </p:txBody>
      </p:sp>
      <p:pic>
        <p:nvPicPr>
          <p:cNvPr id="6" name="Picture 5">
            <a:extLst>
              <a:ext uri="{FF2B5EF4-FFF2-40B4-BE49-F238E27FC236}">
                <a16:creationId xmlns:a16="http://schemas.microsoft.com/office/drawing/2014/main" id="{D08A8007-ABB4-6949-B88F-C5F33E991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080" y="3874294"/>
            <a:ext cx="9604375" cy="762000"/>
          </a:xfrm>
          <a:prstGeom prst="rect">
            <a:avLst/>
          </a:prstGeom>
        </p:spPr>
      </p:pic>
    </p:spTree>
    <p:extLst>
      <p:ext uri="{BB962C8B-B14F-4D97-AF65-F5344CB8AC3E}">
        <p14:creationId xmlns:p14="http://schemas.microsoft.com/office/powerpoint/2010/main" val="275708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Taxation method</a:t>
            </a:r>
          </a:p>
        </p:txBody>
      </p:sp>
      <p:pic>
        <p:nvPicPr>
          <p:cNvPr id="4" name="Picture 3">
            <a:extLst>
              <a:ext uri="{FF2B5EF4-FFF2-40B4-BE49-F238E27FC236}">
                <a16:creationId xmlns:a16="http://schemas.microsoft.com/office/drawing/2014/main" id="{1A058C60-A0FA-9249-BCA5-CB35BC6F85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1283494"/>
            <a:ext cx="9580098" cy="914400"/>
          </a:xfrm>
          <a:prstGeom prst="rect">
            <a:avLst/>
          </a:prstGeom>
        </p:spPr>
      </p:pic>
      <p:sp>
        <p:nvSpPr>
          <p:cNvPr id="8" name="Rectangle 7">
            <a:extLst>
              <a:ext uri="{FF2B5EF4-FFF2-40B4-BE49-F238E27FC236}">
                <a16:creationId xmlns:a16="http://schemas.microsoft.com/office/drawing/2014/main" id="{EE07C04D-2333-264C-B7E8-E61DAEC55CAF}"/>
              </a:ext>
            </a:extLst>
          </p:cNvPr>
          <p:cNvSpPr/>
          <p:nvPr/>
        </p:nvSpPr>
        <p:spPr>
          <a:xfrm>
            <a:off x="362415" y="2403664"/>
            <a:ext cx="9779329" cy="1200329"/>
          </a:xfrm>
          <a:prstGeom prst="rect">
            <a:avLst/>
          </a:prstGeom>
        </p:spPr>
        <p:txBody>
          <a:bodyPr wrap="square">
            <a:spAutoFit/>
          </a:bodyPr>
          <a:lstStyle/>
          <a:p>
            <a:pPr marL="342900" indent="-342900">
              <a:buFont typeface="Arial" panose="020B0604020202020204" pitchFamily="34" charset="0"/>
              <a:buChar char="•"/>
            </a:pPr>
            <a:r>
              <a:rPr lang="en-SG" dirty="0"/>
              <a:t>Instead of paying for each bit flip when it happens, the Increment Revenue Service charges a two-dollar increment tax whenever we want to set a bit from zero to one. </a:t>
            </a:r>
            <a:endParaRPr lang="en-US" dirty="0"/>
          </a:p>
        </p:txBody>
      </p:sp>
      <p:sp>
        <p:nvSpPr>
          <p:cNvPr id="9" name="TextBox 8">
            <a:extLst>
              <a:ext uri="{FF2B5EF4-FFF2-40B4-BE49-F238E27FC236}">
                <a16:creationId xmlns:a16="http://schemas.microsoft.com/office/drawing/2014/main" id="{52AD3066-CD06-F84D-B0E2-FBE8F274448A}"/>
              </a:ext>
            </a:extLst>
          </p:cNvPr>
          <p:cNvSpPr txBox="1"/>
          <p:nvPr/>
        </p:nvSpPr>
        <p:spPr>
          <a:xfrm>
            <a:off x="362415" y="3721893"/>
            <a:ext cx="9416914" cy="830997"/>
          </a:xfrm>
          <a:prstGeom prst="rect">
            <a:avLst/>
          </a:prstGeom>
          <a:noFill/>
        </p:spPr>
        <p:txBody>
          <a:bodyPr wrap="square" rtlCol="0">
            <a:spAutoFit/>
          </a:bodyPr>
          <a:lstStyle/>
          <a:p>
            <a:pPr marL="342900" indent="-342900">
              <a:buFont typeface="Arial" panose="020B0604020202020204" pitchFamily="34" charset="0"/>
              <a:buChar char="•"/>
            </a:pPr>
            <a:r>
              <a:rPr lang="en-SG" dirty="0"/>
              <a:t>One of those dollars is spent changing the bit from zero to one; the other is stored away as credit until we need to reset the same bit to zero. </a:t>
            </a:r>
          </a:p>
        </p:txBody>
      </p:sp>
      <p:sp>
        <p:nvSpPr>
          <p:cNvPr id="10" name="TextBox 9">
            <a:extLst>
              <a:ext uri="{FF2B5EF4-FFF2-40B4-BE49-F238E27FC236}">
                <a16:creationId xmlns:a16="http://schemas.microsoft.com/office/drawing/2014/main" id="{1C19BF5B-DB46-0644-B5F5-48F0E8B668FA}"/>
              </a:ext>
            </a:extLst>
          </p:cNvPr>
          <p:cNvSpPr txBox="1"/>
          <p:nvPr/>
        </p:nvSpPr>
        <p:spPr>
          <a:xfrm>
            <a:off x="362415" y="4670790"/>
            <a:ext cx="9046698" cy="1200329"/>
          </a:xfrm>
          <a:prstGeom prst="rect">
            <a:avLst/>
          </a:prstGeom>
          <a:noFill/>
        </p:spPr>
        <p:txBody>
          <a:bodyPr wrap="square" rtlCol="0">
            <a:spAutoFit/>
          </a:bodyPr>
          <a:lstStyle/>
          <a:p>
            <a:pPr marL="342900" indent="-342900">
              <a:buFont typeface="Arial" panose="020B0604020202020204" pitchFamily="34" charset="0"/>
              <a:buChar char="•"/>
            </a:pPr>
            <a:r>
              <a:rPr lang="en-SG" dirty="0"/>
              <a:t>The key point here is that we always have enough credit saved up to pay for the next increment</a:t>
            </a:r>
            <a:endParaRPr lang="en-US" dirty="0"/>
          </a:p>
          <a:p>
            <a:pPr marL="342900" indent="-342900">
              <a:buFont typeface="Arial" panose="020B0604020202020204" pitchFamily="34" charset="0"/>
              <a:buChar char="•"/>
            </a:pPr>
            <a:endParaRPr lang="en-US" dirty="0"/>
          </a:p>
        </p:txBody>
      </p:sp>
      <p:sp>
        <p:nvSpPr>
          <p:cNvPr id="11" name="TextBox 10">
            <a:extLst>
              <a:ext uri="{FF2B5EF4-FFF2-40B4-BE49-F238E27FC236}">
                <a16:creationId xmlns:a16="http://schemas.microsoft.com/office/drawing/2014/main" id="{77A5C21B-1129-8D40-AEC4-6B41500D72BC}"/>
              </a:ext>
            </a:extLst>
          </p:cNvPr>
          <p:cNvSpPr txBox="1"/>
          <p:nvPr/>
        </p:nvSpPr>
        <p:spPr>
          <a:xfrm>
            <a:off x="371146" y="5871119"/>
            <a:ext cx="9476581" cy="830997"/>
          </a:xfrm>
          <a:prstGeom prst="rect">
            <a:avLst/>
          </a:prstGeom>
          <a:noFill/>
        </p:spPr>
        <p:txBody>
          <a:bodyPr wrap="square" rtlCol="0">
            <a:spAutoFit/>
          </a:bodyPr>
          <a:lstStyle/>
          <a:p>
            <a:pPr marL="342900" indent="-342900">
              <a:buFont typeface="Arial" panose="020B0604020202020204" pitchFamily="34" charset="0"/>
              <a:buChar char="•"/>
            </a:pPr>
            <a:r>
              <a:rPr lang="en-SG" dirty="0"/>
              <a:t>The amortized cost of an Increment is the total tax it incurs, which is exactly 2 dollars, since each Increment changes just one bit from 0 to 1</a:t>
            </a:r>
            <a:endParaRPr lang="en-US" dirty="0"/>
          </a:p>
        </p:txBody>
      </p:sp>
    </p:spTree>
    <p:extLst>
      <p:ext uri="{BB962C8B-B14F-4D97-AF65-F5344CB8AC3E}">
        <p14:creationId xmlns:p14="http://schemas.microsoft.com/office/powerpoint/2010/main" val="2770575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Taxation method</a:t>
            </a:r>
          </a:p>
        </p:txBody>
      </p:sp>
      <p:pic>
        <p:nvPicPr>
          <p:cNvPr id="3" name="Picture 2">
            <a:extLst>
              <a:ext uri="{FF2B5EF4-FFF2-40B4-BE49-F238E27FC236}">
                <a16:creationId xmlns:a16="http://schemas.microsoft.com/office/drawing/2014/main" id="{B6CE38A0-696E-694F-B83B-A3380DEDF6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1816894"/>
            <a:ext cx="9381072" cy="1059656"/>
          </a:xfrm>
          <a:prstGeom prst="rect">
            <a:avLst/>
          </a:prstGeom>
        </p:spPr>
      </p:pic>
      <p:sp>
        <p:nvSpPr>
          <p:cNvPr id="15" name="TextBox 14">
            <a:extLst>
              <a:ext uri="{FF2B5EF4-FFF2-40B4-BE49-F238E27FC236}">
                <a16:creationId xmlns:a16="http://schemas.microsoft.com/office/drawing/2014/main" id="{3E9052C4-1BCB-0F40-AA65-877873449667}"/>
              </a:ext>
            </a:extLst>
          </p:cNvPr>
          <p:cNvSpPr txBox="1"/>
          <p:nvPr/>
        </p:nvSpPr>
        <p:spPr>
          <a:xfrm>
            <a:off x="419100" y="4953000"/>
            <a:ext cx="8619331" cy="461665"/>
          </a:xfrm>
          <a:prstGeom prst="rect">
            <a:avLst/>
          </a:prstGeom>
          <a:noFill/>
        </p:spPr>
        <p:txBody>
          <a:bodyPr wrap="square" rtlCol="0">
            <a:spAutoFit/>
          </a:bodyPr>
          <a:lstStyle/>
          <a:p>
            <a:r>
              <a:rPr lang="en-US" dirty="0"/>
              <a:t>See textbook for other variants of taxation/charging methods</a:t>
            </a:r>
          </a:p>
        </p:txBody>
      </p:sp>
    </p:spTree>
    <p:extLst>
      <p:ext uri="{BB962C8B-B14F-4D97-AF65-F5344CB8AC3E}">
        <p14:creationId xmlns:p14="http://schemas.microsoft.com/office/powerpoint/2010/main" val="3752923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The potential method</a:t>
            </a:r>
          </a:p>
        </p:txBody>
      </p:sp>
      <p:pic>
        <p:nvPicPr>
          <p:cNvPr id="8" name="Picture 7">
            <a:extLst>
              <a:ext uri="{FF2B5EF4-FFF2-40B4-BE49-F238E27FC236}">
                <a16:creationId xmlns:a16="http://schemas.microsoft.com/office/drawing/2014/main" id="{0A2688FC-BAAA-754B-A367-E12AB9514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0" y="1309688"/>
            <a:ext cx="9446943" cy="1193006"/>
          </a:xfrm>
          <a:prstGeom prst="rect">
            <a:avLst/>
          </a:prstGeom>
        </p:spPr>
      </p:pic>
      <p:pic>
        <p:nvPicPr>
          <p:cNvPr id="10" name="Picture 9">
            <a:extLst>
              <a:ext uri="{FF2B5EF4-FFF2-40B4-BE49-F238E27FC236}">
                <a16:creationId xmlns:a16="http://schemas.microsoft.com/office/drawing/2014/main" id="{D2527160-6F87-8A40-8915-0E56DD828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011" y="2807494"/>
            <a:ext cx="9462052" cy="1600200"/>
          </a:xfrm>
          <a:prstGeom prst="rect">
            <a:avLst/>
          </a:prstGeom>
        </p:spPr>
      </p:pic>
      <p:pic>
        <p:nvPicPr>
          <p:cNvPr id="12" name="Picture 11">
            <a:extLst>
              <a:ext uri="{FF2B5EF4-FFF2-40B4-BE49-F238E27FC236}">
                <a16:creationId xmlns:a16="http://schemas.microsoft.com/office/drawing/2014/main" id="{7624ABBA-38D9-E144-88B2-A46AB2C665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011" y="5322094"/>
            <a:ext cx="9340596" cy="1371600"/>
          </a:xfrm>
          <a:prstGeom prst="rect">
            <a:avLst/>
          </a:prstGeom>
        </p:spPr>
      </p:pic>
    </p:spTree>
    <p:extLst>
      <p:ext uri="{BB962C8B-B14F-4D97-AF65-F5344CB8AC3E}">
        <p14:creationId xmlns:p14="http://schemas.microsoft.com/office/powerpoint/2010/main" val="403464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Binary counter example</a:t>
            </a:r>
          </a:p>
        </p:txBody>
      </p:sp>
      <p:pic>
        <p:nvPicPr>
          <p:cNvPr id="3" name="Picture 2">
            <a:extLst>
              <a:ext uri="{FF2B5EF4-FFF2-40B4-BE49-F238E27FC236}">
                <a16:creationId xmlns:a16="http://schemas.microsoft.com/office/drawing/2014/main" id="{E37E2B2D-949E-AE46-B876-F9A154D56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02" y="1816894"/>
            <a:ext cx="9736545" cy="3886200"/>
          </a:xfrm>
          <a:prstGeom prst="rect">
            <a:avLst/>
          </a:prstGeom>
        </p:spPr>
      </p:pic>
    </p:spTree>
    <p:extLst>
      <p:ext uri="{BB962C8B-B14F-4D97-AF65-F5344CB8AC3E}">
        <p14:creationId xmlns:p14="http://schemas.microsoft.com/office/powerpoint/2010/main" val="3429393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The potential method</a:t>
            </a:r>
          </a:p>
        </p:txBody>
      </p:sp>
      <p:pic>
        <p:nvPicPr>
          <p:cNvPr id="4" name="Picture 3">
            <a:extLst>
              <a:ext uri="{FF2B5EF4-FFF2-40B4-BE49-F238E27FC236}">
                <a16:creationId xmlns:a16="http://schemas.microsoft.com/office/drawing/2014/main" id="{DBDF5222-3701-DD48-9BEE-B7EC29F6C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30" y="1283494"/>
            <a:ext cx="9299121" cy="1295400"/>
          </a:xfrm>
          <a:prstGeom prst="rect">
            <a:avLst/>
          </a:prstGeom>
        </p:spPr>
      </p:pic>
      <p:pic>
        <p:nvPicPr>
          <p:cNvPr id="7" name="Picture 6">
            <a:extLst>
              <a:ext uri="{FF2B5EF4-FFF2-40B4-BE49-F238E27FC236}">
                <a16:creationId xmlns:a16="http://schemas.microsoft.com/office/drawing/2014/main" id="{10B27E0B-CBCC-4043-8658-49C4DB586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012" y="3569494"/>
            <a:ext cx="9725247" cy="1828800"/>
          </a:xfrm>
          <a:prstGeom prst="rect">
            <a:avLst/>
          </a:prstGeom>
        </p:spPr>
      </p:pic>
    </p:spTree>
    <p:extLst>
      <p:ext uri="{BB962C8B-B14F-4D97-AF65-F5344CB8AC3E}">
        <p14:creationId xmlns:p14="http://schemas.microsoft.com/office/powerpoint/2010/main" val="7812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Increment and decrement</a:t>
            </a:r>
          </a:p>
        </p:txBody>
      </p:sp>
      <p:pic>
        <p:nvPicPr>
          <p:cNvPr id="3" name="Picture 2">
            <a:extLst>
              <a:ext uri="{FF2B5EF4-FFF2-40B4-BE49-F238E27FC236}">
                <a16:creationId xmlns:a16="http://schemas.microsoft.com/office/drawing/2014/main" id="{BB77D61E-0CA3-5949-95B8-6B3267918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9688"/>
            <a:ext cx="9907729" cy="967323"/>
          </a:xfrm>
          <a:prstGeom prst="rect">
            <a:avLst/>
          </a:prstGeom>
        </p:spPr>
      </p:pic>
      <p:pic>
        <p:nvPicPr>
          <p:cNvPr id="8" name="Picture 7">
            <a:extLst>
              <a:ext uri="{FF2B5EF4-FFF2-40B4-BE49-F238E27FC236}">
                <a16:creationId xmlns:a16="http://schemas.microsoft.com/office/drawing/2014/main" id="{E7384FFC-22BA-AC4A-ADD0-97BCFE39F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31" y="2731294"/>
            <a:ext cx="9525000" cy="1143000"/>
          </a:xfrm>
          <a:prstGeom prst="rect">
            <a:avLst/>
          </a:prstGeom>
        </p:spPr>
      </p:pic>
      <p:pic>
        <p:nvPicPr>
          <p:cNvPr id="10" name="Picture 9">
            <a:extLst>
              <a:ext uri="{FF2B5EF4-FFF2-40B4-BE49-F238E27FC236}">
                <a16:creationId xmlns:a16="http://schemas.microsoft.com/office/drawing/2014/main" id="{8FF0EB3F-8AA5-6A45-96CB-B3CB861FDB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231" y="4636294"/>
            <a:ext cx="9144000" cy="381000"/>
          </a:xfrm>
          <a:prstGeom prst="rect">
            <a:avLst/>
          </a:prstGeom>
        </p:spPr>
      </p:pic>
    </p:spTree>
    <p:extLst>
      <p:ext uri="{BB962C8B-B14F-4D97-AF65-F5344CB8AC3E}">
        <p14:creationId xmlns:p14="http://schemas.microsoft.com/office/powerpoint/2010/main" val="4142523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Increment and decrement</a:t>
            </a:r>
          </a:p>
        </p:txBody>
      </p:sp>
      <p:pic>
        <p:nvPicPr>
          <p:cNvPr id="4" name="Picture 3">
            <a:extLst>
              <a:ext uri="{FF2B5EF4-FFF2-40B4-BE49-F238E27FC236}">
                <a16:creationId xmlns:a16="http://schemas.microsoft.com/office/drawing/2014/main" id="{7C3A6829-7A0B-E34D-97A6-3836EE6B8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31" y="1667506"/>
            <a:ext cx="9378145" cy="974888"/>
          </a:xfrm>
          <a:prstGeom prst="rect">
            <a:avLst/>
          </a:prstGeom>
        </p:spPr>
      </p:pic>
      <p:pic>
        <p:nvPicPr>
          <p:cNvPr id="7" name="Picture 6">
            <a:extLst>
              <a:ext uri="{FF2B5EF4-FFF2-40B4-BE49-F238E27FC236}">
                <a16:creationId xmlns:a16="http://schemas.microsoft.com/office/drawing/2014/main" id="{6AC220F6-A382-5D48-A89D-D24A3C6C9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030" y="3026406"/>
            <a:ext cx="3349573" cy="3819688"/>
          </a:xfrm>
          <a:prstGeom prst="rect">
            <a:avLst/>
          </a:prstGeom>
        </p:spPr>
      </p:pic>
      <p:pic>
        <p:nvPicPr>
          <p:cNvPr id="11" name="Picture 10">
            <a:extLst>
              <a:ext uri="{FF2B5EF4-FFF2-40B4-BE49-F238E27FC236}">
                <a16:creationId xmlns:a16="http://schemas.microsoft.com/office/drawing/2014/main" id="{77AABF9B-D574-BD43-9E39-5B6FA7898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6662" y="3188494"/>
            <a:ext cx="3200400" cy="3884762"/>
          </a:xfrm>
          <a:prstGeom prst="rect">
            <a:avLst/>
          </a:prstGeom>
        </p:spPr>
      </p:pic>
    </p:spTree>
    <p:extLst>
      <p:ext uri="{BB962C8B-B14F-4D97-AF65-F5344CB8AC3E}">
        <p14:creationId xmlns:p14="http://schemas.microsoft.com/office/powerpoint/2010/main" val="206523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80772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Increment and decrement</a:t>
            </a:r>
          </a:p>
        </p:txBody>
      </p:sp>
      <p:pic>
        <p:nvPicPr>
          <p:cNvPr id="3" name="Picture 2">
            <a:extLst>
              <a:ext uri="{FF2B5EF4-FFF2-40B4-BE49-F238E27FC236}">
                <a16:creationId xmlns:a16="http://schemas.microsoft.com/office/drawing/2014/main" id="{08E3DD61-FF72-3D4D-AF70-65700BE7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12" y="1309688"/>
            <a:ext cx="9525837" cy="1371600"/>
          </a:xfrm>
          <a:prstGeom prst="rect">
            <a:avLst/>
          </a:prstGeom>
        </p:spPr>
      </p:pic>
      <p:pic>
        <p:nvPicPr>
          <p:cNvPr id="12" name="Picture 11">
            <a:extLst>
              <a:ext uri="{FF2B5EF4-FFF2-40B4-BE49-F238E27FC236}">
                <a16:creationId xmlns:a16="http://schemas.microsoft.com/office/drawing/2014/main" id="{7B49714E-4350-5A4B-8B85-AA1C3F085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016" y="3854827"/>
            <a:ext cx="8684047" cy="341220"/>
          </a:xfrm>
          <a:prstGeom prst="rect">
            <a:avLst/>
          </a:prstGeom>
        </p:spPr>
      </p:pic>
      <p:pic>
        <p:nvPicPr>
          <p:cNvPr id="14" name="Picture 13">
            <a:extLst>
              <a:ext uri="{FF2B5EF4-FFF2-40B4-BE49-F238E27FC236}">
                <a16:creationId xmlns:a16="http://schemas.microsoft.com/office/drawing/2014/main" id="{AA0157E9-3291-2D42-B73B-BFD91BAC35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68063"/>
            <a:ext cx="10152063" cy="343256"/>
          </a:xfrm>
          <a:prstGeom prst="rect">
            <a:avLst/>
          </a:prstGeom>
        </p:spPr>
      </p:pic>
      <p:pic>
        <p:nvPicPr>
          <p:cNvPr id="16" name="Picture 15">
            <a:extLst>
              <a:ext uri="{FF2B5EF4-FFF2-40B4-BE49-F238E27FC236}">
                <a16:creationId xmlns:a16="http://schemas.microsoft.com/office/drawing/2014/main" id="{259E0B32-7094-8A4A-898F-8C043CCF92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809843"/>
            <a:ext cx="1433385" cy="370291"/>
          </a:xfrm>
          <a:prstGeom prst="rect">
            <a:avLst/>
          </a:prstGeom>
        </p:spPr>
      </p:pic>
      <p:pic>
        <p:nvPicPr>
          <p:cNvPr id="18" name="Picture 17">
            <a:extLst>
              <a:ext uri="{FF2B5EF4-FFF2-40B4-BE49-F238E27FC236}">
                <a16:creationId xmlns:a16="http://schemas.microsoft.com/office/drawing/2014/main" id="{88786BAE-B50A-4543-8D17-59A26AB0A2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0231" y="4512087"/>
            <a:ext cx="9251950" cy="1642870"/>
          </a:xfrm>
          <a:prstGeom prst="rect">
            <a:avLst/>
          </a:prstGeom>
        </p:spPr>
      </p:pic>
      <p:pic>
        <p:nvPicPr>
          <p:cNvPr id="20" name="Picture 19">
            <a:extLst>
              <a:ext uri="{FF2B5EF4-FFF2-40B4-BE49-F238E27FC236}">
                <a16:creationId xmlns:a16="http://schemas.microsoft.com/office/drawing/2014/main" id="{645056D0-B2A6-744F-9710-1AEBD4CBC5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31" y="6617494"/>
            <a:ext cx="10152063" cy="355678"/>
          </a:xfrm>
          <a:prstGeom prst="rect">
            <a:avLst/>
          </a:prstGeom>
        </p:spPr>
      </p:pic>
    </p:spTree>
    <p:extLst>
      <p:ext uri="{BB962C8B-B14F-4D97-AF65-F5344CB8AC3E}">
        <p14:creationId xmlns:p14="http://schemas.microsoft.com/office/powerpoint/2010/main" val="1242626463"/>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15036</TotalTime>
  <Words>1057</Words>
  <Application>Microsoft Macintosh PowerPoint</Application>
  <PresentationFormat>Custom</PresentationFormat>
  <Paragraphs>78</Paragraphs>
  <Slides>33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Times</vt:lpstr>
      <vt:lpstr>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PowerPC</dc:creator>
  <cp:lastModifiedBy>Microsoft Office User</cp:lastModifiedBy>
  <cp:revision>295</cp:revision>
  <cp:lastPrinted>2019-08-10T08:34:39Z</cp:lastPrinted>
  <dcterms:created xsi:type="dcterms:W3CDTF">2001-10-04T11:39:11Z</dcterms:created>
  <dcterms:modified xsi:type="dcterms:W3CDTF">2019-10-08T01:50:41Z</dcterms:modified>
</cp:coreProperties>
</file>