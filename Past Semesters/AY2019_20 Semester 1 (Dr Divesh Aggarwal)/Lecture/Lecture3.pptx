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1"/>
  </p:notesMasterIdLst>
  <p:handoutMasterIdLst>
    <p:handoutMasterId r:id="rId42"/>
  </p:handoutMasterIdLst>
  <p:sldIdLst>
    <p:sldId id="256" r:id="rId2"/>
    <p:sldId id="385" r:id="rId3"/>
    <p:sldId id="339" r:id="rId4"/>
    <p:sldId id="384" r:id="rId5"/>
    <p:sldId id="387" r:id="rId6"/>
    <p:sldId id="388" r:id="rId7"/>
    <p:sldId id="391" r:id="rId8"/>
    <p:sldId id="390" r:id="rId9"/>
    <p:sldId id="392" r:id="rId10"/>
    <p:sldId id="393" r:id="rId11"/>
    <p:sldId id="394" r:id="rId12"/>
    <p:sldId id="395" r:id="rId13"/>
    <p:sldId id="397" r:id="rId14"/>
    <p:sldId id="396" r:id="rId15"/>
    <p:sldId id="398" r:id="rId16"/>
    <p:sldId id="404" r:id="rId17"/>
    <p:sldId id="405" r:id="rId18"/>
    <p:sldId id="406" r:id="rId19"/>
    <p:sldId id="407" r:id="rId20"/>
    <p:sldId id="408" r:id="rId21"/>
    <p:sldId id="410" r:id="rId22"/>
    <p:sldId id="409" r:id="rId23"/>
    <p:sldId id="411" r:id="rId24"/>
    <p:sldId id="412" r:id="rId25"/>
    <p:sldId id="413" r:id="rId26"/>
    <p:sldId id="416" r:id="rId27"/>
    <p:sldId id="414" r:id="rId28"/>
    <p:sldId id="417" r:id="rId29"/>
    <p:sldId id="418" r:id="rId30"/>
    <p:sldId id="419" r:id="rId31"/>
    <p:sldId id="420" r:id="rId32"/>
    <p:sldId id="421" r:id="rId33"/>
    <p:sldId id="422" r:id="rId34"/>
    <p:sldId id="423" r:id="rId35"/>
    <p:sldId id="424" r:id="rId36"/>
    <p:sldId id="425" r:id="rId37"/>
    <p:sldId id="426" r:id="rId38"/>
    <p:sldId id="427" r:id="rId39"/>
    <p:sldId id="428" r:id="rId40"/>
  </p:sldIdLst>
  <p:sldSz cx="10152063" cy="7596188"/>
  <p:notesSz cx="7596188" cy="10152063"/>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1392">
          <p15:clr>
            <a:srgbClr val="A4A3A4"/>
          </p15:clr>
        </p15:guide>
        <p15:guide id="2" pos="3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4E02"/>
    <a:srgbClr val="DE5A02"/>
    <a:srgbClr val="003399"/>
    <a:srgbClr val="873701"/>
    <a:srgbClr val="E55D02"/>
    <a:srgbClr val="FF0000"/>
    <a:srgbClr val="969696"/>
    <a:srgbClr val="81ABFF"/>
    <a:srgbClr val="FFFF6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069" autoAdjust="0"/>
    <p:restoredTop sz="91845" autoAdjust="0"/>
  </p:normalViewPr>
  <p:slideViewPr>
    <p:cSldViewPr>
      <p:cViewPr varScale="1">
        <p:scale>
          <a:sx n="89" d="100"/>
          <a:sy n="89" d="100"/>
        </p:scale>
        <p:origin x="192" y="248"/>
      </p:cViewPr>
      <p:guideLst>
        <p:guide orient="horz" pos="1392"/>
        <p:guide pos="321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9699" name="Rectangle 3"/>
          <p:cNvSpPr>
            <a:spLocks noGrp="1" noChangeArrowheads="1"/>
          </p:cNvSpPr>
          <p:nvPr>
            <p:ph type="dt" sz="quarter" idx="1"/>
          </p:nvPr>
        </p:nvSpPr>
        <p:spPr bwMode="auto">
          <a:xfrm>
            <a:off x="4302125"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9700" name="Rectangle 4"/>
          <p:cNvSpPr>
            <a:spLocks noGrp="1" noChangeArrowheads="1"/>
          </p:cNvSpPr>
          <p:nvPr>
            <p:ph type="ftr" sz="quarter" idx="2"/>
          </p:nvPr>
        </p:nvSpPr>
        <p:spPr bwMode="auto">
          <a:xfrm>
            <a:off x="0"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9701" name="Rectangle 5"/>
          <p:cNvSpPr>
            <a:spLocks noGrp="1" noChangeArrowheads="1"/>
          </p:cNvSpPr>
          <p:nvPr>
            <p:ph type="sldNum" sz="quarter" idx="3"/>
          </p:nvPr>
        </p:nvSpPr>
        <p:spPr bwMode="auto">
          <a:xfrm>
            <a:off x="4302125"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728AF44-D823-4724-A853-1093A72A0941}"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7891" name="Rectangle 3"/>
          <p:cNvSpPr>
            <a:spLocks noGrp="1" noChangeArrowheads="1"/>
          </p:cNvSpPr>
          <p:nvPr>
            <p:ph type="dt" idx="1"/>
          </p:nvPr>
        </p:nvSpPr>
        <p:spPr bwMode="auto">
          <a:xfrm>
            <a:off x="4302125" y="0"/>
            <a:ext cx="3292475" cy="50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7892" name="Rectangle 4"/>
          <p:cNvSpPr>
            <a:spLocks noGrp="1" noRot="1" noChangeAspect="1" noChangeArrowheads="1" noTextEdit="1"/>
          </p:cNvSpPr>
          <p:nvPr>
            <p:ph type="sldImg" idx="2"/>
          </p:nvPr>
        </p:nvSpPr>
        <p:spPr bwMode="auto">
          <a:xfrm>
            <a:off x="1255713" y="762000"/>
            <a:ext cx="5086350" cy="3806825"/>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760413" y="4822825"/>
            <a:ext cx="6076950" cy="45672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894" name="Rectangle 6"/>
          <p:cNvSpPr>
            <a:spLocks noGrp="1" noChangeArrowheads="1"/>
          </p:cNvSpPr>
          <p:nvPr>
            <p:ph type="ftr" sz="quarter" idx="4"/>
          </p:nvPr>
        </p:nvSpPr>
        <p:spPr bwMode="auto">
          <a:xfrm>
            <a:off x="0"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7895" name="Rectangle 7"/>
          <p:cNvSpPr>
            <a:spLocks noGrp="1" noChangeArrowheads="1"/>
          </p:cNvSpPr>
          <p:nvPr>
            <p:ph type="sldNum" sz="quarter" idx="5"/>
          </p:nvPr>
        </p:nvSpPr>
        <p:spPr bwMode="auto">
          <a:xfrm>
            <a:off x="4302125" y="9642475"/>
            <a:ext cx="3292475" cy="508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E54901CC-E834-4EBA-8890-E59F33DE9E1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E9ADB-2485-4A93-AC68-657D518DF81C}" type="slidenum">
              <a:rPr lang="en-US"/>
              <a:pPr/>
              <a:t>1</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4901CC-E834-4EBA-8890-E59F33DE9E15}" type="slidenum">
              <a:rPr lang="en-US" smtClean="0"/>
              <a:pPr/>
              <a:t>36</a:t>
            </a:fld>
            <a:endParaRPr lang="en-US"/>
          </a:p>
        </p:txBody>
      </p:sp>
    </p:spTree>
    <p:extLst>
      <p:ext uri="{BB962C8B-B14F-4D97-AF65-F5344CB8AC3E}">
        <p14:creationId xmlns:p14="http://schemas.microsoft.com/office/powerpoint/2010/main" val="667660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4901CC-E834-4EBA-8890-E59F33DE9E15}" type="slidenum">
              <a:rPr lang="en-US" smtClean="0"/>
              <a:pPr/>
              <a:t>37</a:t>
            </a:fld>
            <a:endParaRPr lang="en-US"/>
          </a:p>
        </p:txBody>
      </p:sp>
    </p:spTree>
    <p:extLst>
      <p:ext uri="{BB962C8B-B14F-4D97-AF65-F5344CB8AC3E}">
        <p14:creationId xmlns:p14="http://schemas.microsoft.com/office/powerpoint/2010/main" val="2828715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4901CC-E834-4EBA-8890-E59F33DE9E15}" type="slidenum">
              <a:rPr lang="en-US" smtClean="0"/>
              <a:pPr/>
              <a:t>38</a:t>
            </a:fld>
            <a:endParaRPr lang="en-US"/>
          </a:p>
        </p:txBody>
      </p:sp>
    </p:spTree>
    <p:extLst>
      <p:ext uri="{BB962C8B-B14F-4D97-AF65-F5344CB8AC3E}">
        <p14:creationId xmlns:p14="http://schemas.microsoft.com/office/powerpoint/2010/main" val="2427111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4901CC-E834-4EBA-8890-E59F33DE9E15}" type="slidenum">
              <a:rPr lang="en-US" smtClean="0"/>
              <a:pPr/>
              <a:t>39</a:t>
            </a:fld>
            <a:endParaRPr lang="en-US"/>
          </a:p>
        </p:txBody>
      </p:sp>
    </p:spTree>
    <p:extLst>
      <p:ext uri="{BB962C8B-B14F-4D97-AF65-F5344CB8AC3E}">
        <p14:creationId xmlns:p14="http://schemas.microsoft.com/office/powerpoint/2010/main" val="3784744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202" name="Rectangle 10"/>
          <p:cNvSpPr>
            <a:spLocks noChangeArrowheads="1"/>
          </p:cNvSpPr>
          <p:nvPr userDrawn="1"/>
        </p:nvSpPr>
        <p:spPr bwMode="auto">
          <a:xfrm>
            <a:off x="0" y="0"/>
            <a:ext cx="10152063" cy="5486400"/>
          </a:xfrm>
          <a:prstGeom prst="rect">
            <a:avLst/>
          </a:prstGeom>
          <a:solidFill>
            <a:srgbClr val="FF6600"/>
          </a:solidFill>
          <a:ln w="9525">
            <a:noFill/>
            <a:miter lim="800000"/>
            <a:headEnd/>
            <a:tailEnd/>
          </a:ln>
          <a:effectLst/>
        </p:spPr>
        <p:txBody>
          <a:bodyPr wrap="none" anchor="ctr"/>
          <a:lstStyle/>
          <a:p>
            <a:endParaRPr lang="en-US"/>
          </a:p>
        </p:txBody>
      </p:sp>
      <p:sp>
        <p:nvSpPr>
          <p:cNvPr id="8203" name="Rectangle 11"/>
          <p:cNvSpPr>
            <a:spLocks noChangeArrowheads="1"/>
          </p:cNvSpPr>
          <p:nvPr userDrawn="1"/>
        </p:nvSpPr>
        <p:spPr bwMode="auto">
          <a:xfrm>
            <a:off x="0" y="7315200"/>
            <a:ext cx="10152063" cy="280988"/>
          </a:xfrm>
          <a:prstGeom prst="rect">
            <a:avLst/>
          </a:prstGeom>
          <a:solidFill>
            <a:srgbClr val="FF6600"/>
          </a:solidFill>
          <a:ln w="9525">
            <a:noFill/>
            <a:miter lim="800000"/>
            <a:headEnd/>
            <a:tailEnd/>
          </a:ln>
          <a:effectLst/>
        </p:spPr>
        <p:txBody>
          <a:bodyPr wrap="none" anchor="ctr"/>
          <a:lstStyle/>
          <a:p>
            <a:endParaRPr lang="en-US"/>
          </a:p>
        </p:txBody>
      </p:sp>
      <p:sp>
        <p:nvSpPr>
          <p:cNvPr id="8194" name="Rectangle 2"/>
          <p:cNvSpPr>
            <a:spLocks noGrp="1" noChangeArrowheads="1"/>
          </p:cNvSpPr>
          <p:nvPr>
            <p:ph type="ctrTitle"/>
          </p:nvPr>
        </p:nvSpPr>
        <p:spPr>
          <a:xfrm>
            <a:off x="609600" y="1524000"/>
            <a:ext cx="8991600" cy="1752600"/>
          </a:xfrm>
        </p:spPr>
        <p:txBody>
          <a:bodyPr/>
          <a:lstStyle>
            <a:lvl1pPr algn="ctr">
              <a:defRPr sz="6000">
                <a:solidFill>
                  <a:schemeClr val="bg1"/>
                </a:solidFill>
              </a:defRPr>
            </a:lvl1pPr>
          </a:lstStyle>
          <a:p>
            <a:r>
              <a:rPr lang="en-GB"/>
              <a:t>Click to edit Master title style</a:t>
            </a:r>
          </a:p>
        </p:txBody>
      </p:sp>
      <p:pic>
        <p:nvPicPr>
          <p:cNvPr id="8205" name="Picture 13"/>
          <p:cNvPicPr>
            <a:picLocks noChangeAspect="1" noChangeArrowheads="1"/>
          </p:cNvPicPr>
          <p:nvPr userDrawn="1"/>
        </p:nvPicPr>
        <p:blipFill>
          <a:blip r:embed="rId2"/>
          <a:srcRect/>
          <a:stretch>
            <a:fillRect/>
          </a:stretch>
        </p:blipFill>
        <p:spPr bwMode="auto">
          <a:xfrm>
            <a:off x="3733800" y="5757863"/>
            <a:ext cx="2573338" cy="1258887"/>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DAFAA84-93FD-4C2C-AE46-F7D42BEF3958}" type="slidenum">
              <a:rPr lang="en-GB"/>
              <a:pPr/>
              <a:t>‹#›</a:t>
            </a:fld>
            <a:endParaRPr lang="en-GB" sz="16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1688" y="4881563"/>
            <a:ext cx="8629650" cy="15081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01688" y="3219450"/>
            <a:ext cx="8629650" cy="166211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71797668-4770-4979-B1D4-D6D2511F0B65}" type="slidenum">
              <a:rPr lang="en-GB"/>
              <a:pPr/>
              <a:t>‹#›</a:t>
            </a:fld>
            <a:endParaRPr lang="en-GB" sz="160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11188" y="1817688"/>
            <a:ext cx="4237037" cy="5116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00625" y="1817688"/>
            <a:ext cx="4238625" cy="5116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90D269CF-64BA-444E-9F2D-69BD9F60489F}" type="slidenum">
              <a:rPr lang="en-GB"/>
              <a:pPr/>
              <a:t>‹#›</a:t>
            </a:fld>
            <a:endParaRPr lang="en-GB" sz="16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0"/>
            <a:ext cx="9136063" cy="12652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8000" y="1700213"/>
            <a:ext cx="4484688" cy="7080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8000" y="2408238"/>
            <a:ext cx="4484688" cy="43767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57788" y="1700213"/>
            <a:ext cx="4486275" cy="7080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7788" y="2408238"/>
            <a:ext cx="4486275" cy="43767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GB"/>
          </a:p>
        </p:txBody>
      </p:sp>
      <p:sp>
        <p:nvSpPr>
          <p:cNvPr id="8" name="Slide Number Placeholder 7"/>
          <p:cNvSpPr>
            <a:spLocks noGrp="1"/>
          </p:cNvSpPr>
          <p:nvPr>
            <p:ph type="sldNum" sz="quarter" idx="11"/>
          </p:nvPr>
        </p:nvSpPr>
        <p:spPr/>
        <p:txBody>
          <a:bodyPr/>
          <a:lstStyle>
            <a:lvl1pPr>
              <a:defRPr/>
            </a:lvl1pPr>
          </a:lstStyle>
          <a:p>
            <a:fld id="{A5B54B7F-CFD7-42C9-95D8-A751AB99534C}" type="slidenum">
              <a:rPr lang="en-GB"/>
              <a:pPr/>
              <a:t>‹#›</a:t>
            </a:fld>
            <a:endParaRPr lang="en-GB" sz="160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GB"/>
          </a:p>
        </p:txBody>
      </p:sp>
      <p:sp>
        <p:nvSpPr>
          <p:cNvPr id="4" name="Slide Number Placeholder 3"/>
          <p:cNvSpPr>
            <a:spLocks noGrp="1"/>
          </p:cNvSpPr>
          <p:nvPr>
            <p:ph type="sldNum" sz="quarter" idx="11"/>
          </p:nvPr>
        </p:nvSpPr>
        <p:spPr/>
        <p:txBody>
          <a:bodyPr/>
          <a:lstStyle>
            <a:lvl1pPr>
              <a:defRPr/>
            </a:lvl1pPr>
          </a:lstStyle>
          <a:p>
            <a:fld id="{A1B2659F-1AD7-4F14-81C4-ADEDB1B20730}" type="slidenum">
              <a:rPr lang="en-GB"/>
              <a:pPr/>
              <a:t>‹#›</a:t>
            </a:fld>
            <a:endParaRPr lang="en-GB" sz="160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Slide Number Placeholder 2"/>
          <p:cNvSpPr>
            <a:spLocks noGrp="1"/>
          </p:cNvSpPr>
          <p:nvPr>
            <p:ph type="sldNum" sz="quarter" idx="11"/>
          </p:nvPr>
        </p:nvSpPr>
        <p:spPr/>
        <p:txBody>
          <a:bodyPr/>
          <a:lstStyle>
            <a:lvl1pPr>
              <a:defRPr/>
            </a:lvl1pPr>
          </a:lstStyle>
          <a:p>
            <a:fld id="{70B3CE18-A588-438A-818D-D402E37F5853}" type="slidenum">
              <a:rPr lang="en-GB"/>
              <a:pPr/>
              <a:t>‹#›</a:t>
            </a:fld>
            <a:endParaRPr lang="en-GB" sz="16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0" y="303213"/>
            <a:ext cx="3340100" cy="12858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68750" y="303213"/>
            <a:ext cx="5675313" cy="64817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0" y="1589088"/>
            <a:ext cx="3340100" cy="51958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E6E5FF68-5D0A-4A29-8164-F5FA0A65DE11}" type="slidenum">
              <a:rPr lang="en-GB"/>
              <a:pPr/>
              <a:t>‹#›</a:t>
            </a:fld>
            <a:endParaRPr lang="en-GB" sz="160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138" y="5318125"/>
            <a:ext cx="6091237" cy="62706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9138" y="679450"/>
            <a:ext cx="6091237" cy="45577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89138" y="5945188"/>
            <a:ext cx="6091237" cy="8921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Slide Number Placeholder 5"/>
          <p:cNvSpPr>
            <a:spLocks noGrp="1"/>
          </p:cNvSpPr>
          <p:nvPr>
            <p:ph type="sldNum" sz="quarter" idx="11"/>
          </p:nvPr>
        </p:nvSpPr>
        <p:spPr/>
        <p:txBody>
          <a:bodyPr/>
          <a:lstStyle>
            <a:lvl1pPr>
              <a:defRPr/>
            </a:lvl1pPr>
          </a:lstStyle>
          <a:p>
            <a:fld id="{AE42643D-99CE-49A6-B68E-51ECE14F37DF}" type="slidenum">
              <a:rPr lang="en-GB"/>
              <a:pPr/>
              <a:t>‹#›</a:t>
            </a:fld>
            <a:endParaRPr lang="en-GB" sz="160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F77693E4-C871-4A11-9A28-7FDAD6AD934A}" type="slidenum">
              <a:rPr lang="en-GB"/>
              <a:pPr/>
              <a:t>‹#›</a:t>
            </a:fld>
            <a:endParaRPr lang="en-GB" sz="16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3425" y="322263"/>
            <a:ext cx="2155825" cy="66119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11188" y="322263"/>
            <a:ext cx="6319837" cy="66119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Slide Number Placeholder 4"/>
          <p:cNvSpPr>
            <a:spLocks noGrp="1"/>
          </p:cNvSpPr>
          <p:nvPr>
            <p:ph type="sldNum" sz="quarter" idx="11"/>
          </p:nvPr>
        </p:nvSpPr>
        <p:spPr/>
        <p:txBody>
          <a:bodyPr/>
          <a:lstStyle>
            <a:lvl1pPr>
              <a:defRPr/>
            </a:lvl1pPr>
          </a:lstStyle>
          <a:p>
            <a:fld id="{E97CBC53-0468-4F6C-80ED-218DC62F935B}" type="slidenum">
              <a:rPr lang="en-GB"/>
              <a:pPr/>
              <a:t>‹#›</a:t>
            </a:fld>
            <a:endParaRPr lang="en-GB" sz="16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11188" y="322263"/>
            <a:ext cx="7237412" cy="1266825"/>
          </a:xfrm>
          <a:prstGeom prst="rect">
            <a:avLst/>
          </a:prstGeom>
          <a:noFill/>
          <a:ln w="9525">
            <a:noFill/>
            <a:miter lim="800000"/>
            <a:headEnd/>
            <a:tailEnd/>
          </a:ln>
          <a:effectLst/>
        </p:spPr>
        <p:txBody>
          <a:bodyPr vert="horz" wrap="square" lIns="101384" tIns="50691" rIns="101384" bIns="50691"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611188" y="1817688"/>
            <a:ext cx="8628062" cy="5116512"/>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4"/>
          <p:cNvSpPr>
            <a:spLocks noGrp="1" noChangeArrowheads="1"/>
          </p:cNvSpPr>
          <p:nvPr>
            <p:ph type="dt" sz="half" idx="2"/>
          </p:nvPr>
        </p:nvSpPr>
        <p:spPr bwMode="auto">
          <a:xfrm>
            <a:off x="611188" y="7016750"/>
            <a:ext cx="2114550" cy="506413"/>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lvl1pPr defTabSz="1014413">
              <a:defRPr sz="1000">
                <a:solidFill>
                  <a:srgbClr val="003399"/>
                </a:solidFill>
              </a:defRPr>
            </a:lvl1pPr>
          </a:lstStyle>
          <a:p>
            <a:endParaRPr lang="en-GB"/>
          </a:p>
        </p:txBody>
      </p:sp>
      <p:sp>
        <p:nvSpPr>
          <p:cNvPr id="1030" name="Rectangle 6"/>
          <p:cNvSpPr>
            <a:spLocks noGrp="1" noChangeArrowheads="1"/>
          </p:cNvSpPr>
          <p:nvPr>
            <p:ph type="sldNum" sz="quarter" idx="4"/>
          </p:nvPr>
        </p:nvSpPr>
        <p:spPr bwMode="auto">
          <a:xfrm>
            <a:off x="7696200" y="7016750"/>
            <a:ext cx="2114550" cy="506413"/>
          </a:xfrm>
          <a:prstGeom prst="rect">
            <a:avLst/>
          </a:prstGeom>
          <a:noFill/>
          <a:ln w="9525">
            <a:noFill/>
            <a:miter lim="800000"/>
            <a:headEnd/>
            <a:tailEnd/>
          </a:ln>
          <a:effectLst/>
        </p:spPr>
        <p:txBody>
          <a:bodyPr vert="horz" wrap="square" lIns="101384" tIns="50691" rIns="101384" bIns="50691" numCol="1" anchor="t" anchorCtr="0" compatLnSpc="1">
            <a:prstTxWarp prst="textNoShape">
              <a:avLst/>
            </a:prstTxWarp>
          </a:bodyPr>
          <a:lstStyle>
            <a:lvl1pPr algn="r" defTabSz="1014413">
              <a:defRPr sz="1000">
                <a:solidFill>
                  <a:srgbClr val="003399"/>
                </a:solidFill>
              </a:defRPr>
            </a:lvl1pPr>
          </a:lstStyle>
          <a:p>
            <a:fld id="{F354BF72-ACA3-44A4-878A-614A75F1CF45}" type="slidenum">
              <a:rPr lang="en-GB"/>
              <a:pPr/>
              <a:t>‹#›</a:t>
            </a:fld>
            <a:endParaRPr lang="en-GB" sz="1600"/>
          </a:p>
        </p:txBody>
      </p:sp>
      <p:sp>
        <p:nvSpPr>
          <p:cNvPr id="1031" name="Rectangle 7"/>
          <p:cNvSpPr>
            <a:spLocks noChangeArrowheads="1"/>
          </p:cNvSpPr>
          <p:nvPr userDrawn="1"/>
        </p:nvSpPr>
        <p:spPr bwMode="auto">
          <a:xfrm>
            <a:off x="0" y="7319963"/>
            <a:ext cx="10152063" cy="288925"/>
          </a:xfrm>
          <a:prstGeom prst="rect">
            <a:avLst/>
          </a:prstGeom>
          <a:solidFill>
            <a:srgbClr val="003399"/>
          </a:solidFill>
          <a:ln w="9525">
            <a:noFill/>
            <a:miter lim="800000"/>
            <a:headEnd/>
            <a:tailEnd/>
          </a:ln>
          <a:effectLst/>
        </p:spPr>
        <p:txBody>
          <a:bodyPr wrap="none" anchor="ctr"/>
          <a:lstStyle/>
          <a:p>
            <a:endParaRPr lang="en-US"/>
          </a:p>
        </p:txBody>
      </p:sp>
      <p:sp>
        <p:nvSpPr>
          <p:cNvPr id="1032" name="Rectangle 8"/>
          <p:cNvSpPr>
            <a:spLocks noChangeArrowheads="1"/>
          </p:cNvSpPr>
          <p:nvPr userDrawn="1"/>
        </p:nvSpPr>
        <p:spPr bwMode="auto">
          <a:xfrm>
            <a:off x="0" y="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1034" name="Picture 10"/>
          <p:cNvPicPr>
            <a:picLocks noChangeAspect="1" noChangeArrowheads="1"/>
          </p:cNvPicPr>
          <p:nvPr userDrawn="1"/>
        </p:nvPicPr>
        <p:blipFill>
          <a:blip r:embed="rId13"/>
          <a:srcRect/>
          <a:stretch>
            <a:fillRect/>
          </a:stretch>
        </p:blipFill>
        <p:spPr bwMode="auto">
          <a:xfrm>
            <a:off x="8229600" y="431800"/>
            <a:ext cx="1612900" cy="788988"/>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p:titleStyle>
    <p:bodyStyle>
      <a:lvl1pPr algn="l" defTabSz="1014413" rtl="0" fontAlgn="base">
        <a:spcBef>
          <a:spcPct val="20000"/>
        </a:spcBef>
        <a:spcAft>
          <a:spcPct val="0"/>
        </a:spcAft>
        <a:defRPr sz="2500" b="1">
          <a:solidFill>
            <a:srgbClr val="003399"/>
          </a:solidFill>
          <a:latin typeface="+mn-lt"/>
          <a:ea typeface="+mn-ea"/>
          <a:cs typeface="+mn-cs"/>
        </a:defRPr>
      </a:lvl1pPr>
      <a:lvl2pPr marL="374650" indent="6350" algn="l" defTabSz="1014413" rtl="0" fontAlgn="base">
        <a:spcBef>
          <a:spcPct val="20000"/>
        </a:spcBef>
        <a:spcAft>
          <a:spcPct val="0"/>
        </a:spcAft>
        <a:defRPr sz="2600">
          <a:solidFill>
            <a:srgbClr val="003399"/>
          </a:solidFill>
          <a:latin typeface="+mn-lt"/>
        </a:defRPr>
      </a:lvl2pPr>
      <a:lvl3pPr marL="755650" algn="l" defTabSz="1014413" rtl="0" fontAlgn="base">
        <a:spcBef>
          <a:spcPct val="20000"/>
        </a:spcBef>
        <a:spcAft>
          <a:spcPct val="0"/>
        </a:spcAft>
        <a:defRPr sz="2200" b="1">
          <a:solidFill>
            <a:srgbClr val="FF6600"/>
          </a:solidFill>
          <a:latin typeface="+mn-lt"/>
        </a:defRPr>
      </a:lvl3pPr>
      <a:lvl4pPr marL="1143000" indent="6350" algn="l" defTabSz="1014413" rtl="0" fontAlgn="base">
        <a:spcBef>
          <a:spcPct val="20000"/>
        </a:spcBef>
        <a:spcAft>
          <a:spcPct val="0"/>
        </a:spcAft>
        <a:defRPr sz="2200" i="1">
          <a:solidFill>
            <a:srgbClr val="003399"/>
          </a:solidFill>
          <a:latin typeface="+mn-lt"/>
        </a:defRPr>
      </a:lvl4pPr>
      <a:lvl5pPr marL="1524000" algn="l" defTabSz="1014413" rtl="0" fontAlgn="base">
        <a:spcBef>
          <a:spcPct val="20000"/>
        </a:spcBef>
        <a:spcAft>
          <a:spcPct val="0"/>
        </a:spcAft>
        <a:defRPr sz="2000">
          <a:solidFill>
            <a:srgbClr val="003399"/>
          </a:solidFill>
          <a:latin typeface="+mn-lt"/>
        </a:defRPr>
      </a:lvl5pPr>
      <a:lvl6pPr marL="1981200" algn="l" defTabSz="1014413" rtl="0" fontAlgn="base">
        <a:spcBef>
          <a:spcPct val="20000"/>
        </a:spcBef>
        <a:spcAft>
          <a:spcPct val="0"/>
        </a:spcAft>
        <a:defRPr sz="2000">
          <a:solidFill>
            <a:srgbClr val="003399"/>
          </a:solidFill>
          <a:latin typeface="+mn-lt"/>
        </a:defRPr>
      </a:lvl6pPr>
      <a:lvl7pPr marL="2438400" algn="l" defTabSz="1014413" rtl="0" fontAlgn="base">
        <a:spcBef>
          <a:spcPct val="20000"/>
        </a:spcBef>
        <a:spcAft>
          <a:spcPct val="0"/>
        </a:spcAft>
        <a:defRPr sz="2000">
          <a:solidFill>
            <a:srgbClr val="003399"/>
          </a:solidFill>
          <a:latin typeface="+mn-lt"/>
        </a:defRPr>
      </a:lvl7pPr>
      <a:lvl8pPr marL="2895600" algn="l" defTabSz="1014413" rtl="0" fontAlgn="base">
        <a:spcBef>
          <a:spcPct val="20000"/>
        </a:spcBef>
        <a:spcAft>
          <a:spcPct val="0"/>
        </a:spcAft>
        <a:defRPr sz="2000">
          <a:solidFill>
            <a:srgbClr val="003399"/>
          </a:solidFill>
          <a:latin typeface="+mn-lt"/>
        </a:defRPr>
      </a:lvl8pPr>
      <a:lvl9pPr marL="3352800" algn="l" defTabSz="1014413" rtl="0" fontAlgn="base">
        <a:spcBef>
          <a:spcPct val="20000"/>
        </a:spcBef>
        <a:spcAft>
          <a:spcPct val="0"/>
        </a:spcAft>
        <a:defRPr sz="2000">
          <a:solidFill>
            <a:srgbClr val="00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 name="Rectangle 17"/>
          <p:cNvSpPr>
            <a:spLocks noChangeArrowheads="1"/>
          </p:cNvSpPr>
          <p:nvPr/>
        </p:nvSpPr>
        <p:spPr bwMode="auto">
          <a:xfrm>
            <a:off x="0" y="0"/>
            <a:ext cx="10152063" cy="5486400"/>
          </a:xfrm>
          <a:prstGeom prst="rect">
            <a:avLst/>
          </a:prstGeom>
          <a:solidFill>
            <a:srgbClr val="003399"/>
          </a:solidFill>
          <a:ln w="9525">
            <a:noFill/>
            <a:miter lim="800000"/>
            <a:headEnd/>
            <a:tailEnd/>
          </a:ln>
          <a:effectLst/>
        </p:spPr>
        <p:txBody>
          <a:bodyPr wrap="none" anchor="ctr"/>
          <a:lstStyle/>
          <a:p>
            <a:pPr algn="r"/>
            <a:endParaRPr lang="en-US" dirty="0"/>
          </a:p>
        </p:txBody>
      </p:sp>
      <p:sp>
        <p:nvSpPr>
          <p:cNvPr id="2066" name="Text Box 18"/>
          <p:cNvSpPr txBox="1">
            <a:spLocks noChangeArrowheads="1"/>
          </p:cNvSpPr>
          <p:nvPr/>
        </p:nvSpPr>
        <p:spPr bwMode="auto">
          <a:xfrm>
            <a:off x="792163" y="1055688"/>
            <a:ext cx="8580437" cy="3200107"/>
          </a:xfrm>
          <a:prstGeom prst="rect">
            <a:avLst/>
          </a:prstGeom>
          <a:noFill/>
          <a:ln w="9525">
            <a:noFill/>
            <a:miter lim="800000"/>
            <a:headEnd/>
            <a:tailEnd/>
          </a:ln>
          <a:effectLst/>
        </p:spPr>
        <p:txBody>
          <a:bodyPr>
            <a:spAutoFit/>
          </a:bodyPr>
          <a:lstStyle/>
          <a:p>
            <a:pPr algn="ctr" eaLnBrk="1" hangingPunct="1"/>
            <a:r>
              <a:rPr lang="en-US" sz="3600" dirty="0">
                <a:solidFill>
                  <a:schemeClr val="bg1"/>
                </a:solidFill>
                <a:latin typeface="Arial" charset="0"/>
              </a:rPr>
              <a:t>Chapter 3</a:t>
            </a:r>
          </a:p>
          <a:p>
            <a:pPr algn="ctr" eaLnBrk="1" hangingPunct="1"/>
            <a:r>
              <a:rPr lang="en-US" sz="3600" dirty="0">
                <a:solidFill>
                  <a:schemeClr val="bg1"/>
                </a:solidFill>
                <a:latin typeface="Arial" charset="0"/>
              </a:rPr>
              <a:t>Dynamic Programming</a:t>
            </a:r>
          </a:p>
          <a:p>
            <a:pPr algn="ctr" eaLnBrk="1" hangingPunct="1">
              <a:lnSpc>
                <a:spcPct val="70000"/>
              </a:lnSpc>
              <a:spcBef>
                <a:spcPct val="50000"/>
              </a:spcBef>
            </a:pPr>
            <a:endParaRPr lang="en-US" sz="3600" i="1" dirty="0">
              <a:solidFill>
                <a:schemeClr val="bg1"/>
              </a:solidFill>
              <a:latin typeface="Arial" charset="0"/>
            </a:endParaRPr>
          </a:p>
          <a:p>
            <a:pPr algn="ctr" eaLnBrk="1" hangingPunct="1">
              <a:lnSpc>
                <a:spcPct val="70000"/>
              </a:lnSpc>
              <a:spcBef>
                <a:spcPct val="50000"/>
              </a:spcBef>
            </a:pPr>
            <a:r>
              <a:rPr lang="en-US" i="1" dirty="0" err="1">
                <a:solidFill>
                  <a:schemeClr val="bg1"/>
                </a:solidFill>
                <a:latin typeface="Arial" charset="0"/>
              </a:rPr>
              <a:t>Divesh</a:t>
            </a:r>
            <a:r>
              <a:rPr lang="en-US" i="1" dirty="0">
                <a:solidFill>
                  <a:schemeClr val="bg1"/>
                </a:solidFill>
                <a:latin typeface="Arial" charset="0"/>
              </a:rPr>
              <a:t> Aggarwal</a:t>
            </a:r>
          </a:p>
          <a:p>
            <a:pPr algn="ctr" eaLnBrk="1" hangingPunct="1">
              <a:lnSpc>
                <a:spcPct val="70000"/>
              </a:lnSpc>
              <a:spcBef>
                <a:spcPct val="50000"/>
              </a:spcBef>
            </a:pPr>
            <a:r>
              <a:rPr lang="en-US" dirty="0">
                <a:solidFill>
                  <a:schemeClr val="bg1"/>
                </a:solidFill>
                <a:latin typeface="Arial" charset="0"/>
              </a:rPr>
              <a:t>School of Computing</a:t>
            </a:r>
          </a:p>
          <a:p>
            <a:pPr algn="ctr" eaLnBrk="1" hangingPunct="1">
              <a:lnSpc>
                <a:spcPct val="70000"/>
              </a:lnSpc>
              <a:spcBef>
                <a:spcPct val="50000"/>
              </a:spcBef>
            </a:pPr>
            <a:r>
              <a:rPr lang="en-US" dirty="0">
                <a:solidFill>
                  <a:schemeClr val="bg1"/>
                </a:solidFill>
                <a:latin typeface="Arial" charset="0"/>
              </a:rPr>
              <a:t>Department of Computer Science</a:t>
            </a:r>
            <a:endParaRPr lang="en-GB" dirty="0">
              <a:solidFill>
                <a:schemeClr val="bg1"/>
              </a:solidFill>
              <a:latin typeface="Arial" charset="0"/>
            </a:endParaRPr>
          </a:p>
        </p:txBody>
      </p:sp>
      <p:sp>
        <p:nvSpPr>
          <p:cNvPr id="2067" name="Rectangle 19"/>
          <p:cNvSpPr>
            <a:spLocks noChangeArrowheads="1"/>
          </p:cNvSpPr>
          <p:nvPr/>
        </p:nvSpPr>
        <p:spPr bwMode="auto">
          <a:xfrm>
            <a:off x="0" y="7315200"/>
            <a:ext cx="10152063" cy="280988"/>
          </a:xfrm>
          <a:prstGeom prst="rect">
            <a:avLst/>
          </a:prstGeom>
          <a:solidFill>
            <a:srgbClr val="003399"/>
          </a:solidFill>
          <a:ln w="9525">
            <a:noFill/>
            <a:miter lim="800000"/>
            <a:headEnd/>
            <a:tailEnd/>
          </a:ln>
          <a:effectLst/>
        </p:spPr>
        <p:txBody>
          <a:bodyPr wrap="none" anchor="ctr"/>
          <a:lstStyle/>
          <a:p>
            <a:endParaRPr lang="en-US"/>
          </a:p>
        </p:txBody>
      </p:sp>
      <p:pic>
        <p:nvPicPr>
          <p:cNvPr id="2068" name="Picture 20"/>
          <p:cNvPicPr>
            <a:picLocks noChangeAspect="1" noChangeArrowheads="1"/>
          </p:cNvPicPr>
          <p:nvPr/>
        </p:nvPicPr>
        <p:blipFill>
          <a:blip r:embed="rId3"/>
          <a:srcRect/>
          <a:stretch>
            <a:fillRect/>
          </a:stretch>
        </p:blipFill>
        <p:spPr bwMode="auto">
          <a:xfrm>
            <a:off x="3810000" y="5751513"/>
            <a:ext cx="2576513" cy="125888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86F895F-8C97-EF4E-B62F-1C2620F954D2}"/>
              </a:ext>
            </a:extLst>
          </p:cNvPr>
          <p:cNvSpPr txBox="1">
            <a:spLocks noChangeArrowheads="1"/>
          </p:cNvSpPr>
          <p:nvPr/>
        </p:nvSpPr>
        <p:spPr>
          <a:xfrm>
            <a:off x="199231" y="292894"/>
            <a:ext cx="6096000" cy="990600"/>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3160" kern="0" dirty="0"/>
              <a:t>Backtracking Algorithm for Fibonacci Sequence</a:t>
            </a:r>
          </a:p>
        </p:txBody>
      </p:sp>
      <p:sp>
        <p:nvSpPr>
          <p:cNvPr id="7" name="TextBox 6">
            <a:extLst>
              <a:ext uri="{FF2B5EF4-FFF2-40B4-BE49-F238E27FC236}">
                <a16:creationId xmlns:a16="http://schemas.microsoft.com/office/drawing/2014/main" id="{A3B13C58-369E-584B-A5E8-0AC708AA8590}"/>
              </a:ext>
            </a:extLst>
          </p:cNvPr>
          <p:cNvSpPr txBox="1"/>
          <p:nvPr/>
        </p:nvSpPr>
        <p:spPr>
          <a:xfrm>
            <a:off x="199231" y="1512094"/>
            <a:ext cx="9699633" cy="400110"/>
          </a:xfrm>
          <a:prstGeom prst="rect">
            <a:avLst/>
          </a:prstGeom>
          <a:noFill/>
        </p:spPr>
        <p:txBody>
          <a:bodyPr wrap="square" rtlCol="0">
            <a:spAutoFit/>
          </a:bodyPr>
          <a:lstStyle/>
          <a:p>
            <a:r>
              <a:rPr lang="en-US" sz="2000" dirty="0"/>
              <a:t>Suppose we want to compute   </a:t>
            </a:r>
            <a:r>
              <a:rPr lang="en-US" sz="2000" b="1" i="1" dirty="0" err="1"/>
              <a:t>F</a:t>
            </a:r>
            <a:r>
              <a:rPr lang="en-US" sz="2000" b="1" i="1" baseline="-25000" dirty="0" err="1"/>
              <a:t>n</a:t>
            </a:r>
            <a:r>
              <a:rPr lang="en-US" sz="2000" dirty="0"/>
              <a:t>   given by the following recurrence</a:t>
            </a:r>
          </a:p>
        </p:txBody>
      </p:sp>
      <p:pic>
        <p:nvPicPr>
          <p:cNvPr id="8" name="Picture 7">
            <a:extLst>
              <a:ext uri="{FF2B5EF4-FFF2-40B4-BE49-F238E27FC236}">
                <a16:creationId xmlns:a16="http://schemas.microsoft.com/office/drawing/2014/main" id="{70CDC1BC-80D3-4D40-AA08-8A23D2809FAA}"/>
              </a:ext>
            </a:extLst>
          </p:cNvPr>
          <p:cNvPicPr>
            <a:picLocks noChangeAspect="1"/>
          </p:cNvPicPr>
          <p:nvPr/>
        </p:nvPicPr>
        <p:blipFill>
          <a:blip r:embed="rId2"/>
          <a:stretch>
            <a:fillRect/>
          </a:stretch>
        </p:blipFill>
        <p:spPr>
          <a:xfrm>
            <a:off x="598923" y="1997280"/>
            <a:ext cx="4483100" cy="1600200"/>
          </a:xfrm>
          <a:prstGeom prst="rect">
            <a:avLst/>
          </a:prstGeom>
        </p:spPr>
      </p:pic>
      <p:pic>
        <p:nvPicPr>
          <p:cNvPr id="10" name="Picture 9">
            <a:extLst>
              <a:ext uri="{FF2B5EF4-FFF2-40B4-BE49-F238E27FC236}">
                <a16:creationId xmlns:a16="http://schemas.microsoft.com/office/drawing/2014/main" id="{E7D4E70F-D211-F94B-8736-2C81F620A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831" y="4636294"/>
            <a:ext cx="5956300" cy="2489200"/>
          </a:xfrm>
          <a:prstGeom prst="rect">
            <a:avLst/>
          </a:prstGeom>
        </p:spPr>
      </p:pic>
    </p:spTree>
    <p:extLst>
      <p:ext uri="{BB962C8B-B14F-4D97-AF65-F5344CB8AC3E}">
        <p14:creationId xmlns:p14="http://schemas.microsoft.com/office/powerpoint/2010/main" val="316005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580231" y="369094"/>
            <a:ext cx="7237412"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Backtracking can be slow</a:t>
            </a:r>
          </a:p>
        </p:txBody>
      </p:sp>
      <p:sp>
        <p:nvSpPr>
          <p:cNvPr id="6" name="TextBox 5">
            <a:extLst>
              <a:ext uri="{FF2B5EF4-FFF2-40B4-BE49-F238E27FC236}">
                <a16:creationId xmlns:a16="http://schemas.microsoft.com/office/drawing/2014/main" id="{7DE8B5F5-1641-0847-9E1F-17DD0774FBDA}"/>
              </a:ext>
            </a:extLst>
          </p:cNvPr>
          <p:cNvSpPr txBox="1"/>
          <p:nvPr/>
        </p:nvSpPr>
        <p:spPr>
          <a:xfrm>
            <a:off x="960437" y="2502694"/>
            <a:ext cx="6477000" cy="2677656"/>
          </a:xfrm>
          <a:prstGeom prst="rect">
            <a:avLst/>
          </a:prstGeom>
          <a:noFill/>
        </p:spPr>
        <p:txBody>
          <a:bodyPr wrap="square" rtlCol="0">
            <a:spAutoFit/>
          </a:bodyPr>
          <a:lstStyle/>
          <a:p>
            <a:r>
              <a:rPr lang="en-US" i="1" dirty="0"/>
              <a:t>T(n) &gt; 2 T(n-2)</a:t>
            </a:r>
          </a:p>
          <a:p>
            <a:r>
              <a:rPr lang="en-US" i="1" dirty="0"/>
              <a:t>        &gt; 2</a:t>
            </a:r>
            <a:r>
              <a:rPr lang="en-US" i="1" baseline="30000" dirty="0"/>
              <a:t>2 </a:t>
            </a:r>
            <a:r>
              <a:rPr lang="en-US" i="1" dirty="0"/>
              <a:t>T(n-4)</a:t>
            </a:r>
          </a:p>
          <a:p>
            <a:r>
              <a:rPr lang="en-US" i="1" dirty="0"/>
              <a:t>        .</a:t>
            </a:r>
          </a:p>
          <a:p>
            <a:r>
              <a:rPr lang="en-US" i="1" dirty="0"/>
              <a:t>        .</a:t>
            </a:r>
          </a:p>
          <a:p>
            <a:r>
              <a:rPr lang="en-US" i="1" dirty="0"/>
              <a:t>        .</a:t>
            </a:r>
          </a:p>
          <a:p>
            <a:r>
              <a:rPr lang="en-US" i="1" dirty="0"/>
              <a:t>        &gt; 2</a:t>
            </a:r>
            <a:r>
              <a:rPr lang="en-US" i="1" baseline="30000" dirty="0"/>
              <a:t>n/2</a:t>
            </a:r>
            <a:r>
              <a:rPr lang="en-US" i="1" dirty="0"/>
              <a:t> T(0) = 2</a:t>
            </a:r>
            <a:r>
              <a:rPr lang="en-US" i="1" baseline="30000" dirty="0"/>
              <a:t>n/2</a:t>
            </a:r>
            <a:r>
              <a:rPr lang="en-US" i="1" dirty="0"/>
              <a:t> </a:t>
            </a:r>
          </a:p>
          <a:p>
            <a:r>
              <a:rPr lang="en-US" i="1" dirty="0"/>
              <a:t>       </a:t>
            </a:r>
          </a:p>
        </p:txBody>
      </p:sp>
      <p:sp>
        <p:nvSpPr>
          <p:cNvPr id="7" name="TextBox 6">
            <a:extLst>
              <a:ext uri="{FF2B5EF4-FFF2-40B4-BE49-F238E27FC236}">
                <a16:creationId xmlns:a16="http://schemas.microsoft.com/office/drawing/2014/main" id="{85F51930-7139-6748-B8FF-2C399A88D4B1}"/>
              </a:ext>
            </a:extLst>
          </p:cNvPr>
          <p:cNvSpPr txBox="1"/>
          <p:nvPr/>
        </p:nvSpPr>
        <p:spPr>
          <a:xfrm>
            <a:off x="789889" y="1396076"/>
            <a:ext cx="6818096" cy="461665"/>
          </a:xfrm>
          <a:prstGeom prst="rect">
            <a:avLst/>
          </a:prstGeom>
          <a:noFill/>
        </p:spPr>
        <p:txBody>
          <a:bodyPr wrap="square" rtlCol="0">
            <a:spAutoFit/>
          </a:bodyPr>
          <a:lstStyle/>
          <a:p>
            <a:r>
              <a:rPr lang="en-US" i="1" dirty="0"/>
              <a:t>T(0) = 1,   T(1) = 1,   T(n) = T(n-1) + T(n-2) + 1 </a:t>
            </a:r>
          </a:p>
        </p:txBody>
      </p:sp>
      <p:sp>
        <p:nvSpPr>
          <p:cNvPr id="9" name="TextBox 8">
            <a:extLst>
              <a:ext uri="{FF2B5EF4-FFF2-40B4-BE49-F238E27FC236}">
                <a16:creationId xmlns:a16="http://schemas.microsoft.com/office/drawing/2014/main" id="{0BF042C7-F872-234B-8EAF-A11F6249D44B}"/>
              </a:ext>
            </a:extLst>
          </p:cNvPr>
          <p:cNvSpPr txBox="1"/>
          <p:nvPr/>
        </p:nvSpPr>
        <p:spPr>
          <a:xfrm>
            <a:off x="789889" y="5703094"/>
            <a:ext cx="7027754" cy="461665"/>
          </a:xfrm>
          <a:prstGeom prst="rect">
            <a:avLst/>
          </a:prstGeom>
          <a:noFill/>
        </p:spPr>
        <p:txBody>
          <a:bodyPr wrap="square" rtlCol="0">
            <a:spAutoFit/>
          </a:bodyPr>
          <a:lstStyle/>
          <a:p>
            <a:r>
              <a:rPr lang="en-US" dirty="0"/>
              <a:t>Can we speed up this algorithm?</a:t>
            </a:r>
          </a:p>
        </p:txBody>
      </p:sp>
    </p:spTree>
    <p:extLst>
      <p:ext uri="{BB962C8B-B14F-4D97-AF65-F5344CB8AC3E}">
        <p14:creationId xmlns:p14="http://schemas.microsoft.com/office/powerpoint/2010/main" val="342478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580231" y="597694"/>
            <a:ext cx="7237412"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Backtracking algorithm repeats computation</a:t>
            </a:r>
          </a:p>
        </p:txBody>
      </p:sp>
      <p:pic>
        <p:nvPicPr>
          <p:cNvPr id="7" name="Picture 6">
            <a:extLst>
              <a:ext uri="{FF2B5EF4-FFF2-40B4-BE49-F238E27FC236}">
                <a16:creationId xmlns:a16="http://schemas.microsoft.com/office/drawing/2014/main" id="{C4131EC7-AD6B-6546-B291-E12BE6F2E0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03" y="1740694"/>
            <a:ext cx="10045700" cy="4813300"/>
          </a:xfrm>
          <a:prstGeom prst="rect">
            <a:avLst/>
          </a:prstGeom>
        </p:spPr>
      </p:pic>
    </p:spTree>
    <p:extLst>
      <p:ext uri="{BB962C8B-B14F-4D97-AF65-F5344CB8AC3E}">
        <p14:creationId xmlns:p14="http://schemas.microsoft.com/office/powerpoint/2010/main" val="74725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580231" y="597694"/>
            <a:ext cx="7237412"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Backtracking algorithm repeats computation</a:t>
            </a:r>
          </a:p>
        </p:txBody>
      </p:sp>
      <p:pic>
        <p:nvPicPr>
          <p:cNvPr id="5" name="Picture 4">
            <a:extLst>
              <a:ext uri="{FF2B5EF4-FFF2-40B4-BE49-F238E27FC236}">
                <a16:creationId xmlns:a16="http://schemas.microsoft.com/office/drawing/2014/main" id="{3CE226DF-8FBE-9D4B-83E5-BF75CDC72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2578894"/>
            <a:ext cx="9788664" cy="2520950"/>
          </a:xfrm>
          <a:prstGeom prst="rect">
            <a:avLst/>
          </a:prstGeom>
        </p:spPr>
      </p:pic>
    </p:spTree>
    <p:extLst>
      <p:ext uri="{BB962C8B-B14F-4D97-AF65-F5344CB8AC3E}">
        <p14:creationId xmlns:p14="http://schemas.microsoft.com/office/powerpoint/2010/main" val="2015898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Memo(r)</a:t>
            </a:r>
            <a:r>
              <a:rPr lang="en-US" kern="0" dirty="0" err="1"/>
              <a:t>ization</a:t>
            </a:r>
            <a:r>
              <a:rPr lang="en-US" kern="0" dirty="0"/>
              <a:t>: Remember everything </a:t>
            </a:r>
          </a:p>
        </p:txBody>
      </p:sp>
      <p:pic>
        <p:nvPicPr>
          <p:cNvPr id="3" name="Picture 2">
            <a:extLst>
              <a:ext uri="{FF2B5EF4-FFF2-40B4-BE49-F238E27FC236}">
                <a16:creationId xmlns:a16="http://schemas.microsoft.com/office/drawing/2014/main" id="{A897D73A-163D-A241-B783-D87C3D3BD4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062" y="1588294"/>
            <a:ext cx="9876632" cy="4482660"/>
          </a:xfrm>
          <a:prstGeom prst="rect">
            <a:avLst/>
          </a:prstGeom>
        </p:spPr>
      </p:pic>
      <p:sp>
        <p:nvSpPr>
          <p:cNvPr id="6" name="TextBox 5">
            <a:extLst>
              <a:ext uri="{FF2B5EF4-FFF2-40B4-BE49-F238E27FC236}">
                <a16:creationId xmlns:a16="http://schemas.microsoft.com/office/drawing/2014/main" id="{794158DF-A5ED-3041-BAE0-AE2C2646B9DD}"/>
              </a:ext>
            </a:extLst>
          </p:cNvPr>
          <p:cNvSpPr txBox="1"/>
          <p:nvPr/>
        </p:nvSpPr>
        <p:spPr>
          <a:xfrm>
            <a:off x="427831" y="6312694"/>
            <a:ext cx="8458200" cy="461665"/>
          </a:xfrm>
          <a:prstGeom prst="rect">
            <a:avLst/>
          </a:prstGeom>
          <a:noFill/>
        </p:spPr>
        <p:txBody>
          <a:bodyPr wrap="square" rtlCol="0">
            <a:spAutoFit/>
          </a:bodyPr>
          <a:lstStyle/>
          <a:p>
            <a:r>
              <a:rPr lang="en-US" dirty="0"/>
              <a:t>Why </a:t>
            </a:r>
            <a:r>
              <a:rPr lang="en-US" dirty="0" err="1"/>
              <a:t>memoization</a:t>
            </a:r>
            <a:r>
              <a:rPr lang="en-US" dirty="0"/>
              <a:t> without an “r”? </a:t>
            </a:r>
          </a:p>
        </p:txBody>
      </p:sp>
    </p:spTree>
    <p:extLst>
      <p:ext uri="{BB962C8B-B14F-4D97-AF65-F5344CB8AC3E}">
        <p14:creationId xmlns:p14="http://schemas.microsoft.com/office/powerpoint/2010/main" val="25366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err="1"/>
              <a:t>Memoization</a:t>
            </a:r>
            <a:r>
              <a:rPr lang="en-US" kern="0" dirty="0"/>
              <a:t> trims the recursion tree</a:t>
            </a:r>
          </a:p>
        </p:txBody>
      </p:sp>
      <p:pic>
        <p:nvPicPr>
          <p:cNvPr id="7" name="Picture 6">
            <a:extLst>
              <a:ext uri="{FF2B5EF4-FFF2-40B4-BE49-F238E27FC236}">
                <a16:creationId xmlns:a16="http://schemas.microsoft.com/office/drawing/2014/main" id="{7993C9C5-BC91-1F4E-8CBE-D61B07D1A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831" y="1664494"/>
            <a:ext cx="9114631" cy="5219395"/>
          </a:xfrm>
          <a:prstGeom prst="rect">
            <a:avLst/>
          </a:prstGeom>
        </p:spPr>
      </p:pic>
    </p:spTree>
    <p:extLst>
      <p:ext uri="{BB962C8B-B14F-4D97-AF65-F5344CB8AC3E}">
        <p14:creationId xmlns:p14="http://schemas.microsoft.com/office/powerpoint/2010/main" val="35845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Dynamic Programming: Fill Deliberately</a:t>
            </a:r>
          </a:p>
        </p:txBody>
      </p:sp>
      <p:pic>
        <p:nvPicPr>
          <p:cNvPr id="5" name="Picture 4">
            <a:extLst>
              <a:ext uri="{FF2B5EF4-FFF2-40B4-BE49-F238E27FC236}">
                <a16:creationId xmlns:a16="http://schemas.microsoft.com/office/drawing/2014/main" id="{C07F1D3F-4C4B-714F-B332-27D6639497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031" y="1969294"/>
            <a:ext cx="9525000" cy="4269413"/>
          </a:xfrm>
          <a:prstGeom prst="rect">
            <a:avLst/>
          </a:prstGeom>
        </p:spPr>
      </p:pic>
      <p:pic>
        <p:nvPicPr>
          <p:cNvPr id="10" name="Picture 9">
            <a:extLst>
              <a:ext uri="{FF2B5EF4-FFF2-40B4-BE49-F238E27FC236}">
                <a16:creationId xmlns:a16="http://schemas.microsoft.com/office/drawing/2014/main" id="{6AA780B4-08EE-594B-9731-8821EA1AF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9831" y="6693694"/>
            <a:ext cx="7569200" cy="431800"/>
          </a:xfrm>
          <a:prstGeom prst="rect">
            <a:avLst/>
          </a:prstGeom>
        </p:spPr>
      </p:pic>
    </p:spTree>
    <p:extLst>
      <p:ext uri="{BB962C8B-B14F-4D97-AF65-F5344CB8AC3E}">
        <p14:creationId xmlns:p14="http://schemas.microsoft.com/office/powerpoint/2010/main" val="3568851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Example: Text Segmentation</a:t>
            </a:r>
          </a:p>
        </p:txBody>
      </p:sp>
      <p:sp>
        <p:nvSpPr>
          <p:cNvPr id="2" name="TextBox 1">
            <a:extLst>
              <a:ext uri="{FF2B5EF4-FFF2-40B4-BE49-F238E27FC236}">
                <a16:creationId xmlns:a16="http://schemas.microsoft.com/office/drawing/2014/main" id="{DD625995-C3F8-5B4F-AAE3-995CA9302422}"/>
              </a:ext>
            </a:extLst>
          </p:cNvPr>
          <p:cNvSpPr txBox="1"/>
          <p:nvPr/>
        </p:nvSpPr>
        <p:spPr>
          <a:xfrm>
            <a:off x="199231" y="1512094"/>
            <a:ext cx="9724231" cy="1107996"/>
          </a:xfrm>
          <a:prstGeom prst="rect">
            <a:avLst/>
          </a:prstGeom>
          <a:noFill/>
        </p:spPr>
        <p:txBody>
          <a:bodyPr wrap="square" rtlCol="0">
            <a:spAutoFit/>
          </a:bodyPr>
          <a:lstStyle/>
          <a:p>
            <a:r>
              <a:rPr lang="en-SG" sz="2200" dirty="0"/>
              <a:t>For our next dynamic programming algorithm, let’s consider the text segmentation problem from the previous chapter. We are given a string A[1, …,  n] , and we want to know whether A can be partitioned into a sequence of words.</a:t>
            </a:r>
            <a:endParaRPr lang="en-US" sz="2200" dirty="0"/>
          </a:p>
        </p:txBody>
      </p:sp>
      <p:pic>
        <p:nvPicPr>
          <p:cNvPr id="8" name="Picture 7">
            <a:extLst>
              <a:ext uri="{FF2B5EF4-FFF2-40B4-BE49-F238E27FC236}">
                <a16:creationId xmlns:a16="http://schemas.microsoft.com/office/drawing/2014/main" id="{E9FE8623-BCC4-D546-AC43-1C91DCCBA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462" y="3036094"/>
            <a:ext cx="9137650" cy="3927688"/>
          </a:xfrm>
          <a:prstGeom prst="rect">
            <a:avLst/>
          </a:prstGeom>
        </p:spPr>
      </p:pic>
    </p:spTree>
    <p:extLst>
      <p:ext uri="{BB962C8B-B14F-4D97-AF65-F5344CB8AC3E}">
        <p14:creationId xmlns:p14="http://schemas.microsoft.com/office/powerpoint/2010/main" val="223064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Backtracking repeats computation</a:t>
            </a:r>
          </a:p>
        </p:txBody>
      </p:sp>
      <p:pic>
        <p:nvPicPr>
          <p:cNvPr id="6" name="Picture 5">
            <a:extLst>
              <a:ext uri="{FF2B5EF4-FFF2-40B4-BE49-F238E27FC236}">
                <a16:creationId xmlns:a16="http://schemas.microsoft.com/office/drawing/2014/main" id="{7A5DD109-3CDE-C34C-B3D5-6CE28F1526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31" y="2877344"/>
            <a:ext cx="10007600" cy="1841500"/>
          </a:xfrm>
          <a:prstGeom prst="rect">
            <a:avLst/>
          </a:prstGeom>
        </p:spPr>
      </p:pic>
    </p:spTree>
    <p:extLst>
      <p:ext uri="{BB962C8B-B14F-4D97-AF65-F5344CB8AC3E}">
        <p14:creationId xmlns:p14="http://schemas.microsoft.com/office/powerpoint/2010/main" val="51270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Dynamic Programming solution</a:t>
            </a:r>
          </a:p>
        </p:txBody>
      </p:sp>
      <p:pic>
        <p:nvPicPr>
          <p:cNvPr id="3" name="Picture 2">
            <a:extLst>
              <a:ext uri="{FF2B5EF4-FFF2-40B4-BE49-F238E27FC236}">
                <a16:creationId xmlns:a16="http://schemas.microsoft.com/office/drawing/2014/main" id="{5F7706CC-0540-0044-8B46-64C896BFF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031" y="1864519"/>
            <a:ext cx="6388701" cy="3492080"/>
          </a:xfrm>
          <a:prstGeom prst="rect">
            <a:avLst/>
          </a:prstGeom>
        </p:spPr>
      </p:pic>
      <p:sp>
        <p:nvSpPr>
          <p:cNvPr id="5" name="TextBox 4">
            <a:extLst>
              <a:ext uri="{FF2B5EF4-FFF2-40B4-BE49-F238E27FC236}">
                <a16:creationId xmlns:a16="http://schemas.microsoft.com/office/drawing/2014/main" id="{4B6ADFE3-B340-1E4E-9F39-CA51B7DEAD06}"/>
              </a:ext>
            </a:extLst>
          </p:cNvPr>
          <p:cNvSpPr txBox="1"/>
          <p:nvPr/>
        </p:nvSpPr>
        <p:spPr>
          <a:xfrm>
            <a:off x="732631" y="5703094"/>
            <a:ext cx="8229600" cy="461665"/>
          </a:xfrm>
          <a:prstGeom prst="rect">
            <a:avLst/>
          </a:prstGeom>
          <a:noFill/>
        </p:spPr>
        <p:txBody>
          <a:bodyPr wrap="square" rtlCol="0">
            <a:spAutoFit/>
          </a:bodyPr>
          <a:lstStyle/>
          <a:p>
            <a:r>
              <a:rPr lang="en-US" dirty="0"/>
              <a:t>T(n) = O(n</a:t>
            </a:r>
            <a:r>
              <a:rPr lang="en-US" baseline="30000" dirty="0"/>
              <a:t>2</a:t>
            </a:r>
            <a:r>
              <a:rPr lang="en-US" dirty="0"/>
              <a:t>) calls to I</a:t>
            </a:r>
            <a:r>
              <a:rPr lang="en-US" sz="2000" dirty="0"/>
              <a:t>S</a:t>
            </a:r>
            <a:r>
              <a:rPr lang="en-US" dirty="0"/>
              <a:t>W</a:t>
            </a:r>
            <a:r>
              <a:rPr lang="en-US" sz="2000" dirty="0"/>
              <a:t>ORD</a:t>
            </a:r>
            <a:endParaRPr lang="en-US" dirty="0"/>
          </a:p>
        </p:txBody>
      </p:sp>
    </p:spTree>
    <p:extLst>
      <p:ext uri="{BB962C8B-B14F-4D97-AF65-F5344CB8AC3E}">
        <p14:creationId xmlns:p14="http://schemas.microsoft.com/office/powerpoint/2010/main" val="2181644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CAB73C-D8C3-2644-8AC5-15EDDB2D5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431" y="1512094"/>
            <a:ext cx="9245600" cy="1257300"/>
          </a:xfrm>
          <a:prstGeom prst="rect">
            <a:avLst/>
          </a:prstGeom>
        </p:spPr>
      </p:pic>
      <p:pic>
        <p:nvPicPr>
          <p:cNvPr id="8" name="Picture 7">
            <a:extLst>
              <a:ext uri="{FF2B5EF4-FFF2-40B4-BE49-F238E27FC236}">
                <a16:creationId xmlns:a16="http://schemas.microsoft.com/office/drawing/2014/main" id="{3F33DC6E-85A1-F342-98FC-CD9738AD0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663" y="3112294"/>
            <a:ext cx="9931400" cy="495300"/>
          </a:xfrm>
          <a:prstGeom prst="rect">
            <a:avLst/>
          </a:prstGeom>
        </p:spPr>
      </p:pic>
      <p:pic>
        <p:nvPicPr>
          <p:cNvPr id="10" name="Picture 9">
            <a:extLst>
              <a:ext uri="{FF2B5EF4-FFF2-40B4-BE49-F238E27FC236}">
                <a16:creationId xmlns:a16="http://schemas.microsoft.com/office/drawing/2014/main" id="{E9C37779-71B5-F545-8F8A-D5AFE9E0B4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831" y="3747294"/>
            <a:ext cx="5321300" cy="406400"/>
          </a:xfrm>
          <a:prstGeom prst="rect">
            <a:avLst/>
          </a:prstGeom>
        </p:spPr>
      </p:pic>
      <p:pic>
        <p:nvPicPr>
          <p:cNvPr id="12" name="Picture 11">
            <a:extLst>
              <a:ext uri="{FF2B5EF4-FFF2-40B4-BE49-F238E27FC236}">
                <a16:creationId xmlns:a16="http://schemas.microsoft.com/office/drawing/2014/main" id="{93AAEFFC-D338-1044-B5BD-EEC3D28C08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407" y="4329979"/>
            <a:ext cx="7886700" cy="431800"/>
          </a:xfrm>
          <a:prstGeom prst="rect">
            <a:avLst/>
          </a:prstGeom>
        </p:spPr>
      </p:pic>
    </p:spTree>
    <p:extLst>
      <p:ext uri="{BB962C8B-B14F-4D97-AF65-F5344CB8AC3E}">
        <p14:creationId xmlns:p14="http://schemas.microsoft.com/office/powerpoint/2010/main" val="79409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0" y="5214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Greed is almost never good </a:t>
            </a:r>
          </a:p>
        </p:txBody>
      </p:sp>
      <p:sp>
        <p:nvSpPr>
          <p:cNvPr id="2" name="TextBox 1">
            <a:extLst>
              <a:ext uri="{FF2B5EF4-FFF2-40B4-BE49-F238E27FC236}">
                <a16:creationId xmlns:a16="http://schemas.microsoft.com/office/drawing/2014/main" id="{B0E71357-8489-614A-AF46-3E4780128537}"/>
              </a:ext>
            </a:extLst>
          </p:cNvPr>
          <p:cNvSpPr txBox="1"/>
          <p:nvPr/>
        </p:nvSpPr>
        <p:spPr>
          <a:xfrm>
            <a:off x="0" y="1893094"/>
            <a:ext cx="10152063" cy="3600986"/>
          </a:xfrm>
          <a:prstGeom prst="rect">
            <a:avLst/>
          </a:prstGeom>
          <a:noFill/>
        </p:spPr>
        <p:txBody>
          <a:bodyPr wrap="square" rtlCol="0">
            <a:spAutoFit/>
          </a:bodyPr>
          <a:lstStyle/>
          <a:p>
            <a:pPr marL="342900" indent="-342900">
              <a:buFont typeface="Arial" panose="020B0604020202020204" pitchFamily="34" charset="0"/>
              <a:buChar char="•"/>
            </a:pPr>
            <a:r>
              <a:rPr lang="en-SG" sz="1900" dirty="0"/>
              <a:t>If we’re incredibly lucky, we can bypass all the recurrences and tables and so forth, and solve the problem using a greedy algorithm.</a:t>
            </a:r>
            <a:br>
              <a:rPr lang="en-SG" sz="1900" dirty="0"/>
            </a:br>
            <a:endParaRPr lang="en-SG" sz="1900" dirty="0"/>
          </a:p>
          <a:p>
            <a:pPr marL="342900" indent="-342900">
              <a:buFont typeface="Arial" panose="020B0604020202020204" pitchFamily="34" charset="0"/>
              <a:buChar char="•"/>
            </a:pPr>
            <a:r>
              <a:rPr lang="en-SG" sz="1900" dirty="0"/>
              <a:t> Greedy algorithm looks at only one branch of the recursion tree</a:t>
            </a:r>
          </a:p>
          <a:p>
            <a:endParaRPr lang="en-SG" sz="1900" dirty="0"/>
          </a:p>
          <a:p>
            <a:pPr marL="342900" indent="-342900">
              <a:buFont typeface="Arial" panose="020B0604020202020204" pitchFamily="34" charset="0"/>
              <a:buChar char="•"/>
            </a:pPr>
            <a:r>
              <a:rPr lang="en-SG" sz="1900" dirty="0"/>
              <a:t> For example, a greedy algorithm for the text segmentation problem might find the shortest (or, if you prefer, longest) prefix of the input string that is a word, accept that prefix as the first word in the segmentation, and then recursively segment the remaining suffix of the input string</a:t>
            </a:r>
            <a:br>
              <a:rPr lang="en-SG" sz="1900" dirty="0"/>
            </a:br>
            <a:endParaRPr lang="en-SG" sz="1900" dirty="0"/>
          </a:p>
          <a:p>
            <a:pPr marL="342900" indent="-342900">
              <a:buFont typeface="Arial" panose="020B0604020202020204" pitchFamily="34" charset="0"/>
              <a:buChar char="•"/>
            </a:pPr>
            <a:r>
              <a:rPr lang="en-SG" sz="1900" dirty="0"/>
              <a:t> Similarly, a greedy algorithm for the longest increasing subsequence problem might look for the smallest element of the input array, accept that element as the start of the target subsequence, and then recursively look for the longest increasing subsequence to the right of that element.</a:t>
            </a:r>
          </a:p>
        </p:txBody>
      </p:sp>
      <p:sp>
        <p:nvSpPr>
          <p:cNvPr id="3" name="TextBox 2">
            <a:extLst>
              <a:ext uri="{FF2B5EF4-FFF2-40B4-BE49-F238E27FC236}">
                <a16:creationId xmlns:a16="http://schemas.microsoft.com/office/drawing/2014/main" id="{D2207DDA-C6B4-344C-9230-599442A9E23F}"/>
              </a:ext>
            </a:extLst>
          </p:cNvPr>
          <p:cNvSpPr txBox="1"/>
          <p:nvPr/>
        </p:nvSpPr>
        <p:spPr>
          <a:xfrm>
            <a:off x="351631" y="5855494"/>
            <a:ext cx="9372600" cy="830997"/>
          </a:xfrm>
          <a:prstGeom prst="rect">
            <a:avLst/>
          </a:prstGeom>
          <a:noFill/>
        </p:spPr>
        <p:txBody>
          <a:bodyPr wrap="square" rtlCol="0">
            <a:spAutoFit/>
          </a:bodyPr>
          <a:lstStyle/>
          <a:p>
            <a:r>
              <a:rPr lang="en-SG" dirty="0"/>
              <a:t>If these sound like stupid hacks to you, pat yourself on the back; these aren’t even close to correct solutions.</a:t>
            </a:r>
            <a:endParaRPr lang="en-US" dirty="0"/>
          </a:p>
        </p:txBody>
      </p:sp>
    </p:spTree>
    <p:extLst>
      <p:ext uri="{BB962C8B-B14F-4D97-AF65-F5344CB8AC3E}">
        <p14:creationId xmlns:p14="http://schemas.microsoft.com/office/powerpoint/2010/main" val="128241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Greed is not good</a:t>
            </a:r>
          </a:p>
        </p:txBody>
      </p:sp>
      <p:pic>
        <p:nvPicPr>
          <p:cNvPr id="6" name="Picture 5">
            <a:extLst>
              <a:ext uri="{FF2B5EF4-FFF2-40B4-BE49-F238E27FC236}">
                <a16:creationId xmlns:a16="http://schemas.microsoft.com/office/drawing/2014/main" id="{32E848BC-8AE6-DE4F-B889-3BA5518CC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31" y="1512094"/>
            <a:ext cx="9105900" cy="3505200"/>
          </a:xfrm>
          <a:prstGeom prst="rect">
            <a:avLst/>
          </a:prstGeom>
        </p:spPr>
      </p:pic>
      <p:pic>
        <p:nvPicPr>
          <p:cNvPr id="3" name="Picture 2">
            <a:extLst>
              <a:ext uri="{FF2B5EF4-FFF2-40B4-BE49-F238E27FC236}">
                <a16:creationId xmlns:a16="http://schemas.microsoft.com/office/drawing/2014/main" id="{59EBADE9-C6FA-A54B-AB6E-2BCCE269B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831" y="5931694"/>
            <a:ext cx="8801100" cy="939800"/>
          </a:xfrm>
          <a:prstGeom prst="rect">
            <a:avLst/>
          </a:prstGeom>
        </p:spPr>
      </p:pic>
    </p:spTree>
    <p:extLst>
      <p:ext uri="{BB962C8B-B14F-4D97-AF65-F5344CB8AC3E}">
        <p14:creationId xmlns:p14="http://schemas.microsoft.com/office/powerpoint/2010/main" val="849281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F2D25E-6979-9E4E-A170-9B9EE22381CE}"/>
              </a:ext>
            </a:extLst>
          </p:cNvPr>
          <p:cNvSpPr txBox="1">
            <a:spLocks noChangeArrowheads="1"/>
          </p:cNvSpPr>
          <p:nvPr/>
        </p:nvSpPr>
        <p:spPr>
          <a:xfrm>
            <a:off x="-41564" y="597694"/>
            <a:ext cx="8317995" cy="1266825"/>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kern="0" dirty="0"/>
              <a:t>Longest increasing subsequence</a:t>
            </a:r>
          </a:p>
        </p:txBody>
      </p:sp>
      <p:pic>
        <p:nvPicPr>
          <p:cNvPr id="5" name="Picture 4">
            <a:extLst>
              <a:ext uri="{FF2B5EF4-FFF2-40B4-BE49-F238E27FC236}">
                <a16:creationId xmlns:a16="http://schemas.microsoft.com/office/drawing/2014/main" id="{492FCE1C-D620-F446-B967-057884354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5" y="1664494"/>
            <a:ext cx="10152063" cy="2232062"/>
          </a:xfrm>
          <a:prstGeom prst="rect">
            <a:avLst/>
          </a:prstGeom>
        </p:spPr>
      </p:pic>
      <p:pic>
        <p:nvPicPr>
          <p:cNvPr id="8" name="Picture 7">
            <a:extLst>
              <a:ext uri="{FF2B5EF4-FFF2-40B4-BE49-F238E27FC236}">
                <a16:creationId xmlns:a16="http://schemas.microsoft.com/office/drawing/2014/main" id="{2AF6446E-BCBE-D440-BC23-CB40F2212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15" y="4600343"/>
            <a:ext cx="10152063" cy="726026"/>
          </a:xfrm>
          <a:prstGeom prst="rect">
            <a:avLst/>
          </a:prstGeom>
        </p:spPr>
      </p:pic>
    </p:spTree>
    <p:extLst>
      <p:ext uri="{BB962C8B-B14F-4D97-AF65-F5344CB8AC3E}">
        <p14:creationId xmlns:p14="http://schemas.microsoft.com/office/powerpoint/2010/main" val="523200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685013" y="1115148"/>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We saw the following..</a:t>
            </a:r>
          </a:p>
        </p:txBody>
      </p:sp>
      <p:sp>
        <p:nvSpPr>
          <p:cNvPr id="3" name="TextBox 2">
            <a:extLst>
              <a:ext uri="{FF2B5EF4-FFF2-40B4-BE49-F238E27FC236}">
                <a16:creationId xmlns:a16="http://schemas.microsoft.com/office/drawing/2014/main" id="{ADC37B50-B683-3542-AFB1-25EDD93CDC9D}"/>
              </a:ext>
            </a:extLst>
          </p:cNvPr>
          <p:cNvSpPr txBox="1"/>
          <p:nvPr/>
        </p:nvSpPr>
        <p:spPr>
          <a:xfrm>
            <a:off x="931868" y="2556550"/>
            <a:ext cx="6557172" cy="399789"/>
          </a:xfrm>
          <a:prstGeom prst="rect">
            <a:avLst/>
          </a:prstGeom>
          <a:noFill/>
        </p:spPr>
        <p:txBody>
          <a:bodyPr wrap="square" rtlCol="0">
            <a:spAutoFit/>
          </a:bodyPr>
          <a:lstStyle/>
          <a:p>
            <a:endParaRPr lang="en-US" sz="1998" dirty="0"/>
          </a:p>
        </p:txBody>
      </p:sp>
      <p:pic>
        <p:nvPicPr>
          <p:cNvPr id="6" name="Picture 5">
            <a:extLst>
              <a:ext uri="{FF2B5EF4-FFF2-40B4-BE49-F238E27FC236}">
                <a16:creationId xmlns:a16="http://schemas.microsoft.com/office/drawing/2014/main" id="{F49C8811-0622-1D47-B62D-013EFAC86850}"/>
              </a:ext>
            </a:extLst>
          </p:cNvPr>
          <p:cNvPicPr>
            <a:picLocks noChangeAspect="1"/>
          </p:cNvPicPr>
          <p:nvPr/>
        </p:nvPicPr>
        <p:blipFill>
          <a:blip r:embed="rId2"/>
          <a:stretch>
            <a:fillRect/>
          </a:stretch>
        </p:blipFill>
        <p:spPr>
          <a:xfrm>
            <a:off x="685013" y="1820974"/>
            <a:ext cx="7935069" cy="1471151"/>
          </a:xfrm>
          <a:prstGeom prst="rect">
            <a:avLst/>
          </a:prstGeom>
        </p:spPr>
      </p:pic>
      <p:pic>
        <p:nvPicPr>
          <p:cNvPr id="9" name="Picture 8">
            <a:extLst>
              <a:ext uri="{FF2B5EF4-FFF2-40B4-BE49-F238E27FC236}">
                <a16:creationId xmlns:a16="http://schemas.microsoft.com/office/drawing/2014/main" id="{83587046-6A10-354C-BF23-BA4592AAC1BB}"/>
              </a:ext>
            </a:extLst>
          </p:cNvPr>
          <p:cNvPicPr>
            <a:picLocks noChangeAspect="1"/>
          </p:cNvPicPr>
          <p:nvPr/>
        </p:nvPicPr>
        <p:blipFill>
          <a:blip r:embed="rId3"/>
          <a:stretch>
            <a:fillRect/>
          </a:stretch>
        </p:blipFill>
        <p:spPr>
          <a:xfrm>
            <a:off x="931868" y="3541146"/>
            <a:ext cx="7693596" cy="2793030"/>
          </a:xfrm>
          <a:prstGeom prst="rect">
            <a:avLst/>
          </a:prstGeom>
        </p:spPr>
      </p:pic>
    </p:spTree>
    <p:extLst>
      <p:ext uri="{BB962C8B-B14F-4D97-AF65-F5344CB8AC3E}">
        <p14:creationId xmlns:p14="http://schemas.microsoft.com/office/powerpoint/2010/main" val="58636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685013" y="1115148"/>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The backtracking algorithm</a:t>
            </a:r>
          </a:p>
        </p:txBody>
      </p:sp>
      <p:sp>
        <p:nvSpPr>
          <p:cNvPr id="3" name="TextBox 2">
            <a:extLst>
              <a:ext uri="{FF2B5EF4-FFF2-40B4-BE49-F238E27FC236}">
                <a16:creationId xmlns:a16="http://schemas.microsoft.com/office/drawing/2014/main" id="{ADC37B50-B683-3542-AFB1-25EDD93CDC9D}"/>
              </a:ext>
            </a:extLst>
          </p:cNvPr>
          <p:cNvSpPr txBox="1"/>
          <p:nvPr/>
        </p:nvSpPr>
        <p:spPr>
          <a:xfrm>
            <a:off x="931868" y="2556550"/>
            <a:ext cx="6557172" cy="399789"/>
          </a:xfrm>
          <a:prstGeom prst="rect">
            <a:avLst/>
          </a:prstGeom>
          <a:noFill/>
        </p:spPr>
        <p:txBody>
          <a:bodyPr wrap="square" rtlCol="0">
            <a:spAutoFit/>
          </a:bodyPr>
          <a:lstStyle/>
          <a:p>
            <a:endParaRPr lang="en-US" sz="1998" dirty="0"/>
          </a:p>
        </p:txBody>
      </p:sp>
      <p:pic>
        <p:nvPicPr>
          <p:cNvPr id="5" name="Picture 4">
            <a:extLst>
              <a:ext uri="{FF2B5EF4-FFF2-40B4-BE49-F238E27FC236}">
                <a16:creationId xmlns:a16="http://schemas.microsoft.com/office/drawing/2014/main" id="{3356F26B-75A6-1045-A908-8C7E4E75B106}"/>
              </a:ext>
            </a:extLst>
          </p:cNvPr>
          <p:cNvPicPr>
            <a:picLocks noChangeAspect="1"/>
          </p:cNvPicPr>
          <p:nvPr/>
        </p:nvPicPr>
        <p:blipFill>
          <a:blip r:embed="rId2"/>
          <a:stretch>
            <a:fillRect/>
          </a:stretch>
        </p:blipFill>
        <p:spPr>
          <a:xfrm>
            <a:off x="185776" y="1795145"/>
            <a:ext cx="4757415" cy="3201086"/>
          </a:xfrm>
          <a:prstGeom prst="rect">
            <a:avLst/>
          </a:prstGeom>
        </p:spPr>
      </p:pic>
      <p:sp>
        <p:nvSpPr>
          <p:cNvPr id="7" name="TextBox 6">
            <a:extLst>
              <a:ext uri="{FF2B5EF4-FFF2-40B4-BE49-F238E27FC236}">
                <a16:creationId xmlns:a16="http://schemas.microsoft.com/office/drawing/2014/main" id="{08EA1D39-F80A-E649-A225-7927451BC841}"/>
              </a:ext>
            </a:extLst>
          </p:cNvPr>
          <p:cNvSpPr txBox="1"/>
          <p:nvPr/>
        </p:nvSpPr>
        <p:spPr>
          <a:xfrm>
            <a:off x="5261647" y="1965607"/>
            <a:ext cx="4670706" cy="1322157"/>
          </a:xfrm>
          <a:prstGeom prst="rect">
            <a:avLst/>
          </a:prstGeom>
          <a:noFill/>
        </p:spPr>
        <p:txBody>
          <a:bodyPr wrap="square" rtlCol="0">
            <a:spAutoFit/>
          </a:bodyPr>
          <a:lstStyle/>
          <a:p>
            <a:r>
              <a:rPr lang="en-SG" sz="1998" dirty="0"/>
              <a:t>Finally, we connected our recursive strategy to the original problem: Finding the longest increasing subsequence of an array with no other constraints.</a:t>
            </a:r>
            <a:endParaRPr lang="en-US" sz="1998" dirty="0"/>
          </a:p>
        </p:txBody>
      </p:sp>
      <p:pic>
        <p:nvPicPr>
          <p:cNvPr id="10" name="Picture 9">
            <a:extLst>
              <a:ext uri="{FF2B5EF4-FFF2-40B4-BE49-F238E27FC236}">
                <a16:creationId xmlns:a16="http://schemas.microsoft.com/office/drawing/2014/main" id="{A5C0B503-6EBC-2C43-B19F-DE1DC98D8DE0}"/>
              </a:ext>
            </a:extLst>
          </p:cNvPr>
          <p:cNvPicPr>
            <a:picLocks noChangeAspect="1"/>
          </p:cNvPicPr>
          <p:nvPr/>
        </p:nvPicPr>
        <p:blipFill>
          <a:blip r:embed="rId3"/>
          <a:stretch>
            <a:fillRect/>
          </a:stretch>
        </p:blipFill>
        <p:spPr>
          <a:xfrm>
            <a:off x="5464596" y="3717744"/>
            <a:ext cx="3933924" cy="1364183"/>
          </a:xfrm>
          <a:prstGeom prst="rect">
            <a:avLst/>
          </a:prstGeom>
        </p:spPr>
      </p:pic>
      <p:sp>
        <p:nvSpPr>
          <p:cNvPr id="11" name="TextBox 10">
            <a:extLst>
              <a:ext uri="{FF2B5EF4-FFF2-40B4-BE49-F238E27FC236}">
                <a16:creationId xmlns:a16="http://schemas.microsoft.com/office/drawing/2014/main" id="{266B4156-089E-A841-953A-7FCAB0133C49}"/>
              </a:ext>
            </a:extLst>
          </p:cNvPr>
          <p:cNvSpPr txBox="1"/>
          <p:nvPr/>
        </p:nvSpPr>
        <p:spPr>
          <a:xfrm>
            <a:off x="685013" y="5923305"/>
            <a:ext cx="8523187" cy="348557"/>
          </a:xfrm>
          <a:prstGeom prst="rect">
            <a:avLst/>
          </a:prstGeom>
          <a:noFill/>
        </p:spPr>
        <p:txBody>
          <a:bodyPr wrap="square" rtlCol="0">
            <a:spAutoFit/>
          </a:bodyPr>
          <a:lstStyle/>
          <a:p>
            <a:r>
              <a:rPr lang="en-US" sz="1665" dirty="0"/>
              <a:t>Running time: T(n) = 2T(n-1) + 1, which as usual implies that T(n) = O(2</a:t>
            </a:r>
            <a:r>
              <a:rPr lang="en-US" sz="1665" baseline="30000" dirty="0"/>
              <a:t>n</a:t>
            </a:r>
            <a:r>
              <a:rPr lang="en-US" sz="1665" dirty="0"/>
              <a:t>). </a:t>
            </a:r>
          </a:p>
        </p:txBody>
      </p:sp>
    </p:spTree>
    <p:extLst>
      <p:ext uri="{BB962C8B-B14F-4D97-AF65-F5344CB8AC3E}">
        <p14:creationId xmlns:p14="http://schemas.microsoft.com/office/powerpoint/2010/main" val="121906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685013" y="1115148"/>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Dynamic Programming</a:t>
            </a:r>
          </a:p>
        </p:txBody>
      </p:sp>
      <p:sp>
        <p:nvSpPr>
          <p:cNvPr id="3" name="TextBox 2">
            <a:extLst>
              <a:ext uri="{FF2B5EF4-FFF2-40B4-BE49-F238E27FC236}">
                <a16:creationId xmlns:a16="http://schemas.microsoft.com/office/drawing/2014/main" id="{ADC37B50-B683-3542-AFB1-25EDD93CDC9D}"/>
              </a:ext>
            </a:extLst>
          </p:cNvPr>
          <p:cNvSpPr txBox="1"/>
          <p:nvPr/>
        </p:nvSpPr>
        <p:spPr>
          <a:xfrm>
            <a:off x="931868" y="2556550"/>
            <a:ext cx="6557172" cy="399789"/>
          </a:xfrm>
          <a:prstGeom prst="rect">
            <a:avLst/>
          </a:prstGeom>
          <a:noFill/>
        </p:spPr>
        <p:txBody>
          <a:bodyPr wrap="square" rtlCol="0">
            <a:spAutoFit/>
          </a:bodyPr>
          <a:lstStyle/>
          <a:p>
            <a:endParaRPr lang="en-US" sz="1998" dirty="0"/>
          </a:p>
        </p:txBody>
      </p:sp>
      <p:pic>
        <p:nvPicPr>
          <p:cNvPr id="13" name="Picture 12">
            <a:extLst>
              <a:ext uri="{FF2B5EF4-FFF2-40B4-BE49-F238E27FC236}">
                <a16:creationId xmlns:a16="http://schemas.microsoft.com/office/drawing/2014/main" id="{67643292-133E-3D4D-B764-FE584AB7F3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1" y="1969294"/>
            <a:ext cx="9728055" cy="2126081"/>
          </a:xfrm>
          <a:prstGeom prst="rect">
            <a:avLst/>
          </a:prstGeom>
        </p:spPr>
      </p:pic>
      <p:pic>
        <p:nvPicPr>
          <p:cNvPr id="15" name="Picture 14">
            <a:extLst>
              <a:ext uri="{FF2B5EF4-FFF2-40B4-BE49-F238E27FC236}">
                <a16:creationId xmlns:a16="http://schemas.microsoft.com/office/drawing/2014/main" id="{A1FEEC2A-337E-2948-894E-9221452DA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571" y="4435192"/>
            <a:ext cx="9571831" cy="1116107"/>
          </a:xfrm>
          <a:prstGeom prst="rect">
            <a:avLst/>
          </a:prstGeom>
        </p:spPr>
      </p:pic>
      <p:pic>
        <p:nvPicPr>
          <p:cNvPr id="17" name="Picture 16">
            <a:extLst>
              <a:ext uri="{FF2B5EF4-FFF2-40B4-BE49-F238E27FC236}">
                <a16:creationId xmlns:a16="http://schemas.microsoft.com/office/drawing/2014/main" id="{C14C8670-586A-D64C-A378-8EB7FAD380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14" y="6388894"/>
            <a:ext cx="9753600" cy="444500"/>
          </a:xfrm>
          <a:prstGeom prst="rect">
            <a:avLst/>
          </a:prstGeom>
        </p:spPr>
      </p:pic>
    </p:spTree>
    <p:extLst>
      <p:ext uri="{BB962C8B-B14F-4D97-AF65-F5344CB8AC3E}">
        <p14:creationId xmlns:p14="http://schemas.microsoft.com/office/powerpoint/2010/main" val="413795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Dynamic Programming Solution</a:t>
            </a:r>
          </a:p>
        </p:txBody>
      </p:sp>
      <p:pic>
        <p:nvPicPr>
          <p:cNvPr id="5" name="Picture 4">
            <a:extLst>
              <a:ext uri="{FF2B5EF4-FFF2-40B4-BE49-F238E27FC236}">
                <a16:creationId xmlns:a16="http://schemas.microsoft.com/office/drawing/2014/main" id="{2A163B2F-7984-AB47-BC4D-882ECFEC4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031" y="3410735"/>
            <a:ext cx="5256132" cy="3821730"/>
          </a:xfrm>
          <a:prstGeom prst="rect">
            <a:avLst/>
          </a:prstGeom>
        </p:spPr>
      </p:pic>
      <p:pic>
        <p:nvPicPr>
          <p:cNvPr id="7" name="Picture 6">
            <a:extLst>
              <a:ext uri="{FF2B5EF4-FFF2-40B4-BE49-F238E27FC236}">
                <a16:creationId xmlns:a16="http://schemas.microsoft.com/office/drawing/2014/main" id="{47F0CA84-DCDF-4B41-924E-314D0DE8B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519" y="1131094"/>
            <a:ext cx="7162800" cy="2070428"/>
          </a:xfrm>
          <a:prstGeom prst="rect">
            <a:avLst/>
          </a:prstGeom>
        </p:spPr>
      </p:pic>
    </p:spTree>
    <p:extLst>
      <p:ext uri="{BB962C8B-B14F-4D97-AF65-F5344CB8AC3E}">
        <p14:creationId xmlns:p14="http://schemas.microsoft.com/office/powerpoint/2010/main" val="80871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Example: Edit Distance</a:t>
            </a:r>
          </a:p>
        </p:txBody>
      </p:sp>
      <p:pic>
        <p:nvPicPr>
          <p:cNvPr id="8" name="Picture 7">
            <a:extLst>
              <a:ext uri="{FF2B5EF4-FFF2-40B4-BE49-F238E27FC236}">
                <a16:creationId xmlns:a16="http://schemas.microsoft.com/office/drawing/2014/main" id="{14965BD4-36F3-3940-AEF9-09D5B61FAE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 y="1816894"/>
            <a:ext cx="10155115" cy="4406670"/>
          </a:xfrm>
          <a:prstGeom prst="rect">
            <a:avLst/>
          </a:prstGeom>
        </p:spPr>
      </p:pic>
    </p:spTree>
    <p:extLst>
      <p:ext uri="{BB962C8B-B14F-4D97-AF65-F5344CB8AC3E}">
        <p14:creationId xmlns:p14="http://schemas.microsoft.com/office/powerpoint/2010/main" val="1636739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Example: Edit Distance</a:t>
            </a:r>
          </a:p>
        </p:txBody>
      </p:sp>
      <p:sp>
        <p:nvSpPr>
          <p:cNvPr id="3" name="Rectangle 2">
            <a:extLst>
              <a:ext uri="{FF2B5EF4-FFF2-40B4-BE49-F238E27FC236}">
                <a16:creationId xmlns:a16="http://schemas.microsoft.com/office/drawing/2014/main" id="{445FAEC1-C6E8-2C47-A326-8C47F04BCB36}"/>
              </a:ext>
            </a:extLst>
          </p:cNvPr>
          <p:cNvSpPr/>
          <p:nvPr/>
        </p:nvSpPr>
        <p:spPr>
          <a:xfrm>
            <a:off x="109505" y="2350294"/>
            <a:ext cx="9677400" cy="1569660"/>
          </a:xfrm>
          <a:prstGeom prst="rect">
            <a:avLst/>
          </a:prstGeom>
        </p:spPr>
        <p:txBody>
          <a:bodyPr wrap="square">
            <a:spAutoFit/>
          </a:bodyPr>
          <a:lstStyle/>
          <a:p>
            <a:r>
              <a:rPr lang="en-SG" dirty="0"/>
              <a:t>Unfortunately, it’s not so easy in general to tell when a sequence of edits is as short as possible. For example, the following alignment shows that the distance between the strings ALGORITHM and ALTRUISTIC is at most 6. Is that the best we can do?</a:t>
            </a:r>
            <a:endParaRPr lang="en-US" dirty="0"/>
          </a:p>
        </p:txBody>
      </p:sp>
      <p:pic>
        <p:nvPicPr>
          <p:cNvPr id="5" name="Picture 4">
            <a:extLst>
              <a:ext uri="{FF2B5EF4-FFF2-40B4-BE49-F238E27FC236}">
                <a16:creationId xmlns:a16="http://schemas.microsoft.com/office/drawing/2014/main" id="{F7634604-E4E4-4240-AFBD-87E0BFAE0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9031" y="4331494"/>
            <a:ext cx="4229100" cy="1066800"/>
          </a:xfrm>
          <a:prstGeom prst="rect">
            <a:avLst/>
          </a:prstGeom>
        </p:spPr>
      </p:pic>
    </p:spTree>
    <p:extLst>
      <p:ext uri="{BB962C8B-B14F-4D97-AF65-F5344CB8AC3E}">
        <p14:creationId xmlns:p14="http://schemas.microsoft.com/office/powerpoint/2010/main" val="3519528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Recursive substructure</a:t>
            </a:r>
          </a:p>
        </p:txBody>
      </p:sp>
      <p:sp>
        <p:nvSpPr>
          <p:cNvPr id="6" name="Rectangle 5">
            <a:extLst>
              <a:ext uri="{FF2B5EF4-FFF2-40B4-BE49-F238E27FC236}">
                <a16:creationId xmlns:a16="http://schemas.microsoft.com/office/drawing/2014/main" id="{E8D98F77-5EFE-B946-8ECB-BDED4B837B5A}"/>
              </a:ext>
            </a:extLst>
          </p:cNvPr>
          <p:cNvSpPr/>
          <p:nvPr/>
        </p:nvSpPr>
        <p:spPr>
          <a:xfrm>
            <a:off x="199231" y="2426494"/>
            <a:ext cx="9677400" cy="3416320"/>
          </a:xfrm>
          <a:prstGeom prst="rect">
            <a:avLst/>
          </a:prstGeom>
        </p:spPr>
        <p:txBody>
          <a:bodyPr wrap="square">
            <a:spAutoFit/>
          </a:bodyPr>
          <a:lstStyle/>
          <a:p>
            <a:pPr marL="342900" indent="-342900">
              <a:buFont typeface="Arial" panose="020B0604020202020204" pitchFamily="34" charset="0"/>
              <a:buChar char="•"/>
            </a:pPr>
            <a:r>
              <a:rPr lang="en-SG" dirty="0"/>
              <a:t>Suppose we have the gap representation for the shortest edit sequence for two strings. </a:t>
            </a:r>
          </a:p>
          <a:p>
            <a:pPr marL="342900" indent="-342900">
              <a:buFont typeface="Arial" panose="020B0604020202020204" pitchFamily="34" charset="0"/>
              <a:buChar char="•"/>
            </a:pPr>
            <a:r>
              <a:rPr lang="en-SG" dirty="0"/>
              <a:t>If we remove the last column, the remaining columns must represent the shortest edit sequence for the remaining prefixes. </a:t>
            </a:r>
          </a:p>
          <a:p>
            <a:pPr marL="342900" indent="-342900">
              <a:buFont typeface="Arial" panose="020B0604020202020204" pitchFamily="34" charset="0"/>
              <a:buChar char="•"/>
            </a:pPr>
            <a:r>
              <a:rPr lang="en-SG" dirty="0"/>
              <a:t>We can easily prove this observation by contradiction: If the prefixes had a shorter edit sequence, gluing the last column back on would gives us a shorter edit sequence for the original strings. </a:t>
            </a:r>
          </a:p>
          <a:p>
            <a:pPr marL="342900" indent="-342900">
              <a:buFont typeface="Arial" panose="020B0604020202020204" pitchFamily="34" charset="0"/>
              <a:buChar char="•"/>
            </a:pPr>
            <a:r>
              <a:rPr lang="en-SG" dirty="0"/>
              <a:t>So once we figure out what should happen in the last column, the Recursion can figure out the rest of the optimal gap representation.</a:t>
            </a:r>
            <a:endParaRPr lang="en-US" dirty="0"/>
          </a:p>
        </p:txBody>
      </p:sp>
      <p:pic>
        <p:nvPicPr>
          <p:cNvPr id="4" name="Picture 3">
            <a:extLst>
              <a:ext uri="{FF2B5EF4-FFF2-40B4-BE49-F238E27FC236}">
                <a16:creationId xmlns:a16="http://schemas.microsoft.com/office/drawing/2014/main" id="{D08D7744-A4A4-024F-A777-FACE07640A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5231" y="978694"/>
            <a:ext cx="4229100" cy="1066800"/>
          </a:xfrm>
          <a:prstGeom prst="rect">
            <a:avLst/>
          </a:prstGeom>
        </p:spPr>
      </p:pic>
    </p:spTree>
    <p:extLst>
      <p:ext uri="{BB962C8B-B14F-4D97-AF65-F5344CB8AC3E}">
        <p14:creationId xmlns:p14="http://schemas.microsoft.com/office/powerpoint/2010/main" val="2932985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Recurrence</a:t>
            </a:r>
          </a:p>
        </p:txBody>
      </p:sp>
      <p:pic>
        <p:nvPicPr>
          <p:cNvPr id="5" name="Picture 4">
            <a:extLst>
              <a:ext uri="{FF2B5EF4-FFF2-40B4-BE49-F238E27FC236}">
                <a16:creationId xmlns:a16="http://schemas.microsoft.com/office/drawing/2014/main" id="{AB604746-201A-9240-8A76-46E34DECF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59" y="1512094"/>
            <a:ext cx="9594092" cy="2897746"/>
          </a:xfrm>
          <a:prstGeom prst="rect">
            <a:avLst/>
          </a:prstGeom>
        </p:spPr>
      </p:pic>
    </p:spTree>
    <p:extLst>
      <p:ext uri="{BB962C8B-B14F-4D97-AF65-F5344CB8AC3E}">
        <p14:creationId xmlns:p14="http://schemas.microsoft.com/office/powerpoint/2010/main" val="778497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Dynamic Programming</a:t>
            </a:r>
          </a:p>
        </p:txBody>
      </p:sp>
      <p:pic>
        <p:nvPicPr>
          <p:cNvPr id="7" name="Picture 6">
            <a:extLst>
              <a:ext uri="{FF2B5EF4-FFF2-40B4-BE49-F238E27FC236}">
                <a16:creationId xmlns:a16="http://schemas.microsoft.com/office/drawing/2014/main" id="{8DB2E748-32D2-0D4B-8C23-568A4242F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31" y="1512094"/>
            <a:ext cx="8839200" cy="673100"/>
          </a:xfrm>
          <a:prstGeom prst="rect">
            <a:avLst/>
          </a:prstGeom>
        </p:spPr>
      </p:pic>
      <p:pic>
        <p:nvPicPr>
          <p:cNvPr id="9" name="Picture 8">
            <a:extLst>
              <a:ext uri="{FF2B5EF4-FFF2-40B4-BE49-F238E27FC236}">
                <a16:creationId xmlns:a16="http://schemas.microsoft.com/office/drawing/2014/main" id="{C075E973-D1FF-5548-8D1D-B94CDBF43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949" y="2420938"/>
            <a:ext cx="8864600" cy="1384300"/>
          </a:xfrm>
          <a:prstGeom prst="rect">
            <a:avLst/>
          </a:prstGeom>
        </p:spPr>
      </p:pic>
      <p:pic>
        <p:nvPicPr>
          <p:cNvPr id="11" name="Picture 10">
            <a:extLst>
              <a:ext uri="{FF2B5EF4-FFF2-40B4-BE49-F238E27FC236}">
                <a16:creationId xmlns:a16="http://schemas.microsoft.com/office/drawing/2014/main" id="{AFA6F125-1579-DA4A-B274-611004C81E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4231" y="4255294"/>
            <a:ext cx="5422900" cy="2324100"/>
          </a:xfrm>
          <a:prstGeom prst="rect">
            <a:avLst/>
          </a:prstGeom>
        </p:spPr>
      </p:pic>
    </p:spTree>
    <p:extLst>
      <p:ext uri="{BB962C8B-B14F-4D97-AF65-F5344CB8AC3E}">
        <p14:creationId xmlns:p14="http://schemas.microsoft.com/office/powerpoint/2010/main" val="78669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The Algorithm</a:t>
            </a:r>
          </a:p>
        </p:txBody>
      </p:sp>
      <p:pic>
        <p:nvPicPr>
          <p:cNvPr id="6" name="Picture 5">
            <a:extLst>
              <a:ext uri="{FF2B5EF4-FFF2-40B4-BE49-F238E27FC236}">
                <a16:creationId xmlns:a16="http://schemas.microsoft.com/office/drawing/2014/main" id="{11D87F8C-A05A-4742-BB06-B046F090D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031" y="1359694"/>
            <a:ext cx="5194300" cy="4851400"/>
          </a:xfrm>
          <a:prstGeom prst="rect">
            <a:avLst/>
          </a:prstGeom>
        </p:spPr>
      </p:pic>
      <p:sp>
        <p:nvSpPr>
          <p:cNvPr id="12" name="TextBox 11">
            <a:extLst>
              <a:ext uri="{FF2B5EF4-FFF2-40B4-BE49-F238E27FC236}">
                <a16:creationId xmlns:a16="http://schemas.microsoft.com/office/drawing/2014/main" id="{3F17EA17-EB86-0D4C-98A4-AECE09B4A3FA}"/>
              </a:ext>
            </a:extLst>
          </p:cNvPr>
          <p:cNvSpPr txBox="1"/>
          <p:nvPr/>
        </p:nvSpPr>
        <p:spPr>
          <a:xfrm>
            <a:off x="1113631" y="6769894"/>
            <a:ext cx="6629400" cy="430887"/>
          </a:xfrm>
          <a:prstGeom prst="rect">
            <a:avLst/>
          </a:prstGeom>
          <a:noFill/>
        </p:spPr>
        <p:txBody>
          <a:bodyPr wrap="square" rtlCol="0">
            <a:spAutoFit/>
          </a:bodyPr>
          <a:lstStyle/>
          <a:p>
            <a:r>
              <a:rPr lang="en-US" sz="2200" dirty="0"/>
              <a:t>Space/Time Complexity: O(</a:t>
            </a:r>
            <a:r>
              <a:rPr lang="en-US" sz="2200" dirty="0" err="1"/>
              <a:t>mn</a:t>
            </a:r>
            <a:r>
              <a:rPr lang="en-US" sz="2200" dirty="0"/>
              <a:t>)</a:t>
            </a:r>
          </a:p>
        </p:txBody>
      </p:sp>
    </p:spTree>
    <p:extLst>
      <p:ext uri="{BB962C8B-B14F-4D97-AF65-F5344CB8AC3E}">
        <p14:creationId xmlns:p14="http://schemas.microsoft.com/office/powerpoint/2010/main" val="1995834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Subset Sum</a:t>
            </a:r>
          </a:p>
        </p:txBody>
      </p:sp>
      <p:pic>
        <p:nvPicPr>
          <p:cNvPr id="4" name="Picture 3">
            <a:extLst>
              <a:ext uri="{FF2B5EF4-FFF2-40B4-BE49-F238E27FC236}">
                <a16:creationId xmlns:a16="http://schemas.microsoft.com/office/drawing/2014/main" id="{7EED493B-0C2D-9645-B625-502C62B89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31" y="1359694"/>
            <a:ext cx="7581900" cy="584200"/>
          </a:xfrm>
          <a:prstGeom prst="rect">
            <a:avLst/>
          </a:prstGeom>
        </p:spPr>
      </p:pic>
      <p:pic>
        <p:nvPicPr>
          <p:cNvPr id="7" name="Picture 6">
            <a:extLst>
              <a:ext uri="{FF2B5EF4-FFF2-40B4-BE49-F238E27FC236}">
                <a16:creationId xmlns:a16="http://schemas.microsoft.com/office/drawing/2014/main" id="{6B44EDDC-3CAD-0540-8143-F6741072A3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787" y="2121694"/>
            <a:ext cx="8748649" cy="1892300"/>
          </a:xfrm>
          <a:prstGeom prst="rect">
            <a:avLst/>
          </a:prstGeom>
        </p:spPr>
      </p:pic>
      <p:sp>
        <p:nvSpPr>
          <p:cNvPr id="9" name="TextBox 8">
            <a:extLst>
              <a:ext uri="{FF2B5EF4-FFF2-40B4-BE49-F238E27FC236}">
                <a16:creationId xmlns:a16="http://schemas.microsoft.com/office/drawing/2014/main" id="{77A76497-689A-FE4B-BF1D-E70D7B069BBC}"/>
              </a:ext>
            </a:extLst>
          </p:cNvPr>
          <p:cNvSpPr txBox="1"/>
          <p:nvPr/>
        </p:nvSpPr>
        <p:spPr>
          <a:xfrm>
            <a:off x="536786" y="4560094"/>
            <a:ext cx="8779394" cy="461665"/>
          </a:xfrm>
          <a:prstGeom prst="rect">
            <a:avLst/>
          </a:prstGeom>
          <a:noFill/>
        </p:spPr>
        <p:txBody>
          <a:bodyPr wrap="square" rtlCol="0">
            <a:spAutoFit/>
          </a:bodyPr>
          <a:lstStyle/>
          <a:p>
            <a:r>
              <a:rPr lang="en-US" dirty="0"/>
              <a:t>For Dynamic programming, we want to avoid </a:t>
            </a:r>
            <a:r>
              <a:rPr lang="en-US" dirty="0" err="1"/>
              <a:t>recursing</a:t>
            </a:r>
            <a:r>
              <a:rPr lang="en-US" dirty="0"/>
              <a:t> on t &lt; 0</a:t>
            </a:r>
          </a:p>
        </p:txBody>
      </p:sp>
      <p:pic>
        <p:nvPicPr>
          <p:cNvPr id="11" name="Picture 10">
            <a:extLst>
              <a:ext uri="{FF2B5EF4-FFF2-40B4-BE49-F238E27FC236}">
                <a16:creationId xmlns:a16="http://schemas.microsoft.com/office/drawing/2014/main" id="{37C6C713-9F5B-6E4A-B31C-7156BC8FF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1612" y="5118783"/>
            <a:ext cx="6870700" cy="1778000"/>
          </a:xfrm>
          <a:prstGeom prst="rect">
            <a:avLst/>
          </a:prstGeom>
        </p:spPr>
      </p:pic>
    </p:spTree>
    <p:extLst>
      <p:ext uri="{BB962C8B-B14F-4D97-AF65-F5344CB8AC3E}">
        <p14:creationId xmlns:p14="http://schemas.microsoft.com/office/powerpoint/2010/main" val="246539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Subset Sum</a:t>
            </a:r>
          </a:p>
        </p:txBody>
      </p:sp>
      <p:pic>
        <p:nvPicPr>
          <p:cNvPr id="14" name="Picture 13">
            <a:extLst>
              <a:ext uri="{FF2B5EF4-FFF2-40B4-BE49-F238E27FC236}">
                <a16:creationId xmlns:a16="http://schemas.microsoft.com/office/drawing/2014/main" id="{BEC312A3-AD12-FB49-A2EC-482CBBEE4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781" y="1969294"/>
            <a:ext cx="9080500" cy="3568700"/>
          </a:xfrm>
          <a:prstGeom prst="rect">
            <a:avLst/>
          </a:prstGeom>
        </p:spPr>
      </p:pic>
    </p:spTree>
    <p:extLst>
      <p:ext uri="{BB962C8B-B14F-4D97-AF65-F5344CB8AC3E}">
        <p14:creationId xmlns:p14="http://schemas.microsoft.com/office/powerpoint/2010/main" val="1751599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The Algorithm</a:t>
            </a:r>
          </a:p>
        </p:txBody>
      </p:sp>
      <p:pic>
        <p:nvPicPr>
          <p:cNvPr id="4" name="Picture 3">
            <a:extLst>
              <a:ext uri="{FF2B5EF4-FFF2-40B4-BE49-F238E27FC236}">
                <a16:creationId xmlns:a16="http://schemas.microsoft.com/office/drawing/2014/main" id="{8D3E40EE-C4C4-1F46-941C-F9B6DB5BCD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31" y="1689562"/>
            <a:ext cx="8511604" cy="4546932"/>
          </a:xfrm>
          <a:prstGeom prst="rect">
            <a:avLst/>
          </a:prstGeom>
        </p:spPr>
      </p:pic>
    </p:spTree>
    <p:extLst>
      <p:ext uri="{BB962C8B-B14F-4D97-AF65-F5344CB8AC3E}">
        <p14:creationId xmlns:p14="http://schemas.microsoft.com/office/powerpoint/2010/main" val="209111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Optimal Binary Search Trees</a:t>
            </a:r>
          </a:p>
        </p:txBody>
      </p:sp>
      <p:pic>
        <p:nvPicPr>
          <p:cNvPr id="5" name="Picture 4">
            <a:extLst>
              <a:ext uri="{FF2B5EF4-FFF2-40B4-BE49-F238E27FC236}">
                <a16:creationId xmlns:a16="http://schemas.microsoft.com/office/drawing/2014/main" id="{3157A9E9-1063-6648-BED6-90EB5CD5D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981" y="1664494"/>
            <a:ext cx="8983599" cy="2795726"/>
          </a:xfrm>
          <a:prstGeom prst="rect">
            <a:avLst/>
          </a:prstGeom>
        </p:spPr>
      </p:pic>
      <p:pic>
        <p:nvPicPr>
          <p:cNvPr id="7" name="Picture 6">
            <a:extLst>
              <a:ext uri="{FF2B5EF4-FFF2-40B4-BE49-F238E27FC236}">
                <a16:creationId xmlns:a16="http://schemas.microsoft.com/office/drawing/2014/main" id="{E5128637-9735-E444-8F9D-476C5CCE4D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999" y="5103047"/>
            <a:ext cx="9258300" cy="1892300"/>
          </a:xfrm>
          <a:prstGeom prst="rect">
            <a:avLst/>
          </a:prstGeom>
        </p:spPr>
      </p:pic>
    </p:spTree>
    <p:extLst>
      <p:ext uri="{BB962C8B-B14F-4D97-AF65-F5344CB8AC3E}">
        <p14:creationId xmlns:p14="http://schemas.microsoft.com/office/powerpoint/2010/main" val="31891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The function F(</a:t>
            </a:r>
            <a:r>
              <a:rPr lang="en-US" sz="2631" kern="0" dirty="0" err="1"/>
              <a:t>i,k</a:t>
            </a:r>
            <a:r>
              <a:rPr lang="en-US" sz="2631" kern="0" dirty="0"/>
              <a:t>) </a:t>
            </a:r>
          </a:p>
        </p:txBody>
      </p:sp>
      <p:pic>
        <p:nvPicPr>
          <p:cNvPr id="4" name="Picture 3">
            <a:extLst>
              <a:ext uri="{FF2B5EF4-FFF2-40B4-BE49-F238E27FC236}">
                <a16:creationId xmlns:a16="http://schemas.microsoft.com/office/drawing/2014/main" id="{B6043B54-2440-7F46-BB5B-F0798968B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249" y="1435894"/>
            <a:ext cx="7416800" cy="1625600"/>
          </a:xfrm>
          <a:prstGeom prst="rect">
            <a:avLst/>
          </a:prstGeom>
        </p:spPr>
      </p:pic>
      <p:pic>
        <p:nvPicPr>
          <p:cNvPr id="9" name="Picture 8">
            <a:extLst>
              <a:ext uri="{FF2B5EF4-FFF2-40B4-BE49-F238E27FC236}">
                <a16:creationId xmlns:a16="http://schemas.microsoft.com/office/drawing/2014/main" id="{9561DDCA-6337-4741-A0D4-21211E1BB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231" y="3798094"/>
            <a:ext cx="9118600" cy="2946400"/>
          </a:xfrm>
          <a:prstGeom prst="rect">
            <a:avLst/>
          </a:prstGeom>
        </p:spPr>
      </p:pic>
    </p:spTree>
    <p:extLst>
      <p:ext uri="{BB962C8B-B14F-4D97-AF65-F5344CB8AC3E}">
        <p14:creationId xmlns:p14="http://schemas.microsoft.com/office/powerpoint/2010/main" val="261381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Back to Optimal Binary Search Trees</a:t>
            </a:r>
          </a:p>
        </p:txBody>
      </p:sp>
      <p:pic>
        <p:nvPicPr>
          <p:cNvPr id="5" name="Picture 4">
            <a:extLst>
              <a:ext uri="{FF2B5EF4-FFF2-40B4-BE49-F238E27FC236}">
                <a16:creationId xmlns:a16="http://schemas.microsoft.com/office/drawing/2014/main" id="{25115ED0-B21D-614A-B119-AC2E60CCA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231" y="1226455"/>
            <a:ext cx="8978900" cy="2514600"/>
          </a:xfrm>
          <a:prstGeom prst="rect">
            <a:avLst/>
          </a:prstGeom>
        </p:spPr>
      </p:pic>
      <p:pic>
        <p:nvPicPr>
          <p:cNvPr id="7" name="Picture 6">
            <a:extLst>
              <a:ext uri="{FF2B5EF4-FFF2-40B4-BE49-F238E27FC236}">
                <a16:creationId xmlns:a16="http://schemas.microsoft.com/office/drawing/2014/main" id="{67BF90E5-B4AB-264F-9450-1C6D9F012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231" y="3917268"/>
            <a:ext cx="8978900" cy="3319861"/>
          </a:xfrm>
          <a:prstGeom prst="rect">
            <a:avLst/>
          </a:prstGeom>
        </p:spPr>
      </p:pic>
    </p:spTree>
    <p:extLst>
      <p:ext uri="{BB962C8B-B14F-4D97-AF65-F5344CB8AC3E}">
        <p14:creationId xmlns:p14="http://schemas.microsoft.com/office/powerpoint/2010/main" val="374010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Computing Optimal Cost</a:t>
            </a:r>
          </a:p>
        </p:txBody>
      </p:sp>
      <p:pic>
        <p:nvPicPr>
          <p:cNvPr id="4" name="Picture 3">
            <a:extLst>
              <a:ext uri="{FF2B5EF4-FFF2-40B4-BE49-F238E27FC236}">
                <a16:creationId xmlns:a16="http://schemas.microsoft.com/office/drawing/2014/main" id="{79720EE3-1FF9-924E-946F-6454C0136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980" y="1512094"/>
            <a:ext cx="8737600" cy="3136900"/>
          </a:xfrm>
          <a:prstGeom prst="rect">
            <a:avLst/>
          </a:prstGeom>
        </p:spPr>
      </p:pic>
      <p:pic>
        <p:nvPicPr>
          <p:cNvPr id="9" name="Picture 8">
            <a:extLst>
              <a:ext uri="{FF2B5EF4-FFF2-40B4-BE49-F238E27FC236}">
                <a16:creationId xmlns:a16="http://schemas.microsoft.com/office/drawing/2014/main" id="{2A09858E-655A-5F43-9814-E5BE669549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980" y="5296583"/>
            <a:ext cx="9029700" cy="1409700"/>
          </a:xfrm>
          <a:prstGeom prst="rect">
            <a:avLst/>
          </a:prstGeom>
        </p:spPr>
      </p:pic>
    </p:spTree>
    <p:extLst>
      <p:ext uri="{BB962C8B-B14F-4D97-AF65-F5344CB8AC3E}">
        <p14:creationId xmlns:p14="http://schemas.microsoft.com/office/powerpoint/2010/main" val="106128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Dynamic Programming Algorithms(s)</a:t>
            </a:r>
          </a:p>
        </p:txBody>
      </p:sp>
      <p:pic>
        <p:nvPicPr>
          <p:cNvPr id="7" name="Picture 6">
            <a:extLst>
              <a:ext uri="{FF2B5EF4-FFF2-40B4-BE49-F238E27FC236}">
                <a16:creationId xmlns:a16="http://schemas.microsoft.com/office/drawing/2014/main" id="{8E56DF04-B039-8044-9AE6-3F7BB36ED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199" y="1512094"/>
            <a:ext cx="5435600" cy="2578100"/>
          </a:xfrm>
          <a:prstGeom prst="rect">
            <a:avLst/>
          </a:prstGeom>
        </p:spPr>
      </p:pic>
      <p:pic>
        <p:nvPicPr>
          <p:cNvPr id="11" name="Picture 10">
            <a:extLst>
              <a:ext uri="{FF2B5EF4-FFF2-40B4-BE49-F238E27FC236}">
                <a16:creationId xmlns:a16="http://schemas.microsoft.com/office/drawing/2014/main" id="{891F96CD-F97A-5F47-915E-D5DB47CF95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431" y="1791494"/>
            <a:ext cx="2159000" cy="2019300"/>
          </a:xfrm>
          <a:prstGeom prst="rect">
            <a:avLst/>
          </a:prstGeom>
        </p:spPr>
      </p:pic>
      <p:pic>
        <p:nvPicPr>
          <p:cNvPr id="13" name="Picture 12">
            <a:extLst>
              <a:ext uri="{FF2B5EF4-FFF2-40B4-BE49-F238E27FC236}">
                <a16:creationId xmlns:a16="http://schemas.microsoft.com/office/drawing/2014/main" id="{562B1B5F-C8BC-DA4B-BCE6-EA6C9ED0E8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305" y="5398294"/>
            <a:ext cx="8610600" cy="1244600"/>
          </a:xfrm>
          <a:prstGeom prst="rect">
            <a:avLst/>
          </a:prstGeom>
        </p:spPr>
      </p:pic>
    </p:spTree>
    <p:extLst>
      <p:ext uri="{BB962C8B-B14F-4D97-AF65-F5344CB8AC3E}">
        <p14:creationId xmlns:p14="http://schemas.microsoft.com/office/powerpoint/2010/main" val="152438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Dynamic Programming Algorithms(s)</a:t>
            </a:r>
          </a:p>
        </p:txBody>
      </p:sp>
      <p:pic>
        <p:nvPicPr>
          <p:cNvPr id="4" name="Picture 3">
            <a:extLst>
              <a:ext uri="{FF2B5EF4-FFF2-40B4-BE49-F238E27FC236}">
                <a16:creationId xmlns:a16="http://schemas.microsoft.com/office/drawing/2014/main" id="{FD7EE4A6-D981-7640-8383-94CE2E90D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231" y="1512094"/>
            <a:ext cx="4178300" cy="2298700"/>
          </a:xfrm>
          <a:prstGeom prst="rect">
            <a:avLst/>
          </a:prstGeom>
        </p:spPr>
      </p:pic>
      <p:pic>
        <p:nvPicPr>
          <p:cNvPr id="6" name="Picture 5">
            <a:extLst>
              <a:ext uri="{FF2B5EF4-FFF2-40B4-BE49-F238E27FC236}">
                <a16:creationId xmlns:a16="http://schemas.microsoft.com/office/drawing/2014/main" id="{C09B10D0-2976-8845-823D-6D9C99852B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5231" y="1664494"/>
            <a:ext cx="2184400" cy="1993900"/>
          </a:xfrm>
          <a:prstGeom prst="rect">
            <a:avLst/>
          </a:prstGeom>
        </p:spPr>
      </p:pic>
      <p:pic>
        <p:nvPicPr>
          <p:cNvPr id="10" name="Picture 9">
            <a:extLst>
              <a:ext uri="{FF2B5EF4-FFF2-40B4-BE49-F238E27FC236}">
                <a16:creationId xmlns:a16="http://schemas.microsoft.com/office/drawing/2014/main" id="{9F5EE163-1EA1-EA47-B908-9E950E90AA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631" y="4712494"/>
            <a:ext cx="4089400" cy="2336800"/>
          </a:xfrm>
          <a:prstGeom prst="rect">
            <a:avLst/>
          </a:prstGeom>
        </p:spPr>
      </p:pic>
      <p:pic>
        <p:nvPicPr>
          <p:cNvPr id="16" name="Picture 15">
            <a:extLst>
              <a:ext uri="{FF2B5EF4-FFF2-40B4-BE49-F238E27FC236}">
                <a16:creationId xmlns:a16="http://schemas.microsoft.com/office/drawing/2014/main" id="{98DB168A-D8FC-FE47-B117-DCEF6857BC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5231" y="4712494"/>
            <a:ext cx="2044700" cy="2032000"/>
          </a:xfrm>
          <a:prstGeom prst="rect">
            <a:avLst/>
          </a:prstGeom>
        </p:spPr>
      </p:pic>
    </p:spTree>
    <p:extLst>
      <p:ext uri="{BB962C8B-B14F-4D97-AF65-F5344CB8AC3E}">
        <p14:creationId xmlns:p14="http://schemas.microsoft.com/office/powerpoint/2010/main" val="196801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Time and Space Complexity</a:t>
            </a:r>
          </a:p>
        </p:txBody>
      </p:sp>
      <p:pic>
        <p:nvPicPr>
          <p:cNvPr id="5" name="Picture 4">
            <a:extLst>
              <a:ext uri="{FF2B5EF4-FFF2-40B4-BE49-F238E27FC236}">
                <a16:creationId xmlns:a16="http://schemas.microsoft.com/office/drawing/2014/main" id="{DA5598D7-3152-8C40-895B-961E44BE85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387" y="2655094"/>
            <a:ext cx="8915400" cy="1257300"/>
          </a:xfrm>
          <a:prstGeom prst="rect">
            <a:avLst/>
          </a:prstGeom>
        </p:spPr>
      </p:pic>
    </p:spTree>
    <p:extLst>
      <p:ext uri="{BB962C8B-B14F-4D97-AF65-F5344CB8AC3E}">
        <p14:creationId xmlns:p14="http://schemas.microsoft.com/office/powerpoint/2010/main" val="1938659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Maximum Independent Set in a Tree</a:t>
            </a:r>
          </a:p>
        </p:txBody>
      </p:sp>
      <p:pic>
        <p:nvPicPr>
          <p:cNvPr id="7" name="Picture 6">
            <a:extLst>
              <a:ext uri="{FF2B5EF4-FFF2-40B4-BE49-F238E27FC236}">
                <a16:creationId xmlns:a16="http://schemas.microsoft.com/office/drawing/2014/main" id="{CC18488E-02D1-D847-9F96-2BBFADEDA5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63" y="2274094"/>
            <a:ext cx="9678683" cy="2628095"/>
          </a:xfrm>
          <a:prstGeom prst="rect">
            <a:avLst/>
          </a:prstGeom>
        </p:spPr>
      </p:pic>
    </p:spTree>
    <p:extLst>
      <p:ext uri="{BB962C8B-B14F-4D97-AF65-F5344CB8AC3E}">
        <p14:creationId xmlns:p14="http://schemas.microsoft.com/office/powerpoint/2010/main" val="1044567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Maximum Independent Set in a Tree</a:t>
            </a:r>
          </a:p>
        </p:txBody>
      </p:sp>
      <p:pic>
        <p:nvPicPr>
          <p:cNvPr id="4" name="Picture 3">
            <a:extLst>
              <a:ext uri="{FF2B5EF4-FFF2-40B4-BE49-F238E27FC236}">
                <a16:creationId xmlns:a16="http://schemas.microsoft.com/office/drawing/2014/main" id="{14FB7F22-D2DF-084A-909E-9C5D9F7802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981" y="1931194"/>
            <a:ext cx="9182100" cy="3733800"/>
          </a:xfrm>
          <a:prstGeom prst="rect">
            <a:avLst/>
          </a:prstGeom>
        </p:spPr>
      </p:pic>
    </p:spTree>
    <p:extLst>
      <p:ext uri="{BB962C8B-B14F-4D97-AF65-F5344CB8AC3E}">
        <p14:creationId xmlns:p14="http://schemas.microsoft.com/office/powerpoint/2010/main" val="2453829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How to </a:t>
            </a:r>
            <a:r>
              <a:rPr lang="en-US" sz="2631" kern="0" dirty="0" err="1"/>
              <a:t>Memoize</a:t>
            </a:r>
            <a:r>
              <a:rPr lang="en-US" sz="2631" kern="0" dirty="0"/>
              <a:t>?</a:t>
            </a:r>
          </a:p>
        </p:txBody>
      </p:sp>
      <p:pic>
        <p:nvPicPr>
          <p:cNvPr id="5" name="Picture 4">
            <a:extLst>
              <a:ext uri="{FF2B5EF4-FFF2-40B4-BE49-F238E27FC236}">
                <a16:creationId xmlns:a16="http://schemas.microsoft.com/office/drawing/2014/main" id="{3F6AE1B4-8512-A542-949E-75545BD4DB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080" y="1359694"/>
            <a:ext cx="9080500" cy="1778000"/>
          </a:xfrm>
          <a:prstGeom prst="rect">
            <a:avLst/>
          </a:prstGeom>
        </p:spPr>
      </p:pic>
      <p:pic>
        <p:nvPicPr>
          <p:cNvPr id="7" name="Picture 6">
            <a:extLst>
              <a:ext uri="{FF2B5EF4-FFF2-40B4-BE49-F238E27FC236}">
                <a16:creationId xmlns:a16="http://schemas.microsoft.com/office/drawing/2014/main" id="{1FC29CA3-D885-D94B-8A93-F7026E07B9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1580" y="4483894"/>
            <a:ext cx="9017000" cy="1739900"/>
          </a:xfrm>
          <a:prstGeom prst="rect">
            <a:avLst/>
          </a:prstGeom>
        </p:spPr>
      </p:pic>
    </p:spTree>
    <p:extLst>
      <p:ext uri="{BB962C8B-B14F-4D97-AF65-F5344CB8AC3E}">
        <p14:creationId xmlns:p14="http://schemas.microsoft.com/office/powerpoint/2010/main" val="94231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2CFC2-4B30-444A-A3B2-216A812ADFE0}"/>
              </a:ext>
            </a:extLst>
          </p:cNvPr>
          <p:cNvSpPr txBox="1">
            <a:spLocks noChangeArrowheads="1"/>
          </p:cNvSpPr>
          <p:nvPr/>
        </p:nvSpPr>
        <p:spPr>
          <a:xfrm>
            <a:off x="580231" y="3811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endParaRPr lang="en-US" sz="2631" kern="0" dirty="0"/>
          </a:p>
        </p:txBody>
      </p:sp>
      <p:sp>
        <p:nvSpPr>
          <p:cNvPr id="8" name="Rectangle 2">
            <a:extLst>
              <a:ext uri="{FF2B5EF4-FFF2-40B4-BE49-F238E27FC236}">
                <a16:creationId xmlns:a16="http://schemas.microsoft.com/office/drawing/2014/main" id="{8A8E8AFE-765A-1145-91D4-4CA4BFA33770}"/>
              </a:ext>
            </a:extLst>
          </p:cNvPr>
          <p:cNvSpPr txBox="1">
            <a:spLocks noChangeArrowheads="1"/>
          </p:cNvSpPr>
          <p:nvPr/>
        </p:nvSpPr>
        <p:spPr>
          <a:xfrm>
            <a:off x="732631" y="533532"/>
            <a:ext cx="8735949" cy="514329"/>
          </a:xfrm>
          <a:prstGeom prst="rect">
            <a:avLst/>
          </a:prstGeom>
        </p:spPr>
        <p:txBody>
          <a:bodyPr/>
          <a:lstStyle>
            <a:lvl1pPr algn="l" defTabSz="1014413" rtl="0" fontAlgn="base">
              <a:spcBef>
                <a:spcPct val="0"/>
              </a:spcBef>
              <a:spcAft>
                <a:spcPct val="0"/>
              </a:spcAft>
              <a:defRPr sz="3500" b="1">
                <a:solidFill>
                  <a:srgbClr val="FF6600"/>
                </a:solidFill>
                <a:latin typeface="+mj-lt"/>
                <a:ea typeface="+mj-ea"/>
                <a:cs typeface="+mj-cs"/>
              </a:defRPr>
            </a:lvl1pPr>
            <a:lvl2pPr algn="l" defTabSz="1014413" rtl="0" fontAlgn="base">
              <a:spcBef>
                <a:spcPct val="0"/>
              </a:spcBef>
              <a:spcAft>
                <a:spcPct val="0"/>
              </a:spcAft>
              <a:defRPr sz="3500" b="1">
                <a:solidFill>
                  <a:srgbClr val="FF6600"/>
                </a:solidFill>
                <a:latin typeface="Arial" charset="0"/>
              </a:defRPr>
            </a:lvl2pPr>
            <a:lvl3pPr algn="l" defTabSz="1014413" rtl="0" fontAlgn="base">
              <a:spcBef>
                <a:spcPct val="0"/>
              </a:spcBef>
              <a:spcAft>
                <a:spcPct val="0"/>
              </a:spcAft>
              <a:defRPr sz="3500" b="1">
                <a:solidFill>
                  <a:srgbClr val="FF6600"/>
                </a:solidFill>
                <a:latin typeface="Arial" charset="0"/>
              </a:defRPr>
            </a:lvl3pPr>
            <a:lvl4pPr algn="l" defTabSz="1014413" rtl="0" fontAlgn="base">
              <a:spcBef>
                <a:spcPct val="0"/>
              </a:spcBef>
              <a:spcAft>
                <a:spcPct val="0"/>
              </a:spcAft>
              <a:defRPr sz="3500" b="1">
                <a:solidFill>
                  <a:srgbClr val="FF6600"/>
                </a:solidFill>
                <a:latin typeface="Arial" charset="0"/>
              </a:defRPr>
            </a:lvl4pPr>
            <a:lvl5pPr algn="l" defTabSz="1014413" rtl="0" fontAlgn="base">
              <a:spcBef>
                <a:spcPct val="0"/>
              </a:spcBef>
              <a:spcAft>
                <a:spcPct val="0"/>
              </a:spcAft>
              <a:defRPr sz="3500" b="1">
                <a:solidFill>
                  <a:srgbClr val="FF6600"/>
                </a:solidFill>
                <a:latin typeface="Arial" charset="0"/>
              </a:defRPr>
            </a:lvl5pPr>
            <a:lvl6pPr marL="457200" algn="l" defTabSz="1014413" rtl="0" fontAlgn="base">
              <a:spcBef>
                <a:spcPct val="0"/>
              </a:spcBef>
              <a:spcAft>
                <a:spcPct val="0"/>
              </a:spcAft>
              <a:defRPr sz="3500" b="1">
                <a:solidFill>
                  <a:srgbClr val="FF6600"/>
                </a:solidFill>
                <a:latin typeface="Arial" charset="0"/>
              </a:defRPr>
            </a:lvl6pPr>
            <a:lvl7pPr marL="914400" algn="l" defTabSz="1014413" rtl="0" fontAlgn="base">
              <a:spcBef>
                <a:spcPct val="0"/>
              </a:spcBef>
              <a:spcAft>
                <a:spcPct val="0"/>
              </a:spcAft>
              <a:defRPr sz="3500" b="1">
                <a:solidFill>
                  <a:srgbClr val="FF6600"/>
                </a:solidFill>
                <a:latin typeface="Arial" charset="0"/>
              </a:defRPr>
            </a:lvl7pPr>
            <a:lvl8pPr marL="1371600" algn="l" defTabSz="1014413" rtl="0" fontAlgn="base">
              <a:spcBef>
                <a:spcPct val="0"/>
              </a:spcBef>
              <a:spcAft>
                <a:spcPct val="0"/>
              </a:spcAft>
              <a:defRPr sz="3500" b="1">
                <a:solidFill>
                  <a:srgbClr val="FF6600"/>
                </a:solidFill>
                <a:latin typeface="Arial" charset="0"/>
              </a:defRPr>
            </a:lvl8pPr>
            <a:lvl9pPr marL="1828800" algn="l" defTabSz="1014413" rtl="0" fontAlgn="base">
              <a:spcBef>
                <a:spcPct val="0"/>
              </a:spcBef>
              <a:spcAft>
                <a:spcPct val="0"/>
              </a:spcAft>
              <a:defRPr sz="3500" b="1">
                <a:solidFill>
                  <a:srgbClr val="FF6600"/>
                </a:solidFill>
                <a:latin typeface="Arial" charset="0"/>
              </a:defRPr>
            </a:lvl9pPr>
          </a:lstStyle>
          <a:p>
            <a:pPr eaLnBrk="1" hangingPunct="1"/>
            <a:r>
              <a:rPr lang="en-US" sz="2631" kern="0" dirty="0"/>
              <a:t>Dynamic Programming Algorithms</a:t>
            </a:r>
          </a:p>
        </p:txBody>
      </p:sp>
      <p:pic>
        <p:nvPicPr>
          <p:cNvPr id="4" name="Picture 3">
            <a:extLst>
              <a:ext uri="{FF2B5EF4-FFF2-40B4-BE49-F238E27FC236}">
                <a16:creationId xmlns:a16="http://schemas.microsoft.com/office/drawing/2014/main" id="{6A8F6ACA-2678-354D-8C82-B01AE48005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054" y="1299797"/>
            <a:ext cx="8723526" cy="3263800"/>
          </a:xfrm>
          <a:prstGeom prst="rect">
            <a:avLst/>
          </a:prstGeom>
        </p:spPr>
      </p:pic>
      <p:sp>
        <p:nvSpPr>
          <p:cNvPr id="13" name="Rectangle 12">
            <a:extLst>
              <a:ext uri="{FF2B5EF4-FFF2-40B4-BE49-F238E27FC236}">
                <a16:creationId xmlns:a16="http://schemas.microsoft.com/office/drawing/2014/main" id="{BE569902-0D79-6B45-A0F8-E96412E7A930}"/>
              </a:ext>
            </a:extLst>
          </p:cNvPr>
          <p:cNvSpPr/>
          <p:nvPr/>
        </p:nvSpPr>
        <p:spPr>
          <a:xfrm>
            <a:off x="0" y="4788694"/>
            <a:ext cx="10152063" cy="738664"/>
          </a:xfrm>
          <a:prstGeom prst="rect">
            <a:avLst/>
          </a:prstGeom>
        </p:spPr>
        <p:txBody>
          <a:bodyPr wrap="square">
            <a:spAutoFit/>
          </a:bodyPr>
          <a:lstStyle/>
          <a:p>
            <a:r>
              <a:rPr lang="en-SG" sz="2100" dirty="0"/>
              <a:t>What’s the running time of the algorithm? The non-recursive time associated with each node v is proportional to the number of children and grandchildren of v; this is hard to </a:t>
            </a:r>
            <a:r>
              <a:rPr lang="en-SG" sz="2100" dirty="0" err="1"/>
              <a:t>analyze</a:t>
            </a:r>
            <a:r>
              <a:rPr lang="en-SG" sz="2100" dirty="0"/>
              <a:t>. </a:t>
            </a:r>
            <a:endParaRPr lang="en-US" sz="2100" dirty="0"/>
          </a:p>
        </p:txBody>
      </p:sp>
      <p:sp>
        <p:nvSpPr>
          <p:cNvPr id="14" name="Rectangle 13">
            <a:extLst>
              <a:ext uri="{FF2B5EF4-FFF2-40B4-BE49-F238E27FC236}">
                <a16:creationId xmlns:a16="http://schemas.microsoft.com/office/drawing/2014/main" id="{A5D0853C-72C1-4844-AD18-8C973BFC5B4A}"/>
              </a:ext>
            </a:extLst>
          </p:cNvPr>
          <p:cNvSpPr/>
          <p:nvPr/>
        </p:nvSpPr>
        <p:spPr>
          <a:xfrm>
            <a:off x="162289" y="5931694"/>
            <a:ext cx="9876632" cy="1061829"/>
          </a:xfrm>
          <a:prstGeom prst="rect">
            <a:avLst/>
          </a:prstGeom>
        </p:spPr>
        <p:txBody>
          <a:bodyPr wrap="square">
            <a:spAutoFit/>
          </a:bodyPr>
          <a:lstStyle/>
          <a:p>
            <a:r>
              <a:rPr lang="en-SG" sz="2100" dirty="0"/>
              <a:t>But we can turn the analysis around: Each vertex contributes a constant amount of time to its parent and its grandparent! Because each vertex has at most one parent and at most one grandparent, the algorithm runs in </a:t>
            </a:r>
            <a:r>
              <a:rPr lang="en-SG" sz="2100" b="1" dirty="0"/>
              <a:t>O(n) time</a:t>
            </a:r>
            <a:r>
              <a:rPr lang="en-SG" sz="2100" dirty="0"/>
              <a:t>.</a:t>
            </a:r>
            <a:endParaRPr lang="en-US" sz="2100" dirty="0"/>
          </a:p>
        </p:txBody>
      </p:sp>
    </p:spTree>
    <p:extLst>
      <p:ext uri="{BB962C8B-B14F-4D97-AF65-F5344CB8AC3E}">
        <p14:creationId xmlns:p14="http://schemas.microsoft.com/office/powerpoint/2010/main" val="145608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8081</TotalTime>
  <Words>670</Words>
  <Application>Microsoft Macintosh PowerPoint</Application>
  <PresentationFormat>Custom</PresentationFormat>
  <Paragraphs>78</Paragraphs>
  <Slides>39</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Times</vt:lpstr>
      <vt:lpstr>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PowerPC</dc:creator>
  <cp:lastModifiedBy>Microsoft Office User</cp:lastModifiedBy>
  <cp:revision>180</cp:revision>
  <cp:lastPrinted>2019-08-10T08:34:39Z</cp:lastPrinted>
  <dcterms:created xsi:type="dcterms:W3CDTF">2001-10-04T11:39:11Z</dcterms:created>
  <dcterms:modified xsi:type="dcterms:W3CDTF">2019-08-26T00:15:04Z</dcterms:modified>
</cp:coreProperties>
</file>