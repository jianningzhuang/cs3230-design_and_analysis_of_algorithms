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383" r:id="rId2"/>
    <p:sldId id="372" r:id="rId3"/>
    <p:sldId id="384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3" r:id="rId12"/>
    <p:sldId id="394" r:id="rId13"/>
    <p:sldId id="395" r:id="rId14"/>
    <p:sldId id="396" r:id="rId15"/>
    <p:sldId id="397" r:id="rId16"/>
    <p:sldId id="398" r:id="rId17"/>
    <p:sldId id="399" r:id="rId18"/>
    <p:sldId id="400" r:id="rId19"/>
    <p:sldId id="401" r:id="rId20"/>
    <p:sldId id="402" r:id="rId21"/>
    <p:sldId id="403" r:id="rId22"/>
    <p:sldId id="404" r:id="rId23"/>
    <p:sldId id="405" r:id="rId24"/>
    <p:sldId id="406" r:id="rId25"/>
    <p:sldId id="407" r:id="rId26"/>
    <p:sldId id="408" r:id="rId27"/>
    <p:sldId id="409" r:id="rId28"/>
    <p:sldId id="410" r:id="rId29"/>
    <p:sldId id="3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52"/>
    <p:restoredTop sz="94599"/>
  </p:normalViewPr>
  <p:slideViewPr>
    <p:cSldViewPr snapToGrid="0" snapToObjects="1">
      <p:cViewPr varScale="1">
        <p:scale>
          <a:sx n="112" d="100"/>
          <a:sy n="112" d="100"/>
        </p:scale>
        <p:origin x="3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693C3-A3B4-9044-83B5-A947D421C5FB}" type="datetimeFigureOut">
              <a:rPr lang="en-US" smtClean="0"/>
              <a:t>8/10/19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C6C046-4378-6549-8631-ADCDCCA06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17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EE9ADB-2485-4A93-AC68-657D518DF81C}" type="slidenum">
              <a:rPr lang="en-US"/>
              <a:pPr/>
              <a:t>1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 about importance of accurate emotion expression and recognition for functioning in daily life.</a:t>
            </a:r>
          </a:p>
        </p:txBody>
      </p:sp>
    </p:spTree>
    <p:extLst>
      <p:ext uri="{BB962C8B-B14F-4D97-AF65-F5344CB8AC3E}">
        <p14:creationId xmlns:p14="http://schemas.microsoft.com/office/powerpoint/2010/main" val="518209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5EBD8-980E-5142-ACB5-88B8CC3A1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83483-AD64-4F4C-B373-4BFFFE473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09C02-BD43-E940-BC0E-25E0A46FF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43B8-115B-294B-BEB0-E7EAF411124A}" type="datetimeFigureOut">
              <a:rPr lang="en-US" smtClean="0"/>
              <a:t>8/10/19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6D8F1-0EB7-414F-A234-99E36F71E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9233B-8A98-3F4C-B588-7AEB6C301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C121-140A-2243-9CB2-751B764E4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3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4B3FB-FAAF-0A45-8678-51E281DBE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5237D-1C8D-A54C-90E7-9396CB0F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FCF74-7A4B-CF47-BC7A-D00FB61FE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43B8-115B-294B-BEB0-E7EAF411124A}" type="datetimeFigureOut">
              <a:rPr lang="en-US" smtClean="0"/>
              <a:t>8/10/19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6AD06-9EC5-C54C-8FB2-C89052BF0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5CC24-7D7D-BB48-99E3-D2104D1D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C121-140A-2243-9CB2-751B764E4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24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169D4-FCC0-FC47-9A26-1D838423F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9AF09-2979-B24B-8E4A-693880C62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68970-31B6-6940-9357-30F26072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43B8-115B-294B-BEB0-E7EAF411124A}" type="datetimeFigureOut">
              <a:rPr lang="en-US" smtClean="0"/>
              <a:t>8/10/19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55ECD-DEA5-414F-B1B3-C9D8C9EE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17457-759C-8244-AAA6-611940395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C121-140A-2243-9CB2-751B764E4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12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7C79-5E35-D340-AB4D-F4EA0CEA1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34931-E77B-9149-B4FF-DBF604DF8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ECB59-C1DA-AF42-A39A-3AE8ECF03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2FD57-A9DB-544F-9020-BC609592D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43B8-115B-294B-BEB0-E7EAF411124A}" type="datetimeFigureOut">
              <a:rPr lang="en-US" smtClean="0"/>
              <a:t>8/10/19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1B8A8-F03A-BA4D-A9A5-CE86F0F68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D7EB5-CBF5-2442-8EC4-901A794A2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C121-140A-2243-9CB2-751B764E4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990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70244-D5D3-B541-99B4-E7482C9FE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E2730-9357-624F-88B2-659207E2D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31B42-0972-614F-BD14-E71711F5A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30C543-F269-D74F-9AFA-16BAFCEC4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ACC0A-EC7E-1D4F-88B8-485F86723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AA2283-6424-5143-A036-E42587949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43B8-115B-294B-BEB0-E7EAF411124A}" type="datetimeFigureOut">
              <a:rPr lang="en-US" smtClean="0"/>
              <a:t>8/10/19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4CF41B-D23F-F442-922F-38745307E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A80770-B606-A24F-8927-8FE4E9329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C121-140A-2243-9CB2-751B764E4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997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3551A-2CE5-7D43-A29A-A3C5A5ABE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2B1C66-715C-1644-BE68-AB1096926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43B8-115B-294B-BEB0-E7EAF411124A}" type="datetimeFigureOut">
              <a:rPr lang="en-US" smtClean="0"/>
              <a:t>8/10/19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390C1-6579-3441-BA93-520BBB6CA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74DF11-129E-E947-9FFC-2F23D69A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C121-140A-2243-9CB2-751B764E4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9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B2F47F-3D18-624B-BD48-414B16585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43B8-115B-294B-BEB0-E7EAF411124A}" type="datetimeFigureOut">
              <a:rPr lang="en-US" smtClean="0"/>
              <a:t>8/10/19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32B13A-8B22-4140-90E0-058772273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E2108-2094-0F48-BDF5-6D309486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C121-140A-2243-9CB2-751B764E4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421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088C7-9403-AF4C-A712-01BD0F254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AA2AD-DDE9-444B-B253-1CEF33FDF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41D60-2165-CD46-AB7B-9495793E2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CCE86-BFBA-B941-80D7-4C11E5AF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43B8-115B-294B-BEB0-E7EAF411124A}" type="datetimeFigureOut">
              <a:rPr lang="en-US" smtClean="0"/>
              <a:t>8/10/19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BEBD5-2482-754B-B66D-32E7DDEB1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7EB3B4-BEBE-2F40-96D5-F26014F49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C121-140A-2243-9CB2-751B764E4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11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CF0F-0910-9447-BA92-159268921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048412-EB46-F24D-B7B2-166BE7A228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CE7A4-DAE6-6E4D-9045-045C4814E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3C139-56EF-7A4F-AC25-7E6651658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43B8-115B-294B-BEB0-E7EAF411124A}" type="datetimeFigureOut">
              <a:rPr lang="en-US" smtClean="0"/>
              <a:t>8/10/19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D83EB-4376-A749-9509-55AF768FD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E4BA5-D907-7F41-BFE1-3EA8C6803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C121-140A-2243-9CB2-751B764E4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35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826C4-B319-4F40-91CC-72A204625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B38BEC-5C3D-EA46-AB15-C81666EEE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A7DF3-2BCE-EF4E-B46D-FD2492D67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43B8-115B-294B-BEB0-E7EAF411124A}" type="datetimeFigureOut">
              <a:rPr lang="en-US" smtClean="0"/>
              <a:t>8/10/19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03528-128C-4B4F-BEBC-3BF2E9B79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3E868-C5CD-6843-9C37-22B7D73AA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C121-140A-2243-9CB2-751B764E4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31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FE5FA5-9CD3-BA47-812E-03A99BAD71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8219A-861F-0C4F-AB9E-2DD811C1A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F7361-4CCB-7B48-B356-BF3FF20FC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43B8-115B-294B-BEB0-E7EAF411124A}" type="datetimeFigureOut">
              <a:rPr lang="en-US" smtClean="0"/>
              <a:t>8/10/19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123B8-B3BB-F44B-B8FC-9507C7E27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477F0-6D79-8040-8784-3A71833B3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C121-140A-2243-9CB2-751B764E4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43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FE62F2-3CA1-404D-9EC8-BFB294B4C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77865-5EAB-F845-A32F-36FC36539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80744-4A3E-F347-9928-A038111B50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643B8-115B-294B-BEB0-E7EAF411124A}" type="datetimeFigureOut">
              <a:rPr lang="en-US" smtClean="0"/>
              <a:t>8/10/19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347A8-6987-6941-93C5-41D46D5E7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D3DEA-5B9D-364E-A8EB-ABBCC920B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3C121-140A-2243-9CB2-751B764E4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7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513251" y="0"/>
            <a:ext cx="9165499" cy="4953239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endParaRPr lang="en-US" sz="1625" dirty="0"/>
          </a:p>
        </p:txBody>
      </p:sp>
      <p:sp>
        <p:nvSpPr>
          <p:cNvPr id="2066" name="Text Box 18"/>
          <p:cNvSpPr txBox="1">
            <a:spLocks noChangeArrowheads="1"/>
          </p:cNvSpPr>
          <p:nvPr/>
        </p:nvSpPr>
        <p:spPr bwMode="auto">
          <a:xfrm>
            <a:off x="2228433" y="953098"/>
            <a:ext cx="7746601" cy="2596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en-US" sz="3250">
                <a:solidFill>
                  <a:schemeClr val="bg1"/>
                </a:solidFill>
                <a:latin typeface="Arial" charset="0"/>
              </a:rPr>
              <a:t>Chapter </a:t>
            </a:r>
            <a:r>
              <a:rPr lang="en-US" sz="3250" dirty="0">
                <a:solidFill>
                  <a:schemeClr val="bg1"/>
                </a:solidFill>
                <a:latin typeface="Arial" charset="0"/>
              </a:rPr>
              <a:t>2</a:t>
            </a:r>
            <a:br>
              <a:rPr lang="en-US" sz="3250" dirty="0">
                <a:solidFill>
                  <a:schemeClr val="bg1"/>
                </a:solidFill>
                <a:latin typeface="Arial" charset="0"/>
              </a:rPr>
            </a:br>
            <a:r>
              <a:rPr lang="en-US" sz="3250" dirty="0">
                <a:solidFill>
                  <a:schemeClr val="bg1"/>
                </a:solidFill>
                <a:latin typeface="Arial" charset="0"/>
              </a:rPr>
              <a:t>Backtracking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sz="3250" i="1" dirty="0">
              <a:solidFill>
                <a:schemeClr val="bg1"/>
              </a:solidFill>
              <a:latin typeface="Arial" charset="0"/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sz="1625" i="1" dirty="0" err="1">
                <a:solidFill>
                  <a:schemeClr val="bg1"/>
                </a:solidFill>
                <a:latin typeface="Arial" charset="0"/>
              </a:rPr>
              <a:t>Divesh</a:t>
            </a:r>
            <a:r>
              <a:rPr lang="en-US" sz="1625" i="1" dirty="0">
                <a:solidFill>
                  <a:schemeClr val="bg1"/>
                </a:solidFill>
                <a:latin typeface="Arial" charset="0"/>
              </a:rPr>
              <a:t> Aggarwal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sz="1625" dirty="0">
                <a:solidFill>
                  <a:schemeClr val="bg1"/>
                </a:solidFill>
                <a:latin typeface="Arial" charset="0"/>
              </a:rPr>
              <a:t>School of Computing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sz="1625" dirty="0">
                <a:solidFill>
                  <a:schemeClr val="bg1"/>
                </a:solidFill>
                <a:latin typeface="Arial" charset="0"/>
              </a:rPr>
              <a:t>Department of Computer Science</a:t>
            </a:r>
            <a:endParaRPr lang="en-GB" sz="1625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513251" y="6604318"/>
            <a:ext cx="9165499" cy="253682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625"/>
          </a:p>
        </p:txBody>
      </p:sp>
      <p:pic>
        <p:nvPicPr>
          <p:cNvPr id="2068" name="Picture 2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1" y="5192589"/>
            <a:ext cx="2326131" cy="1136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6483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2037096" y="539611"/>
            <a:ext cx="6534090" cy="114371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Backtracking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F76F4D-AAB6-494D-A3C3-40491E776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714" y="2003526"/>
            <a:ext cx="9795164" cy="20523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4539A6-A407-DD40-AC26-47A51B671D74}"/>
              </a:ext>
            </a:extLst>
          </p:cNvPr>
          <p:cNvSpPr txBox="1"/>
          <p:nvPr/>
        </p:nvSpPr>
        <p:spPr>
          <a:xfrm>
            <a:off x="941697" y="4967785"/>
            <a:ext cx="10467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Don’t try to be smart! </a:t>
            </a:r>
            <a:r>
              <a:rPr lang="en-US" sz="2000" dirty="0">
                <a:solidFill>
                  <a:srgbClr val="FF0000"/>
                </a:solidFill>
              </a:rPr>
              <a:t>Backtracking algorithms </a:t>
            </a:r>
            <a:r>
              <a:rPr lang="en-US" sz="2000" dirty="0"/>
              <a:t>are just </a:t>
            </a:r>
            <a:r>
              <a:rPr lang="en-US" sz="2000" dirty="0">
                <a:solidFill>
                  <a:srgbClr val="FF0000"/>
                </a:solidFill>
              </a:rPr>
              <a:t>brute-force</a:t>
            </a:r>
            <a:r>
              <a:rPr lang="en-US" sz="2000" dirty="0"/>
              <a:t> algorithms </a:t>
            </a:r>
            <a:r>
              <a:rPr lang="en-US" sz="2000" dirty="0">
                <a:solidFill>
                  <a:srgbClr val="FF0000"/>
                </a:solidFill>
              </a:rPr>
              <a:t>designed properly</a:t>
            </a:r>
            <a:r>
              <a:rPr lang="en-US" sz="2000" dirty="0"/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3006AC-4496-3745-A0C5-0D117286D748}"/>
              </a:ext>
            </a:extLst>
          </p:cNvPr>
          <p:cNvSpPr txBox="1"/>
          <p:nvPr/>
        </p:nvSpPr>
        <p:spPr>
          <a:xfrm>
            <a:off x="941697" y="5910502"/>
            <a:ext cx="10049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Smarter algorithms will come soon (but not today) </a:t>
            </a:r>
            <a:r>
              <a:rPr lang="en-US" sz="2400" dirty="0">
                <a:solidFill>
                  <a:srgbClr val="00B0F0"/>
                </a:solidFill>
                <a:sym typeface="Wingdings" pitchFamily="2" charset="2"/>
              </a:rPr>
              <a:t></a:t>
            </a:r>
            <a:endParaRPr 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93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9" y="425311"/>
            <a:ext cx="6534090" cy="114371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Example: N queens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3E5094-7D55-2F4F-9969-B38667A49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3233"/>
            <a:ext cx="11258550" cy="439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9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9" y="425311"/>
            <a:ext cx="6534090" cy="114371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Backtracking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A47CF1-0954-5D46-88BB-2E7A84686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999" y="1524237"/>
            <a:ext cx="9258601" cy="494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374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9" y="185281"/>
            <a:ext cx="9692941" cy="649109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Backtracking = Depth First Search on Recursion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4E4BA8-935B-124E-9DCB-BE41416CC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020496"/>
            <a:ext cx="7772400" cy="561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945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9" y="206947"/>
            <a:ext cx="2534904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Game Trees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83DCA-2704-4B44-B09A-E2E8508B0DE0}"/>
              </a:ext>
            </a:extLst>
          </p:cNvPr>
          <p:cNvSpPr txBox="1"/>
          <p:nvPr/>
        </p:nvSpPr>
        <p:spPr>
          <a:xfrm>
            <a:off x="822659" y="1033970"/>
            <a:ext cx="9549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Horace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chemeClr val="accent6"/>
                </a:solidFill>
              </a:rPr>
              <a:t>Vera</a:t>
            </a:r>
            <a:r>
              <a:rPr lang="en-US" sz="2000" dirty="0"/>
              <a:t> play a two player game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2F3064-067D-0F40-BBAB-2CD765C04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871" y="1643426"/>
            <a:ext cx="5940378" cy="503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357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Play it Perfectly – A Backtracking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52C24F-032F-634D-9CEA-494A7117A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58" y="965249"/>
            <a:ext cx="7568023" cy="576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74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The Algorithm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D39B14-075D-5E4E-8B99-2235978E4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57" y="956765"/>
            <a:ext cx="6620491" cy="31015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8D0993-B8F4-0148-8A82-2D3D31AD7E67}"/>
              </a:ext>
            </a:extLst>
          </p:cNvPr>
          <p:cNvSpPr txBox="1"/>
          <p:nvPr/>
        </p:nvSpPr>
        <p:spPr>
          <a:xfrm>
            <a:off x="532264" y="4190483"/>
            <a:ext cx="1061795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All game-playing programs are based on this backtracking strategy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It might not be possible to traverse the entire game tree in practice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Sometimes game-playing programs employ </a:t>
            </a:r>
            <a:r>
              <a:rPr lang="en-US" sz="2000" dirty="0">
                <a:solidFill>
                  <a:srgbClr val="FF0000"/>
                </a:solidFill>
              </a:rPr>
              <a:t>heuristics</a:t>
            </a:r>
            <a:r>
              <a:rPr lang="en-US" sz="2000" dirty="0"/>
              <a:t> to prune the tree by ignoring states obviously good or bad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305D00-6423-864F-BB84-5C33DFD53FE8}"/>
              </a:ext>
            </a:extLst>
          </p:cNvPr>
          <p:cNvSpPr txBox="1"/>
          <p:nvPr/>
        </p:nvSpPr>
        <p:spPr>
          <a:xfrm>
            <a:off x="532264" y="6182436"/>
            <a:ext cx="10491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For this module, we won’t be relying on heuristics at all even though they are sometimes useful in practice</a:t>
            </a:r>
          </a:p>
        </p:txBody>
      </p:sp>
    </p:spTree>
    <p:extLst>
      <p:ext uri="{BB962C8B-B14F-4D97-AF65-F5344CB8AC3E}">
        <p14:creationId xmlns:p14="http://schemas.microsoft.com/office/powerpoint/2010/main" val="158175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Subset sum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AAFE46-3902-7840-B52D-EF57C2EFB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12" y="1978925"/>
            <a:ext cx="11387585" cy="253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833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Backtracking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9FC4B8-BB1F-9948-9508-A7E87B115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58" y="1006902"/>
            <a:ext cx="7379743" cy="33887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70BAFC-5584-0943-A4AF-BE7C71D4108F}"/>
              </a:ext>
            </a:extLst>
          </p:cNvPr>
          <p:cNvSpPr txBox="1"/>
          <p:nvPr/>
        </p:nvSpPr>
        <p:spPr>
          <a:xfrm>
            <a:off x="822658" y="5063319"/>
            <a:ext cx="91402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CORRECTNESS</a:t>
            </a:r>
            <a:r>
              <a:rPr lang="en-US" sz="2000" dirty="0"/>
              <a:t>: Immediate by Induction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ANALYSIS</a:t>
            </a:r>
            <a:r>
              <a:rPr lang="en-US" sz="2000" dirty="0"/>
              <a:t>: T(n) = 2 T(n-1) + 1, which solves to T(n) = 2</a:t>
            </a:r>
            <a:r>
              <a:rPr lang="en-US" sz="2000" baseline="30000" dirty="0"/>
              <a:t>n </a:t>
            </a:r>
            <a:r>
              <a:rPr lang="en-US" sz="2000" dirty="0"/>
              <a:t>- 1</a:t>
            </a:r>
          </a:p>
        </p:txBody>
      </p:sp>
    </p:spTree>
    <p:extLst>
      <p:ext uri="{BB962C8B-B14F-4D97-AF65-F5344CB8AC3E}">
        <p14:creationId xmlns:p14="http://schemas.microsoft.com/office/powerpoint/2010/main" val="263668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Backtracking Algorithms – General guideline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A21E2-AA98-CC40-AB79-0EABF6F09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0900"/>
            <a:ext cx="11779133" cy="299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497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Text Segmentation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584241-EADB-D24E-92D2-12D2EEA685C0}"/>
              </a:ext>
            </a:extLst>
          </p:cNvPr>
          <p:cNvSpPr txBox="1"/>
          <p:nvPr/>
        </p:nvSpPr>
        <p:spPr>
          <a:xfrm>
            <a:off x="822658" y="1119117"/>
            <a:ext cx="98263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/>
              <a:t>Suppose you are given a string of letters representing text in some foreign language, but without any spaces or punctuation, and you want to break this string into its individual constituent words. For example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248FBB-C353-4F44-820F-96200F8B9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05" y="2429273"/>
            <a:ext cx="8915400" cy="13601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8F12FC-AE64-C64B-AA52-28D8B6799189}"/>
              </a:ext>
            </a:extLst>
          </p:cNvPr>
          <p:cNvSpPr txBox="1"/>
          <p:nvPr/>
        </p:nvSpPr>
        <p:spPr>
          <a:xfrm>
            <a:off x="1115705" y="4326339"/>
            <a:ext cx="94340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/>
              <a:t>A </a:t>
            </a:r>
            <a:r>
              <a:rPr lang="en-SG" sz="2000" dirty="0">
                <a:solidFill>
                  <a:srgbClr val="00B050"/>
                </a:solidFill>
              </a:rPr>
              <a:t>fluent Latin reader </a:t>
            </a:r>
            <a:r>
              <a:rPr lang="en-SG" sz="2000" dirty="0"/>
              <a:t>would parse this string (in modern orthography) as </a:t>
            </a:r>
            <a:r>
              <a:rPr lang="en-SG" sz="2000" dirty="0">
                <a:solidFill>
                  <a:schemeClr val="accent1"/>
                </a:solidFill>
              </a:rPr>
              <a:t>Primus </a:t>
            </a:r>
            <a:r>
              <a:rPr lang="en-SG" sz="2000" dirty="0" err="1">
                <a:solidFill>
                  <a:schemeClr val="accent1"/>
                </a:solidFill>
              </a:rPr>
              <a:t>dignitas</a:t>
            </a:r>
            <a:r>
              <a:rPr lang="en-SG" sz="2000" dirty="0">
                <a:solidFill>
                  <a:schemeClr val="accent1"/>
                </a:solidFill>
              </a:rPr>
              <a:t> in tam </a:t>
            </a:r>
            <a:r>
              <a:rPr lang="en-SG" sz="2000" dirty="0" err="1">
                <a:solidFill>
                  <a:schemeClr val="accent1"/>
                </a:solidFill>
              </a:rPr>
              <a:t>tenui</a:t>
            </a:r>
            <a:r>
              <a:rPr lang="en-SG" sz="2000" dirty="0">
                <a:solidFill>
                  <a:schemeClr val="accent1"/>
                </a:solidFill>
              </a:rPr>
              <a:t> </a:t>
            </a:r>
            <a:r>
              <a:rPr lang="en-SG" sz="2000" dirty="0" err="1">
                <a:solidFill>
                  <a:schemeClr val="accent1"/>
                </a:solidFill>
              </a:rPr>
              <a:t>scientia</a:t>
            </a:r>
            <a:r>
              <a:rPr lang="en-SG" sz="2000" dirty="0">
                <a:solidFill>
                  <a:schemeClr val="accent1"/>
                </a:solidFill>
              </a:rPr>
              <a:t> non </a:t>
            </a:r>
            <a:r>
              <a:rPr lang="en-SG" sz="2000" dirty="0" err="1">
                <a:solidFill>
                  <a:schemeClr val="accent1"/>
                </a:solidFill>
              </a:rPr>
              <a:t>potest</a:t>
            </a:r>
            <a:r>
              <a:rPr lang="en-SG" sz="2000" dirty="0">
                <a:solidFill>
                  <a:schemeClr val="accent1"/>
                </a:solidFill>
              </a:rPr>
              <a:t> </a:t>
            </a:r>
            <a:r>
              <a:rPr lang="en-SG" sz="2000" dirty="0" err="1">
                <a:solidFill>
                  <a:schemeClr val="accent1"/>
                </a:solidFill>
              </a:rPr>
              <a:t>esse</a:t>
            </a:r>
            <a:r>
              <a:rPr lang="en-SG" sz="2000" dirty="0">
                <a:solidFill>
                  <a:schemeClr val="accent1"/>
                </a:solidFill>
              </a:rPr>
              <a:t>; res </a:t>
            </a:r>
            <a:r>
              <a:rPr lang="en-SG" sz="2000" dirty="0" err="1">
                <a:solidFill>
                  <a:schemeClr val="accent1"/>
                </a:solidFill>
              </a:rPr>
              <a:t>enim</a:t>
            </a:r>
            <a:r>
              <a:rPr lang="en-SG" sz="2000" dirty="0">
                <a:solidFill>
                  <a:schemeClr val="accent1"/>
                </a:solidFill>
              </a:rPr>
              <a:t> </a:t>
            </a:r>
            <a:r>
              <a:rPr lang="en-SG" sz="2000" dirty="0" err="1">
                <a:solidFill>
                  <a:schemeClr val="accent1"/>
                </a:solidFill>
              </a:rPr>
              <a:t>sunt</a:t>
            </a:r>
            <a:r>
              <a:rPr lang="en-SG" sz="2000" dirty="0">
                <a:solidFill>
                  <a:schemeClr val="accent1"/>
                </a:solidFill>
              </a:rPr>
              <a:t> </a:t>
            </a:r>
            <a:r>
              <a:rPr lang="en-SG" sz="2000" dirty="0" err="1">
                <a:solidFill>
                  <a:schemeClr val="accent1"/>
                </a:solidFill>
              </a:rPr>
              <a:t>parvae</a:t>
            </a:r>
            <a:r>
              <a:rPr lang="en-SG" sz="2000" dirty="0">
                <a:solidFill>
                  <a:schemeClr val="accent1"/>
                </a:solidFill>
              </a:rPr>
              <a:t>, </a:t>
            </a:r>
            <a:r>
              <a:rPr lang="en-SG" sz="2000" dirty="0" err="1">
                <a:solidFill>
                  <a:schemeClr val="accent1"/>
                </a:solidFill>
              </a:rPr>
              <a:t>prope</a:t>
            </a:r>
            <a:r>
              <a:rPr lang="en-SG" sz="2000" dirty="0">
                <a:solidFill>
                  <a:schemeClr val="accent1"/>
                </a:solidFill>
              </a:rPr>
              <a:t> in </a:t>
            </a:r>
            <a:r>
              <a:rPr lang="en-SG" sz="2000" dirty="0" err="1">
                <a:solidFill>
                  <a:schemeClr val="accent1"/>
                </a:solidFill>
              </a:rPr>
              <a:t>singulis</a:t>
            </a:r>
            <a:r>
              <a:rPr lang="en-SG" sz="2000" dirty="0">
                <a:solidFill>
                  <a:schemeClr val="accent1"/>
                </a:solidFill>
              </a:rPr>
              <a:t> </a:t>
            </a:r>
            <a:r>
              <a:rPr lang="en-SG" sz="2000" dirty="0" err="1">
                <a:solidFill>
                  <a:schemeClr val="accent1"/>
                </a:solidFill>
              </a:rPr>
              <a:t>litteris</a:t>
            </a:r>
            <a:r>
              <a:rPr lang="en-SG" sz="2000" dirty="0">
                <a:solidFill>
                  <a:schemeClr val="accent1"/>
                </a:solidFill>
              </a:rPr>
              <a:t> </a:t>
            </a:r>
            <a:r>
              <a:rPr lang="en-SG" sz="2000" dirty="0" err="1">
                <a:solidFill>
                  <a:schemeClr val="accent1"/>
                </a:solidFill>
              </a:rPr>
              <a:t>atque</a:t>
            </a:r>
            <a:r>
              <a:rPr lang="en-SG" sz="2000" dirty="0">
                <a:solidFill>
                  <a:schemeClr val="accent1"/>
                </a:solidFill>
              </a:rPr>
              <a:t> </a:t>
            </a:r>
            <a:r>
              <a:rPr lang="en-SG" sz="2000" dirty="0" err="1">
                <a:solidFill>
                  <a:schemeClr val="accent1"/>
                </a:solidFill>
              </a:rPr>
              <a:t>interpunctionibus</a:t>
            </a:r>
            <a:r>
              <a:rPr lang="en-SG" sz="2000" dirty="0">
                <a:solidFill>
                  <a:schemeClr val="accent1"/>
                </a:solidFill>
              </a:rPr>
              <a:t> </a:t>
            </a:r>
            <a:r>
              <a:rPr lang="en-SG" sz="2000" dirty="0" err="1">
                <a:solidFill>
                  <a:schemeClr val="accent1"/>
                </a:solidFill>
              </a:rPr>
              <a:t>verborum</a:t>
            </a:r>
            <a:r>
              <a:rPr lang="en-SG" sz="2000" dirty="0">
                <a:solidFill>
                  <a:schemeClr val="accent1"/>
                </a:solidFill>
              </a:rPr>
              <a:t> </a:t>
            </a:r>
            <a:r>
              <a:rPr lang="en-SG" sz="2000" dirty="0" err="1">
                <a:solidFill>
                  <a:schemeClr val="accent1"/>
                </a:solidFill>
              </a:rPr>
              <a:t>occupatae</a:t>
            </a:r>
            <a:r>
              <a:rPr lang="en-SG" sz="2000" dirty="0"/>
              <a:t>.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F906A-3223-BB42-8611-D6C681C63480}"/>
              </a:ext>
            </a:extLst>
          </p:cNvPr>
          <p:cNvSpPr txBox="1"/>
          <p:nvPr/>
        </p:nvSpPr>
        <p:spPr>
          <a:xfrm>
            <a:off x="888999" y="5981002"/>
            <a:ext cx="10358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Some strings might have more than one valid </a:t>
            </a:r>
            <a:r>
              <a:rPr lang="en-US" sz="2000" dirty="0" err="1"/>
              <a:t>splittings</a:t>
            </a:r>
            <a:r>
              <a:rPr lang="en-US" sz="2000" dirty="0"/>
              <a:t> – we consider the simple problem where we need to </a:t>
            </a:r>
            <a:r>
              <a:rPr lang="en-US" sz="2000" dirty="0">
                <a:solidFill>
                  <a:srgbClr val="FF0000"/>
                </a:solidFill>
              </a:rPr>
              <a:t>find whether there exists a splitting</a:t>
            </a:r>
          </a:p>
        </p:txBody>
      </p:sp>
    </p:spTree>
    <p:extLst>
      <p:ext uri="{BB962C8B-B14F-4D97-AF65-F5344CB8AC3E}">
        <p14:creationId xmlns:p14="http://schemas.microsoft.com/office/powerpoint/2010/main" val="3590789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Text Segmentation Problem: An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82B8CC-8A20-1C45-92CC-6C616BAA7906}"/>
              </a:ext>
            </a:extLst>
          </p:cNvPr>
          <p:cNvSpPr txBox="1"/>
          <p:nvPr/>
        </p:nvSpPr>
        <p:spPr>
          <a:xfrm>
            <a:off x="822657" y="1241946"/>
            <a:ext cx="9276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Jumping into the middle of the segmentation process, we might imagine the following picture: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209FC2-B3E6-F44B-86F2-FEE3C153E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42" y="1707961"/>
            <a:ext cx="10426700" cy="876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9C8D57-AD31-3242-ADF5-2307A77B6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61" y="3467598"/>
            <a:ext cx="10481481" cy="264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256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Text Segmentation Problem: An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5D79F7-6AD1-F54C-98B4-D82ED52F5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58" y="979829"/>
            <a:ext cx="8818175" cy="572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85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Text Segmentation: Backtracking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2719BB-9BC5-D341-AE28-790B8B08496D}"/>
              </a:ext>
            </a:extLst>
          </p:cNvPr>
          <p:cNvSpPr txBox="1"/>
          <p:nvPr/>
        </p:nvSpPr>
        <p:spPr>
          <a:xfrm>
            <a:off x="822658" y="1037229"/>
            <a:ext cx="8011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arrive at the following simple backtracking algorithm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1B6C98-5664-3E47-B453-871EBDDD9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323" y="1590691"/>
            <a:ext cx="6107834" cy="3800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CDA164-29AF-5F48-BD71-C4EF7E3C4114}"/>
              </a:ext>
            </a:extLst>
          </p:cNvPr>
          <p:cNvSpPr txBox="1"/>
          <p:nvPr/>
        </p:nvSpPr>
        <p:spPr>
          <a:xfrm>
            <a:off x="822658" y="5704764"/>
            <a:ext cx="9822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/>
              <a:t>REMARK: In practice, </a:t>
            </a:r>
            <a:r>
              <a:rPr lang="en-SG" sz="2000" dirty="0">
                <a:solidFill>
                  <a:srgbClr val="FF0000"/>
                </a:solidFill>
              </a:rPr>
              <a:t>passing arrays as input parameters is rather slow</a:t>
            </a:r>
            <a:r>
              <a:rPr lang="en-SG" sz="2000" dirty="0"/>
              <a:t>; we should really find a more compact way to describe our recursive subproblems.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582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Having arrays as Global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8F2F1-645E-2649-BD88-5F555FBD4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54" y="2303676"/>
            <a:ext cx="11041039" cy="257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8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Modified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068D14-0C41-1C49-98D0-C47A790D7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89" y="1145983"/>
            <a:ext cx="10508777" cy="527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868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3DFCCB-52B1-2944-AB38-273E8699F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693" y="857678"/>
            <a:ext cx="3151230" cy="1059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D74BBF-E63F-5249-8166-A1AD23495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452" y="1950044"/>
            <a:ext cx="6725270" cy="30092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C7EE74-051E-184A-9D35-1236DB640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122" y="5156108"/>
            <a:ext cx="3139059" cy="4546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F0DD1C-DA70-5748-A97C-CDD444FB1C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468" y="6024914"/>
            <a:ext cx="2211126" cy="5102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B830F1-0053-084C-A8FE-2CEA9F487175}"/>
              </a:ext>
            </a:extLst>
          </p:cNvPr>
          <p:cNvSpPr txBox="1"/>
          <p:nvPr/>
        </p:nvSpPr>
        <p:spPr>
          <a:xfrm>
            <a:off x="6946181" y="6237027"/>
            <a:ext cx="4654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</a:t>
            </a:r>
            <a:r>
              <a:rPr lang="en-US" sz="2000" dirty="0"/>
              <a:t>analysis</a:t>
            </a:r>
            <a:r>
              <a:rPr lang="en-US" dirty="0"/>
              <a:t> is tight in the worst case! Why?</a:t>
            </a:r>
          </a:p>
        </p:txBody>
      </p:sp>
    </p:spTree>
    <p:extLst>
      <p:ext uri="{BB962C8B-B14F-4D97-AF65-F5344CB8AC3E}">
        <p14:creationId xmlns:p14="http://schemas.microsoft.com/office/powerpoint/2010/main" val="1430256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Example: Longest Increasing Subsequence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189221-D0BA-7947-BFB8-E40258054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44" y="1351129"/>
            <a:ext cx="10791636" cy="18897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F0ED50-5ABA-6549-82E7-2C073F770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63" y="3767414"/>
            <a:ext cx="10440917" cy="240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6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Example: Longest Increasing Subsequence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C24094-3F50-584F-B44F-208A4494C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58" y="1699516"/>
            <a:ext cx="10136494" cy="433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674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Strategy for the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37B50-B683-3542-AFB1-25EDD93CDC9D}"/>
              </a:ext>
            </a:extLst>
          </p:cNvPr>
          <p:cNvSpPr txBox="1"/>
          <p:nvPr/>
        </p:nvSpPr>
        <p:spPr>
          <a:xfrm>
            <a:off x="1119116" y="1937982"/>
            <a:ext cx="787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3EE5BD-E86B-AF4B-9DE5-41B7474C3291}"/>
              </a:ext>
            </a:extLst>
          </p:cNvPr>
          <p:cNvSpPr txBox="1"/>
          <p:nvPr/>
        </p:nvSpPr>
        <p:spPr>
          <a:xfrm>
            <a:off x="822658" y="1291651"/>
            <a:ext cx="10013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For the obvious backtracking algorithm, </a:t>
            </a:r>
            <a:r>
              <a:rPr lang="en-SG" sz="2000" dirty="0"/>
              <a:t>the only information we need about the past is the last number selected so far. We can now revise our pictures by erasing everything we don’t need: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28FF13-D980-9C49-B6E9-2DE10A35D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26" y="2645868"/>
            <a:ext cx="10085696" cy="332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136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But we don’t want arrays as input…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37B50-B683-3542-AFB1-25EDD93CDC9D}"/>
              </a:ext>
            </a:extLst>
          </p:cNvPr>
          <p:cNvSpPr txBox="1"/>
          <p:nvPr/>
        </p:nvSpPr>
        <p:spPr>
          <a:xfrm>
            <a:off x="1119116" y="1937982"/>
            <a:ext cx="787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9C8811-0622-1D47-B62D-013EFAC86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58" y="1054601"/>
            <a:ext cx="9529528" cy="17667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587046-6A10-354C-BF23-BA4592AAC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116" y="3120420"/>
            <a:ext cx="9239534" cy="335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48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The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37B50-B683-3542-AFB1-25EDD93CDC9D}"/>
              </a:ext>
            </a:extLst>
          </p:cNvPr>
          <p:cNvSpPr txBox="1"/>
          <p:nvPr/>
        </p:nvSpPr>
        <p:spPr>
          <a:xfrm>
            <a:off x="1119116" y="1937982"/>
            <a:ext cx="787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56F26B-75A6-1045-A908-8C7E4E75B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06" y="1023581"/>
            <a:ext cx="5713362" cy="38443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EA1D39-F80A-E649-A225-7927451BC841}"/>
              </a:ext>
            </a:extLst>
          </p:cNvPr>
          <p:cNvSpPr txBox="1"/>
          <p:nvPr/>
        </p:nvSpPr>
        <p:spPr>
          <a:xfrm>
            <a:off x="6318913" y="1228296"/>
            <a:ext cx="5609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Finally, we need to connect our recursive strategy to the original problem: Finding the longest increasing subsequence of an array with no other constraints.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C0B503-6EBC-2C43-B19F-DE1DC98D8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593" y="2555298"/>
            <a:ext cx="4724400" cy="1638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6B4156-089E-A841-953A-7FCAB0133C49}"/>
              </a:ext>
            </a:extLst>
          </p:cNvPr>
          <p:cNvSpPr txBox="1"/>
          <p:nvPr/>
        </p:nvSpPr>
        <p:spPr>
          <a:xfrm>
            <a:off x="822658" y="5981246"/>
            <a:ext cx="10235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Running time: T(n) = 2T(n-1) + 1, which as usual implies that T(n) = O(2</a:t>
            </a:r>
            <a:r>
              <a:rPr lang="en-US" sz="2000" baseline="30000" dirty="0"/>
              <a:t>n</a:t>
            </a:r>
            <a:r>
              <a:rPr lang="en-US" sz="20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394047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Example: Optimal Binary Search Trees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37B50-B683-3542-AFB1-25EDD93CDC9D}"/>
              </a:ext>
            </a:extLst>
          </p:cNvPr>
          <p:cNvSpPr txBox="1"/>
          <p:nvPr/>
        </p:nvSpPr>
        <p:spPr>
          <a:xfrm>
            <a:off x="1119116" y="1937982"/>
            <a:ext cx="787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9FE6EB-4B8A-904D-8EE2-641A8B601F7E}"/>
              </a:ext>
            </a:extLst>
          </p:cNvPr>
          <p:cNvSpPr txBox="1"/>
          <p:nvPr/>
        </p:nvSpPr>
        <p:spPr>
          <a:xfrm>
            <a:off x="996287" y="1132764"/>
            <a:ext cx="87755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</a:t>
            </a:r>
            <a:r>
              <a:rPr lang="en-US" sz="2000" dirty="0">
                <a:solidFill>
                  <a:srgbClr val="00B0F0"/>
                </a:solidFill>
              </a:rPr>
              <a:t>balanced</a:t>
            </a:r>
            <a:r>
              <a:rPr lang="en-US" sz="2000" dirty="0"/>
              <a:t> binary search tree </a:t>
            </a:r>
            <a:r>
              <a:rPr lang="en-US" sz="2000" dirty="0">
                <a:solidFill>
                  <a:srgbClr val="00B0F0"/>
                </a:solidFill>
              </a:rPr>
              <a:t>might not </a:t>
            </a:r>
            <a:r>
              <a:rPr lang="en-US" sz="2000" dirty="0"/>
              <a:t>always </a:t>
            </a:r>
            <a:r>
              <a:rPr lang="en-US" sz="2000" dirty="0">
                <a:solidFill>
                  <a:srgbClr val="00B0F0"/>
                </a:solidFill>
              </a:rPr>
              <a:t>be optimal</a:t>
            </a:r>
            <a:r>
              <a:rPr lang="en-SG" sz="2000" dirty="0">
                <a:solidFill>
                  <a:srgbClr val="00B0F0"/>
                </a:solidFill>
              </a:rPr>
              <a:t> </a:t>
            </a:r>
            <a:r>
              <a:rPr lang="en-SG" sz="2000" dirty="0"/>
              <a:t>if</a:t>
            </a:r>
            <a:r>
              <a:rPr lang="en-SG" sz="2000" dirty="0">
                <a:solidFill>
                  <a:srgbClr val="0070C0"/>
                </a:solidFill>
              </a:rPr>
              <a:t> </a:t>
            </a:r>
            <a:r>
              <a:rPr lang="en-SG" sz="2000" dirty="0">
                <a:solidFill>
                  <a:srgbClr val="00B0F0"/>
                </a:solidFill>
              </a:rPr>
              <a:t>some items </a:t>
            </a:r>
            <a:r>
              <a:rPr lang="en-SG" sz="2000" dirty="0"/>
              <a:t>are significantly </a:t>
            </a:r>
            <a:r>
              <a:rPr lang="en-SG" sz="2000" dirty="0">
                <a:solidFill>
                  <a:srgbClr val="00B0F0"/>
                </a:solidFill>
              </a:rPr>
              <a:t>more popular </a:t>
            </a:r>
            <a:r>
              <a:rPr lang="en-SG" sz="2000" dirty="0"/>
              <a:t>than others</a:t>
            </a:r>
            <a:r>
              <a:rPr lang="en-US" sz="2000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970B4C-E78F-9F4D-9B66-14C8A01DF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63" y="2404646"/>
            <a:ext cx="10672549" cy="17646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69E7ED-0AC9-6840-ACFD-AE82D876A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125" y="5095250"/>
            <a:ext cx="8788400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6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Optimal Binary Search Trees: Recurrence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37B50-B683-3542-AFB1-25EDD93CDC9D}"/>
              </a:ext>
            </a:extLst>
          </p:cNvPr>
          <p:cNvSpPr txBox="1"/>
          <p:nvPr/>
        </p:nvSpPr>
        <p:spPr>
          <a:xfrm>
            <a:off x="1119116" y="1937982"/>
            <a:ext cx="787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85EC39-6CEB-B247-956F-DF9A45E07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58" y="926931"/>
            <a:ext cx="8832478" cy="33184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DDAF49-7BFF-644E-8CE3-3F7BF35EA31A}"/>
              </a:ext>
            </a:extLst>
          </p:cNvPr>
          <p:cNvSpPr txBox="1"/>
          <p:nvPr/>
        </p:nvSpPr>
        <p:spPr>
          <a:xfrm>
            <a:off x="1119116" y="4558352"/>
            <a:ext cx="5800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/>
              <a:t>Simple substitution now gives us a recurrence for </a:t>
            </a:r>
            <a:r>
              <a:rPr lang="en-SG" sz="2000" i="1" dirty="0"/>
              <a:t>Cost</a:t>
            </a:r>
            <a:endParaRPr lang="en-US" sz="2000" i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491A9A-4F5E-5B40-BB65-767A0E15F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646" y="5271467"/>
            <a:ext cx="7024375" cy="120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02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Optimal Binary Search Trees: Recurrence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37B50-B683-3542-AFB1-25EDD93CDC9D}"/>
              </a:ext>
            </a:extLst>
          </p:cNvPr>
          <p:cNvSpPr txBox="1"/>
          <p:nvPr/>
        </p:nvSpPr>
        <p:spPr>
          <a:xfrm>
            <a:off x="1119116" y="1937982"/>
            <a:ext cx="787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C69A2-C438-9843-8DD4-6574AC3AC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58" y="1732563"/>
            <a:ext cx="9389659" cy="261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4759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Analysis of the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37B50-B683-3542-AFB1-25EDD93CDC9D}"/>
              </a:ext>
            </a:extLst>
          </p:cNvPr>
          <p:cNvSpPr txBox="1"/>
          <p:nvPr/>
        </p:nvSpPr>
        <p:spPr>
          <a:xfrm>
            <a:off x="1119116" y="1937982"/>
            <a:ext cx="787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3C4D0D-A087-0248-B277-F498957C7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609" y="1063176"/>
            <a:ext cx="5205959" cy="10731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2D69D7-8683-4344-A540-3EB3249EA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956" y="2307314"/>
            <a:ext cx="5931848" cy="32645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661EB-7785-9C46-95DD-BE367834E690}"/>
              </a:ext>
            </a:extLst>
          </p:cNvPr>
          <p:cNvSpPr txBox="1"/>
          <p:nvPr/>
        </p:nvSpPr>
        <p:spPr>
          <a:xfrm>
            <a:off x="600501" y="6114197"/>
            <a:ext cx="10713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solves to  </a:t>
            </a:r>
            <a:r>
              <a:rPr lang="en-US" sz="2400" i="1" dirty="0"/>
              <a:t>T(n) = O(3</a:t>
            </a:r>
            <a:r>
              <a:rPr lang="en-US" sz="2400" i="1" baseline="30000" dirty="0"/>
              <a:t>n</a:t>
            </a:r>
            <a:r>
              <a:rPr lang="en-US" sz="2400" i="1" dirty="0"/>
              <a:t>)   </a:t>
            </a:r>
            <a:r>
              <a:rPr lang="en-US" sz="2400" dirty="0"/>
              <a:t>as can be shown by induction</a:t>
            </a:r>
            <a:r>
              <a:rPr lang="en-US" sz="2400" i="1" dirty="0"/>
              <a:t> </a:t>
            </a:r>
            <a:r>
              <a:rPr lang="en-US" sz="2400" dirty="0"/>
              <a:t>or using recursion tree</a:t>
            </a:r>
            <a:r>
              <a:rPr lang="en-US" sz="24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90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452CFC2-4B30-444A-A3B2-216A812ADFE0}"/>
              </a:ext>
            </a:extLst>
          </p:cNvPr>
          <p:cNvSpPr txBox="1">
            <a:spLocks noChangeArrowheads="1"/>
          </p:cNvSpPr>
          <p:nvPr/>
        </p:nvSpPr>
        <p:spPr>
          <a:xfrm>
            <a:off x="822658" y="206947"/>
            <a:ext cx="10491335" cy="61767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Remark: The backtracking algorithm is faster than brute-force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37B50-B683-3542-AFB1-25EDD93CDC9D}"/>
              </a:ext>
            </a:extLst>
          </p:cNvPr>
          <p:cNvSpPr txBox="1"/>
          <p:nvPr/>
        </p:nvSpPr>
        <p:spPr>
          <a:xfrm>
            <a:off x="1119116" y="1937982"/>
            <a:ext cx="787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8A104A-4605-2045-B00E-F2DD76EB6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11" y="1296538"/>
            <a:ext cx="10551200" cy="30463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17630B-31EE-5745-BD31-DD8C1D870329}"/>
              </a:ext>
            </a:extLst>
          </p:cNvPr>
          <p:cNvSpPr txBox="1"/>
          <p:nvPr/>
        </p:nvSpPr>
        <p:spPr>
          <a:xfrm>
            <a:off x="388620" y="5418161"/>
            <a:ext cx="10925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Our algorithm is faster because we optimize the </a:t>
            </a:r>
            <a:r>
              <a:rPr lang="en-US" sz="2000" b="1" dirty="0">
                <a:solidFill>
                  <a:srgbClr val="00B0F0"/>
                </a:solidFill>
              </a:rPr>
              <a:t>left</a:t>
            </a:r>
            <a:r>
              <a:rPr lang="en-US" sz="2000" b="1" dirty="0"/>
              <a:t> and </a:t>
            </a:r>
            <a:r>
              <a:rPr lang="en-US" sz="2000" b="1" dirty="0">
                <a:solidFill>
                  <a:srgbClr val="00B0F0"/>
                </a:solidFill>
              </a:rPr>
              <a:t>right</a:t>
            </a:r>
            <a:r>
              <a:rPr lang="en-US" sz="2000" b="1" dirty="0"/>
              <a:t> subtrees </a:t>
            </a:r>
            <a:r>
              <a:rPr lang="en-US" sz="2000" b="1" dirty="0">
                <a:solidFill>
                  <a:srgbClr val="00B0F0"/>
                </a:solidFill>
              </a:rPr>
              <a:t>independently</a:t>
            </a:r>
            <a:r>
              <a:rPr lang="en-US" sz="2000" b="1" dirty="0"/>
              <a:t> for each root. </a:t>
            </a:r>
          </a:p>
        </p:txBody>
      </p:sp>
    </p:spTree>
    <p:extLst>
      <p:ext uri="{BB962C8B-B14F-4D97-AF65-F5344CB8AC3E}">
        <p14:creationId xmlns:p14="http://schemas.microsoft.com/office/powerpoint/2010/main" val="62641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FFC8DF-FA23-2C42-BF75-61C1FA253246}"/>
              </a:ext>
            </a:extLst>
          </p:cNvPr>
          <p:cNvSpPr txBox="1">
            <a:spLocks noChangeArrowheads="1"/>
          </p:cNvSpPr>
          <p:nvPr/>
        </p:nvSpPr>
        <p:spPr>
          <a:xfrm>
            <a:off x="2037096" y="539611"/>
            <a:ext cx="6534090" cy="1143717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Credits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C768A-2521-964D-B8F0-932B9AEEB5F0}"/>
              </a:ext>
            </a:extLst>
          </p:cNvPr>
          <p:cNvSpPr txBox="1"/>
          <p:nvPr/>
        </p:nvSpPr>
        <p:spPr>
          <a:xfrm>
            <a:off x="2587456" y="1683328"/>
            <a:ext cx="3502434" cy="13426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25" dirty="0"/>
              <a:t>Slides are inspired and largely based on</a:t>
            </a:r>
          </a:p>
          <a:p>
            <a:r>
              <a:rPr lang="en-US" sz="1625" b="1" u="sng" dirty="0"/>
              <a:t>Jeff Erickson’s </a:t>
            </a:r>
            <a:r>
              <a:rPr lang="en-US" sz="1625" dirty="0"/>
              <a:t>book ‘</a:t>
            </a:r>
            <a:r>
              <a:rPr lang="en-US" sz="1625" i="1" dirty="0"/>
              <a:t>Algorithms</a:t>
            </a:r>
            <a:r>
              <a:rPr lang="en-US" sz="1625" dirty="0"/>
              <a:t>’.</a:t>
            </a:r>
          </a:p>
          <a:p>
            <a:r>
              <a:rPr lang="en-US" sz="1625" dirty="0"/>
              <a:t>They contain copy-paste portions of </a:t>
            </a:r>
          </a:p>
          <a:p>
            <a:r>
              <a:rPr lang="en-US" sz="1625" dirty="0"/>
              <a:t>the book.</a:t>
            </a:r>
          </a:p>
          <a:p>
            <a:endParaRPr lang="en-US" sz="1625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A2BA86-49D9-E342-A1E8-B345AC32A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276" y="3704180"/>
            <a:ext cx="7609728" cy="643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1AE66F-4EE1-F44B-A72D-73125267B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694" y="1021176"/>
            <a:ext cx="1651080" cy="23997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437AC5-6E9A-A041-A5C6-FC1444EAF3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303" y="4695427"/>
            <a:ext cx="3378837" cy="15708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7394BF-2975-9748-BBDC-C756B50BA1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510" y="4695428"/>
            <a:ext cx="3022680" cy="186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142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549</Words>
  <Application>Microsoft Macintosh PowerPoint</Application>
  <PresentationFormat>Widescreen</PresentationFormat>
  <Paragraphs>62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21</cp:revision>
  <dcterms:created xsi:type="dcterms:W3CDTF">2019-08-04T02:25:00Z</dcterms:created>
  <dcterms:modified xsi:type="dcterms:W3CDTF">2019-08-10T08:22:27Z</dcterms:modified>
</cp:coreProperties>
</file>